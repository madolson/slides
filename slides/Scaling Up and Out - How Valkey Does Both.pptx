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6" r:id="rId1"/>
  </p:sldMasterIdLst>
  <p:notesMasterIdLst>
    <p:notesMasterId r:id="rId38"/>
  </p:notesMasterIdLst>
  <p:handoutMasterIdLst>
    <p:handoutMasterId r:id="rId39"/>
  </p:handoutMasterIdLst>
  <p:sldIdLst>
    <p:sldId id="395" r:id="rId2"/>
    <p:sldId id="396" r:id="rId3"/>
    <p:sldId id="397" r:id="rId4"/>
    <p:sldId id="398" r:id="rId5"/>
    <p:sldId id="369" r:id="rId6"/>
    <p:sldId id="366" r:id="rId7"/>
    <p:sldId id="382" r:id="rId8"/>
    <p:sldId id="257" r:id="rId9"/>
    <p:sldId id="399" r:id="rId10"/>
    <p:sldId id="293" r:id="rId11"/>
    <p:sldId id="379" r:id="rId12"/>
    <p:sldId id="380" r:id="rId13"/>
    <p:sldId id="294" r:id="rId14"/>
    <p:sldId id="296" r:id="rId15"/>
    <p:sldId id="297" r:id="rId16"/>
    <p:sldId id="298" r:id="rId17"/>
    <p:sldId id="263" r:id="rId18"/>
    <p:sldId id="393" r:id="rId19"/>
    <p:sldId id="378" r:id="rId20"/>
    <p:sldId id="377" r:id="rId21"/>
    <p:sldId id="266" r:id="rId22"/>
    <p:sldId id="400" r:id="rId23"/>
    <p:sldId id="401" r:id="rId24"/>
    <p:sldId id="267" r:id="rId25"/>
    <p:sldId id="268" r:id="rId26"/>
    <p:sldId id="269" r:id="rId27"/>
    <p:sldId id="381" r:id="rId28"/>
    <p:sldId id="271" r:id="rId29"/>
    <p:sldId id="272" r:id="rId30"/>
    <p:sldId id="402" r:id="rId31"/>
    <p:sldId id="383" r:id="rId32"/>
    <p:sldId id="264" r:id="rId33"/>
    <p:sldId id="403" r:id="rId34"/>
    <p:sldId id="404" r:id="rId35"/>
    <p:sldId id="405" r:id="rId36"/>
    <p:sldId id="406"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General" id="{955B2512-A0E9-004C-A974-F37B9108860F}">
          <p14:sldIdLst>
            <p14:sldId id="395"/>
            <p14:sldId id="396"/>
            <p14:sldId id="397"/>
            <p14:sldId id="398"/>
            <p14:sldId id="369"/>
            <p14:sldId id="366"/>
            <p14:sldId id="382"/>
            <p14:sldId id="257"/>
            <p14:sldId id="399"/>
            <p14:sldId id="293"/>
            <p14:sldId id="379"/>
            <p14:sldId id="380"/>
            <p14:sldId id="294"/>
            <p14:sldId id="296"/>
            <p14:sldId id="297"/>
            <p14:sldId id="298"/>
            <p14:sldId id="263"/>
            <p14:sldId id="393"/>
            <p14:sldId id="378"/>
            <p14:sldId id="377"/>
            <p14:sldId id="266"/>
            <p14:sldId id="400"/>
            <p14:sldId id="401"/>
            <p14:sldId id="267"/>
            <p14:sldId id="268"/>
            <p14:sldId id="269"/>
            <p14:sldId id="381"/>
            <p14:sldId id="271"/>
            <p14:sldId id="272"/>
            <p14:sldId id="402"/>
            <p14:sldId id="383"/>
            <p14:sldId id="264"/>
            <p14:sldId id="403"/>
            <p14:sldId id="404"/>
            <p14:sldId id="405"/>
            <p14:sldId id="406"/>
          </p14:sldIdLst>
        </p14:section>
        <p14:section name="Features" id="{B6C2DFD3-F7BC-E445-8136-6E30FB47F7B9}">
          <p14:sldIdLst/>
        </p14:section>
        <p14:section name="Template examples" id="{899405CC-6E1E-4C49-BD4C-AAB5EBF028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Bjwdw4Z9xz+EjAItyouivSXpbz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83FF"/>
    <a:srgbClr val="0432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963"/>
    <p:restoredTop sz="54300"/>
  </p:normalViewPr>
  <p:slideViewPr>
    <p:cSldViewPr snapToGrid="0">
      <p:cViewPr varScale="1">
        <p:scale>
          <a:sx n="70" d="100"/>
          <a:sy n="70" d="100"/>
        </p:scale>
        <p:origin x="1528" y="192"/>
      </p:cViewPr>
      <p:guideLst/>
    </p:cSldViewPr>
  </p:slideViewPr>
  <p:notesTextViewPr>
    <p:cViewPr>
      <p:scale>
        <a:sx n="1" d="1"/>
        <a:sy n="1" d="1"/>
      </p:scale>
      <p:origin x="-8" y="0"/>
    </p:cViewPr>
  </p:notesTextViewPr>
  <p:notesViewPr>
    <p:cSldViewPr snapToGrid="0">
      <p:cViewPr varScale="1">
        <p:scale>
          <a:sx n="100" d="100"/>
          <a:sy n="100" d="100"/>
        </p:scale>
        <p:origin x="368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5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Latency (ms)</c:v>
                </c:pt>
              </c:strCache>
            </c:strRef>
          </c:tx>
          <c:spPr>
            <a:ln w="15875">
              <a:solidFill>
                <a:schemeClr val="accent1"/>
              </a:solidFill>
            </a:ln>
          </c:spPr>
          <c:marker>
            <c:symbol val="none"/>
          </c:marker>
          <c:cat>
            <c:strRef>
              <c:f>Sheet1!$A$2:$A$521</c:f>
              <c:strCache>
                <c:ptCount val="520"/>
              </c:strCache>
            </c:strRef>
          </c:cat>
          <c:val>
            <c:numRef>
              <c:f>Sheet1!$B$2:$B$521</c:f>
              <c:numCache>
                <c:formatCode>General</c:formatCode>
                <c:ptCount val="520"/>
                <c:pt idx="0">
                  <c:v>0.72399999999999998</c:v>
                </c:pt>
                <c:pt idx="1">
                  <c:v>1.103</c:v>
                </c:pt>
                <c:pt idx="2">
                  <c:v>1.2070000000000001</c:v>
                </c:pt>
                <c:pt idx="3">
                  <c:v>0.93100000000000005</c:v>
                </c:pt>
                <c:pt idx="4">
                  <c:v>0.63800000000000001</c:v>
                </c:pt>
                <c:pt idx="5">
                  <c:v>1.121</c:v>
                </c:pt>
                <c:pt idx="6">
                  <c:v>1.103</c:v>
                </c:pt>
                <c:pt idx="7">
                  <c:v>0.84499999999999997</c:v>
                </c:pt>
                <c:pt idx="8">
                  <c:v>0.77600000000000002</c:v>
                </c:pt>
                <c:pt idx="9">
                  <c:v>0.86199999999999999</c:v>
                </c:pt>
                <c:pt idx="10">
                  <c:v>0.86199999999999999</c:v>
                </c:pt>
                <c:pt idx="11">
                  <c:v>1.2410000000000001</c:v>
                </c:pt>
                <c:pt idx="12">
                  <c:v>0.67200000000000004</c:v>
                </c:pt>
                <c:pt idx="13">
                  <c:v>1.0860000000000001</c:v>
                </c:pt>
                <c:pt idx="14">
                  <c:v>5.81</c:v>
                </c:pt>
                <c:pt idx="15">
                  <c:v>6.5170000000000003</c:v>
                </c:pt>
                <c:pt idx="16">
                  <c:v>7.9909999999999997</c:v>
                </c:pt>
                <c:pt idx="17">
                  <c:v>8.0690000000000008</c:v>
                </c:pt>
                <c:pt idx="18">
                  <c:v>2.1379999999999999</c:v>
                </c:pt>
                <c:pt idx="19">
                  <c:v>1.397</c:v>
                </c:pt>
                <c:pt idx="20">
                  <c:v>0.91400000000000003</c:v>
                </c:pt>
                <c:pt idx="21">
                  <c:v>1.1719999999999999</c:v>
                </c:pt>
                <c:pt idx="22">
                  <c:v>1.224</c:v>
                </c:pt>
                <c:pt idx="23">
                  <c:v>0.94799999999999995</c:v>
                </c:pt>
                <c:pt idx="24">
                  <c:v>1.069</c:v>
                </c:pt>
                <c:pt idx="25">
                  <c:v>0.94799999999999995</c:v>
                </c:pt>
                <c:pt idx="26">
                  <c:v>1.19</c:v>
                </c:pt>
                <c:pt idx="27">
                  <c:v>1.1719999999999999</c:v>
                </c:pt>
                <c:pt idx="28">
                  <c:v>1.224</c:v>
                </c:pt>
                <c:pt idx="29">
                  <c:v>0.98299999999999998</c:v>
                </c:pt>
                <c:pt idx="30">
                  <c:v>1.0169999999999999</c:v>
                </c:pt>
                <c:pt idx="31">
                  <c:v>1.103</c:v>
                </c:pt>
                <c:pt idx="32">
                  <c:v>0.94799999999999995</c:v>
                </c:pt>
                <c:pt idx="33">
                  <c:v>0.879</c:v>
                </c:pt>
                <c:pt idx="34">
                  <c:v>0.96599999999999997</c:v>
                </c:pt>
                <c:pt idx="35">
                  <c:v>1.1719999999999999</c:v>
                </c:pt>
                <c:pt idx="36">
                  <c:v>1.034</c:v>
                </c:pt>
                <c:pt idx="37">
                  <c:v>1.069</c:v>
                </c:pt>
                <c:pt idx="38">
                  <c:v>1.034</c:v>
                </c:pt>
                <c:pt idx="39">
                  <c:v>0.98299999999999998</c:v>
                </c:pt>
                <c:pt idx="40">
                  <c:v>1.19</c:v>
                </c:pt>
                <c:pt idx="41">
                  <c:v>1.2410000000000001</c:v>
                </c:pt>
                <c:pt idx="42">
                  <c:v>0.86199999999999999</c:v>
                </c:pt>
                <c:pt idx="43">
                  <c:v>0.82799999999999996</c:v>
                </c:pt>
                <c:pt idx="44">
                  <c:v>0.75900000000000001</c:v>
                </c:pt>
                <c:pt idx="45">
                  <c:v>1</c:v>
                </c:pt>
                <c:pt idx="46">
                  <c:v>1.19</c:v>
                </c:pt>
                <c:pt idx="47">
                  <c:v>1.1719999999999999</c:v>
                </c:pt>
                <c:pt idx="48">
                  <c:v>1.0860000000000001</c:v>
                </c:pt>
                <c:pt idx="49">
                  <c:v>1.224</c:v>
                </c:pt>
                <c:pt idx="50">
                  <c:v>1.0860000000000001</c:v>
                </c:pt>
                <c:pt idx="51">
                  <c:v>1.069</c:v>
                </c:pt>
                <c:pt idx="52">
                  <c:v>0.79300000000000004</c:v>
                </c:pt>
                <c:pt idx="53">
                  <c:v>0.84499999999999997</c:v>
                </c:pt>
                <c:pt idx="54">
                  <c:v>0.91400000000000003</c:v>
                </c:pt>
                <c:pt idx="55">
                  <c:v>0.75900000000000001</c:v>
                </c:pt>
                <c:pt idx="56">
                  <c:v>1.224</c:v>
                </c:pt>
                <c:pt idx="57">
                  <c:v>1.2070000000000001</c:v>
                </c:pt>
                <c:pt idx="58">
                  <c:v>3.8279999999999998</c:v>
                </c:pt>
                <c:pt idx="59">
                  <c:v>6.2069999999999999</c:v>
                </c:pt>
                <c:pt idx="60">
                  <c:v>7.3620000000000001</c:v>
                </c:pt>
                <c:pt idx="61">
                  <c:v>10.707000000000001</c:v>
                </c:pt>
                <c:pt idx="62">
                  <c:v>11.534000000000001</c:v>
                </c:pt>
                <c:pt idx="63">
                  <c:v>10.983000000000001</c:v>
                </c:pt>
                <c:pt idx="64">
                  <c:v>6.4480000000000004</c:v>
                </c:pt>
                <c:pt idx="65">
                  <c:v>7.431</c:v>
                </c:pt>
                <c:pt idx="66">
                  <c:v>10.759</c:v>
                </c:pt>
                <c:pt idx="67">
                  <c:v>10.741</c:v>
                </c:pt>
                <c:pt idx="68">
                  <c:v>10.414</c:v>
                </c:pt>
                <c:pt idx="69">
                  <c:v>9.7240000000000002</c:v>
                </c:pt>
                <c:pt idx="70">
                  <c:v>10.483000000000001</c:v>
                </c:pt>
                <c:pt idx="71">
                  <c:v>9.6210000000000004</c:v>
                </c:pt>
                <c:pt idx="72">
                  <c:v>9.8620000000000001</c:v>
                </c:pt>
                <c:pt idx="73">
                  <c:v>9.5860000000000003</c:v>
                </c:pt>
                <c:pt idx="74">
                  <c:v>8.7070000000000007</c:v>
                </c:pt>
                <c:pt idx="75">
                  <c:v>5.0339999999999998</c:v>
                </c:pt>
                <c:pt idx="76">
                  <c:v>0.96599999999999997</c:v>
                </c:pt>
                <c:pt idx="77">
                  <c:v>1.052</c:v>
                </c:pt>
                <c:pt idx="78">
                  <c:v>1.1379999999999999</c:v>
                </c:pt>
                <c:pt idx="79">
                  <c:v>1.2410000000000001</c:v>
                </c:pt>
                <c:pt idx="80">
                  <c:v>1.2410000000000001</c:v>
                </c:pt>
                <c:pt idx="81">
                  <c:v>1.2410000000000001</c:v>
                </c:pt>
                <c:pt idx="82">
                  <c:v>0.84499999999999997</c:v>
                </c:pt>
                <c:pt idx="83">
                  <c:v>0.70699999999999996</c:v>
                </c:pt>
                <c:pt idx="84">
                  <c:v>1.034</c:v>
                </c:pt>
                <c:pt idx="85">
                  <c:v>1.19</c:v>
                </c:pt>
                <c:pt idx="86">
                  <c:v>2.069</c:v>
                </c:pt>
                <c:pt idx="87">
                  <c:v>3.948</c:v>
                </c:pt>
                <c:pt idx="88">
                  <c:v>6.069</c:v>
                </c:pt>
                <c:pt idx="89">
                  <c:v>6.569</c:v>
                </c:pt>
                <c:pt idx="90">
                  <c:v>1.224</c:v>
                </c:pt>
                <c:pt idx="91">
                  <c:v>1.2410000000000001</c:v>
                </c:pt>
                <c:pt idx="92">
                  <c:v>1.2070000000000001</c:v>
                </c:pt>
                <c:pt idx="93">
                  <c:v>1.2070000000000001</c:v>
                </c:pt>
                <c:pt idx="94">
                  <c:v>1.052</c:v>
                </c:pt>
                <c:pt idx="95">
                  <c:v>1.0860000000000001</c:v>
                </c:pt>
                <c:pt idx="96">
                  <c:v>1.103</c:v>
                </c:pt>
                <c:pt idx="97">
                  <c:v>0.89700000000000002</c:v>
                </c:pt>
                <c:pt idx="98">
                  <c:v>1.0169999999999999</c:v>
                </c:pt>
                <c:pt idx="99">
                  <c:v>1.2410000000000001</c:v>
                </c:pt>
                <c:pt idx="100">
                  <c:v>1.121</c:v>
                </c:pt>
                <c:pt idx="101">
                  <c:v>0.98299999999999998</c:v>
                </c:pt>
                <c:pt idx="102">
                  <c:v>1.0169999999999999</c:v>
                </c:pt>
                <c:pt idx="103">
                  <c:v>1.2410000000000001</c:v>
                </c:pt>
                <c:pt idx="104">
                  <c:v>1.224</c:v>
                </c:pt>
                <c:pt idx="105">
                  <c:v>1.2070000000000001</c:v>
                </c:pt>
                <c:pt idx="106">
                  <c:v>1.1719999999999999</c:v>
                </c:pt>
                <c:pt idx="107">
                  <c:v>0.91400000000000003</c:v>
                </c:pt>
                <c:pt idx="108">
                  <c:v>0.81</c:v>
                </c:pt>
                <c:pt idx="109">
                  <c:v>1.155</c:v>
                </c:pt>
                <c:pt idx="110">
                  <c:v>1.069</c:v>
                </c:pt>
                <c:pt idx="111">
                  <c:v>0.77600000000000002</c:v>
                </c:pt>
                <c:pt idx="112">
                  <c:v>0.84499999999999997</c:v>
                </c:pt>
                <c:pt idx="113">
                  <c:v>1.121</c:v>
                </c:pt>
                <c:pt idx="114">
                  <c:v>1</c:v>
                </c:pt>
                <c:pt idx="115">
                  <c:v>1.103</c:v>
                </c:pt>
                <c:pt idx="116">
                  <c:v>1.052</c:v>
                </c:pt>
                <c:pt idx="117">
                  <c:v>1.0860000000000001</c:v>
                </c:pt>
                <c:pt idx="118">
                  <c:v>1.155</c:v>
                </c:pt>
                <c:pt idx="119">
                  <c:v>1.1719999999999999</c:v>
                </c:pt>
                <c:pt idx="120">
                  <c:v>1.19</c:v>
                </c:pt>
                <c:pt idx="121">
                  <c:v>1.1719999999999999</c:v>
                </c:pt>
                <c:pt idx="122">
                  <c:v>1.103</c:v>
                </c:pt>
                <c:pt idx="123">
                  <c:v>1.1379999999999999</c:v>
                </c:pt>
                <c:pt idx="124">
                  <c:v>0.86199999999999999</c:v>
                </c:pt>
                <c:pt idx="125">
                  <c:v>1</c:v>
                </c:pt>
                <c:pt idx="126">
                  <c:v>1.034</c:v>
                </c:pt>
                <c:pt idx="127">
                  <c:v>1.1379999999999999</c:v>
                </c:pt>
                <c:pt idx="128">
                  <c:v>0.879</c:v>
                </c:pt>
                <c:pt idx="129">
                  <c:v>1.069</c:v>
                </c:pt>
                <c:pt idx="130">
                  <c:v>0.91400000000000003</c:v>
                </c:pt>
                <c:pt idx="131">
                  <c:v>1.0169999999999999</c:v>
                </c:pt>
                <c:pt idx="132">
                  <c:v>1</c:v>
                </c:pt>
                <c:pt idx="133">
                  <c:v>1.0169999999999999</c:v>
                </c:pt>
                <c:pt idx="134">
                  <c:v>1.0169999999999999</c:v>
                </c:pt>
                <c:pt idx="135">
                  <c:v>0.77600000000000002</c:v>
                </c:pt>
                <c:pt idx="136">
                  <c:v>1.2070000000000001</c:v>
                </c:pt>
                <c:pt idx="137">
                  <c:v>1.19</c:v>
                </c:pt>
                <c:pt idx="138">
                  <c:v>0.98299999999999998</c:v>
                </c:pt>
                <c:pt idx="139">
                  <c:v>1.1719999999999999</c:v>
                </c:pt>
                <c:pt idx="140">
                  <c:v>1.155</c:v>
                </c:pt>
                <c:pt idx="141">
                  <c:v>0.86199999999999999</c:v>
                </c:pt>
                <c:pt idx="142">
                  <c:v>0.98299999999999998</c:v>
                </c:pt>
                <c:pt idx="143">
                  <c:v>0.93100000000000005</c:v>
                </c:pt>
                <c:pt idx="144">
                  <c:v>0.98299999999999998</c:v>
                </c:pt>
                <c:pt idx="145">
                  <c:v>0.65500000000000003</c:v>
                </c:pt>
                <c:pt idx="146">
                  <c:v>1.1379999999999999</c:v>
                </c:pt>
                <c:pt idx="147">
                  <c:v>1.121</c:v>
                </c:pt>
                <c:pt idx="148">
                  <c:v>1.0169999999999999</c:v>
                </c:pt>
                <c:pt idx="149">
                  <c:v>0.96599999999999997</c:v>
                </c:pt>
                <c:pt idx="150">
                  <c:v>1.19</c:v>
                </c:pt>
                <c:pt idx="151">
                  <c:v>2.5169999999999999</c:v>
                </c:pt>
                <c:pt idx="152">
                  <c:v>7.2590000000000003</c:v>
                </c:pt>
                <c:pt idx="153">
                  <c:v>7.5</c:v>
                </c:pt>
                <c:pt idx="154">
                  <c:v>4.2590000000000003</c:v>
                </c:pt>
                <c:pt idx="155">
                  <c:v>2.2759999999999998</c:v>
                </c:pt>
                <c:pt idx="156">
                  <c:v>5.0860000000000003</c:v>
                </c:pt>
                <c:pt idx="157">
                  <c:v>4.3449999999999998</c:v>
                </c:pt>
                <c:pt idx="158">
                  <c:v>4.5519999999999996</c:v>
                </c:pt>
                <c:pt idx="159">
                  <c:v>4.4660000000000002</c:v>
                </c:pt>
                <c:pt idx="160">
                  <c:v>5.6029999999999998</c:v>
                </c:pt>
                <c:pt idx="161">
                  <c:v>4.9829999999999997</c:v>
                </c:pt>
                <c:pt idx="162">
                  <c:v>7.9480000000000004</c:v>
                </c:pt>
                <c:pt idx="163">
                  <c:v>6.3620000000000001</c:v>
                </c:pt>
                <c:pt idx="164">
                  <c:v>4.7759999999999998</c:v>
                </c:pt>
                <c:pt idx="165">
                  <c:v>7.0170000000000003</c:v>
                </c:pt>
                <c:pt idx="166">
                  <c:v>7.0170000000000003</c:v>
                </c:pt>
                <c:pt idx="167">
                  <c:v>5.5519999999999996</c:v>
                </c:pt>
                <c:pt idx="168">
                  <c:v>5.8789999999999996</c:v>
                </c:pt>
                <c:pt idx="169">
                  <c:v>3.552</c:v>
                </c:pt>
                <c:pt idx="170">
                  <c:v>7.7069999999999999</c:v>
                </c:pt>
                <c:pt idx="171">
                  <c:v>6.7409999999999997</c:v>
                </c:pt>
                <c:pt idx="172">
                  <c:v>6.2590000000000003</c:v>
                </c:pt>
                <c:pt idx="173">
                  <c:v>4.069</c:v>
                </c:pt>
                <c:pt idx="174">
                  <c:v>3.2240000000000002</c:v>
                </c:pt>
                <c:pt idx="175">
                  <c:v>3.4830000000000001</c:v>
                </c:pt>
                <c:pt idx="176">
                  <c:v>2.7930000000000001</c:v>
                </c:pt>
                <c:pt idx="177">
                  <c:v>2.7589999999999999</c:v>
                </c:pt>
                <c:pt idx="178">
                  <c:v>4.2240000000000002</c:v>
                </c:pt>
                <c:pt idx="179">
                  <c:v>5.69</c:v>
                </c:pt>
                <c:pt idx="180">
                  <c:v>2.6379999999999999</c:v>
                </c:pt>
                <c:pt idx="181">
                  <c:v>1.0169999999999999</c:v>
                </c:pt>
                <c:pt idx="182">
                  <c:v>0.96599999999999997</c:v>
                </c:pt>
                <c:pt idx="183">
                  <c:v>0.89700000000000002</c:v>
                </c:pt>
                <c:pt idx="184">
                  <c:v>0.70699999999999996</c:v>
                </c:pt>
                <c:pt idx="185">
                  <c:v>0.94799999999999995</c:v>
                </c:pt>
                <c:pt idx="186">
                  <c:v>0.93100000000000005</c:v>
                </c:pt>
                <c:pt idx="187">
                  <c:v>1.052</c:v>
                </c:pt>
                <c:pt idx="188">
                  <c:v>0.879</c:v>
                </c:pt>
                <c:pt idx="189">
                  <c:v>1.103</c:v>
                </c:pt>
                <c:pt idx="190">
                  <c:v>1.103</c:v>
                </c:pt>
                <c:pt idx="191">
                  <c:v>1.224</c:v>
                </c:pt>
                <c:pt idx="192">
                  <c:v>1.155</c:v>
                </c:pt>
                <c:pt idx="193">
                  <c:v>1.19</c:v>
                </c:pt>
                <c:pt idx="194">
                  <c:v>1.1719999999999999</c:v>
                </c:pt>
                <c:pt idx="195">
                  <c:v>1.2070000000000001</c:v>
                </c:pt>
                <c:pt idx="196">
                  <c:v>1.034</c:v>
                </c:pt>
                <c:pt idx="197">
                  <c:v>1.052</c:v>
                </c:pt>
                <c:pt idx="198">
                  <c:v>0.79300000000000004</c:v>
                </c:pt>
                <c:pt idx="199">
                  <c:v>1.0860000000000001</c:v>
                </c:pt>
                <c:pt idx="200">
                  <c:v>1.2070000000000001</c:v>
                </c:pt>
                <c:pt idx="201">
                  <c:v>0.75900000000000001</c:v>
                </c:pt>
                <c:pt idx="202">
                  <c:v>0.86199999999999999</c:v>
                </c:pt>
                <c:pt idx="203">
                  <c:v>1.1719999999999999</c:v>
                </c:pt>
                <c:pt idx="204">
                  <c:v>1.155</c:v>
                </c:pt>
                <c:pt idx="205">
                  <c:v>1.069</c:v>
                </c:pt>
                <c:pt idx="206">
                  <c:v>1.224</c:v>
                </c:pt>
                <c:pt idx="207">
                  <c:v>1.069</c:v>
                </c:pt>
                <c:pt idx="208">
                  <c:v>1.121</c:v>
                </c:pt>
                <c:pt idx="209">
                  <c:v>1.2410000000000001</c:v>
                </c:pt>
                <c:pt idx="210">
                  <c:v>1.069</c:v>
                </c:pt>
                <c:pt idx="211">
                  <c:v>1.103</c:v>
                </c:pt>
                <c:pt idx="212">
                  <c:v>1.2410000000000001</c:v>
                </c:pt>
                <c:pt idx="213">
                  <c:v>1.19</c:v>
                </c:pt>
                <c:pt idx="214">
                  <c:v>1.069</c:v>
                </c:pt>
                <c:pt idx="215">
                  <c:v>1.034</c:v>
                </c:pt>
                <c:pt idx="216">
                  <c:v>1.0860000000000001</c:v>
                </c:pt>
                <c:pt idx="217">
                  <c:v>1.0860000000000001</c:v>
                </c:pt>
                <c:pt idx="218">
                  <c:v>0.79300000000000004</c:v>
                </c:pt>
                <c:pt idx="219">
                  <c:v>0.94799999999999995</c:v>
                </c:pt>
                <c:pt idx="220">
                  <c:v>0.84499999999999997</c:v>
                </c:pt>
                <c:pt idx="221">
                  <c:v>0.89700000000000002</c:v>
                </c:pt>
                <c:pt idx="222">
                  <c:v>1.069</c:v>
                </c:pt>
                <c:pt idx="223">
                  <c:v>1.0860000000000001</c:v>
                </c:pt>
                <c:pt idx="224">
                  <c:v>1.1719999999999999</c:v>
                </c:pt>
                <c:pt idx="225">
                  <c:v>1.0860000000000001</c:v>
                </c:pt>
                <c:pt idx="226">
                  <c:v>1.0169999999999999</c:v>
                </c:pt>
                <c:pt idx="227">
                  <c:v>1.034</c:v>
                </c:pt>
                <c:pt idx="228">
                  <c:v>1.0169999999999999</c:v>
                </c:pt>
                <c:pt idx="229">
                  <c:v>1.121</c:v>
                </c:pt>
                <c:pt idx="230">
                  <c:v>1.19</c:v>
                </c:pt>
                <c:pt idx="231">
                  <c:v>1.069</c:v>
                </c:pt>
                <c:pt idx="232">
                  <c:v>0.82799999999999996</c:v>
                </c:pt>
                <c:pt idx="233">
                  <c:v>0.91400000000000003</c:v>
                </c:pt>
                <c:pt idx="234">
                  <c:v>1.034</c:v>
                </c:pt>
                <c:pt idx="235">
                  <c:v>0.89700000000000002</c:v>
                </c:pt>
                <c:pt idx="236">
                  <c:v>1.1719999999999999</c:v>
                </c:pt>
                <c:pt idx="237">
                  <c:v>1.155</c:v>
                </c:pt>
                <c:pt idx="238">
                  <c:v>1.069</c:v>
                </c:pt>
                <c:pt idx="239">
                  <c:v>1.1719999999999999</c:v>
                </c:pt>
                <c:pt idx="240">
                  <c:v>1.19</c:v>
                </c:pt>
                <c:pt idx="241">
                  <c:v>0.94799999999999995</c:v>
                </c:pt>
                <c:pt idx="242">
                  <c:v>0.98299999999999998</c:v>
                </c:pt>
                <c:pt idx="243">
                  <c:v>0.84499999999999997</c:v>
                </c:pt>
                <c:pt idx="244">
                  <c:v>0.82799999999999996</c:v>
                </c:pt>
                <c:pt idx="245">
                  <c:v>0.70699999999999996</c:v>
                </c:pt>
                <c:pt idx="246">
                  <c:v>0.74099999999999999</c:v>
                </c:pt>
                <c:pt idx="247">
                  <c:v>0.84499999999999997</c:v>
                </c:pt>
                <c:pt idx="248">
                  <c:v>1.2070000000000001</c:v>
                </c:pt>
                <c:pt idx="249">
                  <c:v>1.2410000000000001</c:v>
                </c:pt>
                <c:pt idx="250">
                  <c:v>1.052</c:v>
                </c:pt>
                <c:pt idx="251">
                  <c:v>1.1719999999999999</c:v>
                </c:pt>
                <c:pt idx="252">
                  <c:v>1.103</c:v>
                </c:pt>
                <c:pt idx="253">
                  <c:v>1.1719999999999999</c:v>
                </c:pt>
                <c:pt idx="254">
                  <c:v>0.93100000000000005</c:v>
                </c:pt>
                <c:pt idx="255">
                  <c:v>0.84499999999999997</c:v>
                </c:pt>
                <c:pt idx="256">
                  <c:v>1.2070000000000001</c:v>
                </c:pt>
                <c:pt idx="257">
                  <c:v>3.379</c:v>
                </c:pt>
                <c:pt idx="258">
                  <c:v>6.1550000000000002</c:v>
                </c:pt>
                <c:pt idx="259">
                  <c:v>4.8970000000000002</c:v>
                </c:pt>
                <c:pt idx="260">
                  <c:v>5.6210000000000004</c:v>
                </c:pt>
                <c:pt idx="261">
                  <c:v>4.1379999999999999</c:v>
                </c:pt>
                <c:pt idx="262">
                  <c:v>2.1030000000000002</c:v>
                </c:pt>
                <c:pt idx="263">
                  <c:v>2.4660000000000002</c:v>
                </c:pt>
                <c:pt idx="264">
                  <c:v>1.448</c:v>
                </c:pt>
                <c:pt idx="265">
                  <c:v>0.93100000000000005</c:v>
                </c:pt>
                <c:pt idx="266">
                  <c:v>0.94799999999999995</c:v>
                </c:pt>
                <c:pt idx="267">
                  <c:v>0.98299999999999998</c:v>
                </c:pt>
                <c:pt idx="268">
                  <c:v>1.0860000000000001</c:v>
                </c:pt>
                <c:pt idx="269">
                  <c:v>0.98299999999999998</c:v>
                </c:pt>
                <c:pt idx="270">
                  <c:v>0.77600000000000002</c:v>
                </c:pt>
                <c:pt idx="271">
                  <c:v>0.72399999999999998</c:v>
                </c:pt>
                <c:pt idx="272">
                  <c:v>0.89700000000000002</c:v>
                </c:pt>
                <c:pt idx="273">
                  <c:v>0.93100000000000005</c:v>
                </c:pt>
                <c:pt idx="274">
                  <c:v>0.94799999999999995</c:v>
                </c:pt>
                <c:pt idx="275">
                  <c:v>0.79300000000000004</c:v>
                </c:pt>
                <c:pt idx="276">
                  <c:v>1.069</c:v>
                </c:pt>
                <c:pt idx="277">
                  <c:v>0.94799999999999995</c:v>
                </c:pt>
                <c:pt idx="278">
                  <c:v>0.72399999999999998</c:v>
                </c:pt>
                <c:pt idx="279">
                  <c:v>1.069</c:v>
                </c:pt>
                <c:pt idx="280">
                  <c:v>1.034</c:v>
                </c:pt>
                <c:pt idx="281">
                  <c:v>0.79300000000000004</c:v>
                </c:pt>
                <c:pt idx="282">
                  <c:v>0.84499999999999997</c:v>
                </c:pt>
                <c:pt idx="283">
                  <c:v>0.93100000000000005</c:v>
                </c:pt>
                <c:pt idx="284">
                  <c:v>1.0860000000000001</c:v>
                </c:pt>
                <c:pt idx="285">
                  <c:v>1.034</c:v>
                </c:pt>
                <c:pt idx="286">
                  <c:v>1.224</c:v>
                </c:pt>
                <c:pt idx="287">
                  <c:v>1.121</c:v>
                </c:pt>
                <c:pt idx="288">
                  <c:v>0.93100000000000005</c:v>
                </c:pt>
                <c:pt idx="289">
                  <c:v>1.052</c:v>
                </c:pt>
                <c:pt idx="290">
                  <c:v>1.034</c:v>
                </c:pt>
                <c:pt idx="291">
                  <c:v>1.0169999999999999</c:v>
                </c:pt>
                <c:pt idx="292">
                  <c:v>1.0860000000000001</c:v>
                </c:pt>
                <c:pt idx="293">
                  <c:v>1.2070000000000001</c:v>
                </c:pt>
                <c:pt idx="294">
                  <c:v>0.72399999999999998</c:v>
                </c:pt>
                <c:pt idx="295">
                  <c:v>0.74099999999999999</c:v>
                </c:pt>
                <c:pt idx="296">
                  <c:v>1.155</c:v>
                </c:pt>
                <c:pt idx="297">
                  <c:v>1.069</c:v>
                </c:pt>
                <c:pt idx="298">
                  <c:v>1.155</c:v>
                </c:pt>
                <c:pt idx="299">
                  <c:v>1.069</c:v>
                </c:pt>
                <c:pt idx="300">
                  <c:v>0.879</c:v>
                </c:pt>
                <c:pt idx="301">
                  <c:v>0.98299999999999998</c:v>
                </c:pt>
                <c:pt idx="302">
                  <c:v>0.91400000000000003</c:v>
                </c:pt>
                <c:pt idx="303">
                  <c:v>0.86199999999999999</c:v>
                </c:pt>
                <c:pt idx="304">
                  <c:v>0.879</c:v>
                </c:pt>
                <c:pt idx="305">
                  <c:v>1.2070000000000001</c:v>
                </c:pt>
                <c:pt idx="306">
                  <c:v>1.034</c:v>
                </c:pt>
                <c:pt idx="307">
                  <c:v>0.79300000000000004</c:v>
                </c:pt>
                <c:pt idx="308">
                  <c:v>0.75900000000000001</c:v>
                </c:pt>
                <c:pt idx="309">
                  <c:v>0.84499999999999997</c:v>
                </c:pt>
                <c:pt idx="310">
                  <c:v>1.0860000000000001</c:v>
                </c:pt>
                <c:pt idx="311">
                  <c:v>1.0860000000000001</c:v>
                </c:pt>
                <c:pt idx="312">
                  <c:v>1.2070000000000001</c:v>
                </c:pt>
                <c:pt idx="313">
                  <c:v>0.98299999999999998</c:v>
                </c:pt>
                <c:pt idx="314">
                  <c:v>0.98299999999999998</c:v>
                </c:pt>
                <c:pt idx="315">
                  <c:v>0.98299999999999998</c:v>
                </c:pt>
                <c:pt idx="316">
                  <c:v>0.98299999999999998</c:v>
                </c:pt>
                <c:pt idx="317">
                  <c:v>0.879</c:v>
                </c:pt>
                <c:pt idx="318">
                  <c:v>1.052</c:v>
                </c:pt>
                <c:pt idx="319">
                  <c:v>1</c:v>
                </c:pt>
                <c:pt idx="320">
                  <c:v>0.91400000000000003</c:v>
                </c:pt>
                <c:pt idx="321">
                  <c:v>1.224</c:v>
                </c:pt>
                <c:pt idx="322">
                  <c:v>1.2410000000000001</c:v>
                </c:pt>
                <c:pt idx="323">
                  <c:v>1.0169999999999999</c:v>
                </c:pt>
                <c:pt idx="324">
                  <c:v>1.224</c:v>
                </c:pt>
                <c:pt idx="325">
                  <c:v>1</c:v>
                </c:pt>
                <c:pt idx="326">
                  <c:v>0.74099999999999999</c:v>
                </c:pt>
                <c:pt idx="327">
                  <c:v>1.052</c:v>
                </c:pt>
                <c:pt idx="328">
                  <c:v>1.0860000000000001</c:v>
                </c:pt>
                <c:pt idx="329">
                  <c:v>1.069</c:v>
                </c:pt>
                <c:pt idx="330">
                  <c:v>1.155</c:v>
                </c:pt>
                <c:pt idx="331">
                  <c:v>1.2070000000000001</c:v>
                </c:pt>
                <c:pt idx="332">
                  <c:v>1.5169999999999999</c:v>
                </c:pt>
                <c:pt idx="333">
                  <c:v>14.292999999999999</c:v>
                </c:pt>
                <c:pt idx="334">
                  <c:v>11.276</c:v>
                </c:pt>
                <c:pt idx="335">
                  <c:v>15.516999999999999</c:v>
                </c:pt>
                <c:pt idx="336">
                  <c:v>15.362</c:v>
                </c:pt>
                <c:pt idx="337">
                  <c:v>11.397</c:v>
                </c:pt>
                <c:pt idx="338">
                  <c:v>2.5859999999999999</c:v>
                </c:pt>
                <c:pt idx="339">
                  <c:v>13</c:v>
                </c:pt>
                <c:pt idx="340">
                  <c:v>15.621</c:v>
                </c:pt>
                <c:pt idx="341">
                  <c:v>12.638</c:v>
                </c:pt>
                <c:pt idx="342">
                  <c:v>12.621</c:v>
                </c:pt>
                <c:pt idx="343">
                  <c:v>12.69</c:v>
                </c:pt>
                <c:pt idx="344">
                  <c:v>11.362</c:v>
                </c:pt>
                <c:pt idx="345">
                  <c:v>14.448</c:v>
                </c:pt>
                <c:pt idx="346">
                  <c:v>15.121</c:v>
                </c:pt>
                <c:pt idx="347">
                  <c:v>15.069000000000001</c:v>
                </c:pt>
                <c:pt idx="348">
                  <c:v>11.914</c:v>
                </c:pt>
                <c:pt idx="349">
                  <c:v>0.84499999999999997</c:v>
                </c:pt>
                <c:pt idx="350">
                  <c:v>0.96599999999999997</c:v>
                </c:pt>
                <c:pt idx="351">
                  <c:v>0.84499999999999997</c:v>
                </c:pt>
                <c:pt idx="352">
                  <c:v>0.84499999999999997</c:v>
                </c:pt>
                <c:pt idx="353">
                  <c:v>0.98299999999999998</c:v>
                </c:pt>
                <c:pt idx="354">
                  <c:v>1</c:v>
                </c:pt>
                <c:pt idx="355">
                  <c:v>1.0169999999999999</c:v>
                </c:pt>
                <c:pt idx="356">
                  <c:v>0.79300000000000004</c:v>
                </c:pt>
                <c:pt idx="357">
                  <c:v>0.86199999999999999</c:v>
                </c:pt>
                <c:pt idx="358">
                  <c:v>1.103</c:v>
                </c:pt>
                <c:pt idx="359">
                  <c:v>1.052</c:v>
                </c:pt>
                <c:pt idx="360">
                  <c:v>1.2070000000000001</c:v>
                </c:pt>
                <c:pt idx="361">
                  <c:v>1.2070000000000001</c:v>
                </c:pt>
                <c:pt idx="362">
                  <c:v>0.96599999999999997</c:v>
                </c:pt>
                <c:pt idx="363">
                  <c:v>0.81</c:v>
                </c:pt>
                <c:pt idx="364">
                  <c:v>0.86199999999999999</c:v>
                </c:pt>
                <c:pt idx="365">
                  <c:v>0.94799999999999995</c:v>
                </c:pt>
                <c:pt idx="366">
                  <c:v>0.93100000000000005</c:v>
                </c:pt>
                <c:pt idx="367">
                  <c:v>0.79300000000000004</c:v>
                </c:pt>
                <c:pt idx="368">
                  <c:v>1.0860000000000001</c:v>
                </c:pt>
                <c:pt idx="369">
                  <c:v>1.2070000000000001</c:v>
                </c:pt>
                <c:pt idx="370">
                  <c:v>0.94799999999999995</c:v>
                </c:pt>
                <c:pt idx="371">
                  <c:v>0.91400000000000003</c:v>
                </c:pt>
                <c:pt idx="372">
                  <c:v>0.96599999999999997</c:v>
                </c:pt>
                <c:pt idx="373">
                  <c:v>1.103</c:v>
                </c:pt>
                <c:pt idx="374">
                  <c:v>1.1719999999999999</c:v>
                </c:pt>
                <c:pt idx="375">
                  <c:v>0.82799999999999996</c:v>
                </c:pt>
                <c:pt idx="376">
                  <c:v>3.9660000000000002</c:v>
                </c:pt>
                <c:pt idx="377">
                  <c:v>7.431</c:v>
                </c:pt>
                <c:pt idx="378">
                  <c:v>5.6210000000000004</c:v>
                </c:pt>
                <c:pt idx="379">
                  <c:v>6.19</c:v>
                </c:pt>
                <c:pt idx="380">
                  <c:v>10.776</c:v>
                </c:pt>
                <c:pt idx="381">
                  <c:v>10.707000000000001</c:v>
                </c:pt>
                <c:pt idx="382">
                  <c:v>5.69</c:v>
                </c:pt>
                <c:pt idx="383">
                  <c:v>2.6030000000000002</c:v>
                </c:pt>
                <c:pt idx="384">
                  <c:v>9.0860000000000003</c:v>
                </c:pt>
                <c:pt idx="385">
                  <c:v>9.0690000000000008</c:v>
                </c:pt>
                <c:pt idx="386">
                  <c:v>8.9480000000000004</c:v>
                </c:pt>
                <c:pt idx="387">
                  <c:v>8.5519999999999996</c:v>
                </c:pt>
                <c:pt idx="388">
                  <c:v>5.931</c:v>
                </c:pt>
                <c:pt idx="389">
                  <c:v>10.965999999999999</c:v>
                </c:pt>
                <c:pt idx="390">
                  <c:v>10.516999999999999</c:v>
                </c:pt>
                <c:pt idx="391">
                  <c:v>7.069</c:v>
                </c:pt>
                <c:pt idx="392">
                  <c:v>5.6550000000000002</c:v>
                </c:pt>
                <c:pt idx="393">
                  <c:v>10.292999999999999</c:v>
                </c:pt>
                <c:pt idx="394">
                  <c:v>10.103</c:v>
                </c:pt>
                <c:pt idx="395">
                  <c:v>9.31</c:v>
                </c:pt>
                <c:pt idx="396">
                  <c:v>11.154999999999999</c:v>
                </c:pt>
                <c:pt idx="397">
                  <c:v>11.516999999999999</c:v>
                </c:pt>
                <c:pt idx="398">
                  <c:v>8.2070000000000007</c:v>
                </c:pt>
                <c:pt idx="399">
                  <c:v>8.8970000000000002</c:v>
                </c:pt>
                <c:pt idx="400">
                  <c:v>6.0519999999999996</c:v>
                </c:pt>
                <c:pt idx="401">
                  <c:v>11</c:v>
                </c:pt>
                <c:pt idx="402">
                  <c:v>7.7590000000000003</c:v>
                </c:pt>
                <c:pt idx="403">
                  <c:v>6.5519999999999996</c:v>
                </c:pt>
                <c:pt idx="404">
                  <c:v>6.5519999999999996</c:v>
                </c:pt>
                <c:pt idx="405">
                  <c:v>0.93100000000000005</c:v>
                </c:pt>
                <c:pt idx="406">
                  <c:v>1.155</c:v>
                </c:pt>
                <c:pt idx="407">
                  <c:v>1.2589999999999999</c:v>
                </c:pt>
                <c:pt idx="408">
                  <c:v>1.2589999999999999</c:v>
                </c:pt>
                <c:pt idx="409">
                  <c:v>1.2410000000000001</c:v>
                </c:pt>
                <c:pt idx="410">
                  <c:v>1.1719999999999999</c:v>
                </c:pt>
                <c:pt idx="411">
                  <c:v>0.84499999999999997</c:v>
                </c:pt>
                <c:pt idx="412">
                  <c:v>0.86199999999999999</c:v>
                </c:pt>
                <c:pt idx="413">
                  <c:v>0.77600000000000002</c:v>
                </c:pt>
                <c:pt idx="414">
                  <c:v>0.879</c:v>
                </c:pt>
                <c:pt idx="415">
                  <c:v>0.879</c:v>
                </c:pt>
                <c:pt idx="416">
                  <c:v>0.89700000000000002</c:v>
                </c:pt>
                <c:pt idx="417">
                  <c:v>1</c:v>
                </c:pt>
                <c:pt idx="418">
                  <c:v>0.70699999999999996</c:v>
                </c:pt>
                <c:pt idx="419">
                  <c:v>0.75900000000000001</c:v>
                </c:pt>
                <c:pt idx="420">
                  <c:v>1.0169999999999999</c:v>
                </c:pt>
                <c:pt idx="421">
                  <c:v>1.121</c:v>
                </c:pt>
                <c:pt idx="422">
                  <c:v>0.84499999999999997</c:v>
                </c:pt>
                <c:pt idx="423">
                  <c:v>1.2070000000000001</c:v>
                </c:pt>
                <c:pt idx="424">
                  <c:v>1.19</c:v>
                </c:pt>
                <c:pt idx="425">
                  <c:v>1.1719999999999999</c:v>
                </c:pt>
                <c:pt idx="426">
                  <c:v>0.96599999999999997</c:v>
                </c:pt>
                <c:pt idx="427">
                  <c:v>1.052</c:v>
                </c:pt>
                <c:pt idx="428">
                  <c:v>0.89700000000000002</c:v>
                </c:pt>
                <c:pt idx="429">
                  <c:v>0.93100000000000005</c:v>
                </c:pt>
                <c:pt idx="430">
                  <c:v>1.0169999999999999</c:v>
                </c:pt>
                <c:pt idx="431">
                  <c:v>1.069</c:v>
                </c:pt>
                <c:pt idx="432">
                  <c:v>1.0860000000000001</c:v>
                </c:pt>
                <c:pt idx="433">
                  <c:v>1.103</c:v>
                </c:pt>
                <c:pt idx="434">
                  <c:v>1.0169999999999999</c:v>
                </c:pt>
                <c:pt idx="435">
                  <c:v>0.67200000000000004</c:v>
                </c:pt>
                <c:pt idx="436">
                  <c:v>0.69</c:v>
                </c:pt>
                <c:pt idx="437">
                  <c:v>0.79300000000000004</c:v>
                </c:pt>
                <c:pt idx="438">
                  <c:v>1.069</c:v>
                </c:pt>
                <c:pt idx="439">
                  <c:v>1.2070000000000001</c:v>
                </c:pt>
                <c:pt idx="440">
                  <c:v>1.2410000000000001</c:v>
                </c:pt>
                <c:pt idx="441">
                  <c:v>1.052</c:v>
                </c:pt>
                <c:pt idx="442">
                  <c:v>0.79300000000000004</c:v>
                </c:pt>
                <c:pt idx="443">
                  <c:v>0.81</c:v>
                </c:pt>
                <c:pt idx="444">
                  <c:v>1</c:v>
                </c:pt>
                <c:pt idx="445">
                  <c:v>0.89700000000000002</c:v>
                </c:pt>
                <c:pt idx="446">
                  <c:v>1.19</c:v>
                </c:pt>
                <c:pt idx="447">
                  <c:v>1.2070000000000001</c:v>
                </c:pt>
                <c:pt idx="448">
                  <c:v>0.91400000000000003</c:v>
                </c:pt>
                <c:pt idx="449">
                  <c:v>1.034</c:v>
                </c:pt>
                <c:pt idx="450">
                  <c:v>0.96599999999999997</c:v>
                </c:pt>
                <c:pt idx="451">
                  <c:v>0.91400000000000003</c:v>
                </c:pt>
                <c:pt idx="452">
                  <c:v>0.93100000000000005</c:v>
                </c:pt>
                <c:pt idx="453">
                  <c:v>1.1379999999999999</c:v>
                </c:pt>
                <c:pt idx="454">
                  <c:v>1.2070000000000001</c:v>
                </c:pt>
                <c:pt idx="455">
                  <c:v>1.19</c:v>
                </c:pt>
                <c:pt idx="456">
                  <c:v>1.121</c:v>
                </c:pt>
                <c:pt idx="457">
                  <c:v>1.0169999999999999</c:v>
                </c:pt>
                <c:pt idx="458">
                  <c:v>0.70699999999999996</c:v>
                </c:pt>
                <c:pt idx="459">
                  <c:v>0.93100000000000005</c:v>
                </c:pt>
                <c:pt idx="460">
                  <c:v>1.121</c:v>
                </c:pt>
                <c:pt idx="461">
                  <c:v>0.81</c:v>
                </c:pt>
                <c:pt idx="462">
                  <c:v>1.052</c:v>
                </c:pt>
                <c:pt idx="463">
                  <c:v>0.82799999999999996</c:v>
                </c:pt>
                <c:pt idx="464">
                  <c:v>0.94799999999999995</c:v>
                </c:pt>
                <c:pt idx="465">
                  <c:v>0.96599999999999997</c:v>
                </c:pt>
                <c:pt idx="466">
                  <c:v>0.77600000000000002</c:v>
                </c:pt>
                <c:pt idx="467">
                  <c:v>1</c:v>
                </c:pt>
                <c:pt idx="468">
                  <c:v>1.224</c:v>
                </c:pt>
                <c:pt idx="469">
                  <c:v>1.0860000000000001</c:v>
                </c:pt>
                <c:pt idx="470">
                  <c:v>1.121</c:v>
                </c:pt>
                <c:pt idx="471">
                  <c:v>1.121</c:v>
                </c:pt>
                <c:pt idx="472">
                  <c:v>1.034</c:v>
                </c:pt>
                <c:pt idx="473">
                  <c:v>1.1719999999999999</c:v>
                </c:pt>
                <c:pt idx="474">
                  <c:v>1.2070000000000001</c:v>
                </c:pt>
                <c:pt idx="475">
                  <c:v>1.224</c:v>
                </c:pt>
                <c:pt idx="476">
                  <c:v>1.034</c:v>
                </c:pt>
                <c:pt idx="477">
                  <c:v>1.052</c:v>
                </c:pt>
                <c:pt idx="478">
                  <c:v>1.2410000000000001</c:v>
                </c:pt>
                <c:pt idx="479">
                  <c:v>0.82799999999999996</c:v>
                </c:pt>
                <c:pt idx="480">
                  <c:v>0.79300000000000004</c:v>
                </c:pt>
                <c:pt idx="481">
                  <c:v>0.98299999999999998</c:v>
                </c:pt>
                <c:pt idx="482">
                  <c:v>1.1379999999999999</c:v>
                </c:pt>
                <c:pt idx="483">
                  <c:v>1</c:v>
                </c:pt>
                <c:pt idx="484">
                  <c:v>1.052</c:v>
                </c:pt>
                <c:pt idx="485">
                  <c:v>0.94799999999999995</c:v>
                </c:pt>
                <c:pt idx="486">
                  <c:v>1.1379999999999999</c:v>
                </c:pt>
                <c:pt idx="487">
                  <c:v>1.0860000000000001</c:v>
                </c:pt>
                <c:pt idx="488">
                  <c:v>1.0860000000000001</c:v>
                </c:pt>
                <c:pt idx="489">
                  <c:v>1.121</c:v>
                </c:pt>
                <c:pt idx="490">
                  <c:v>1.052</c:v>
                </c:pt>
                <c:pt idx="491">
                  <c:v>1.1719999999999999</c:v>
                </c:pt>
                <c:pt idx="492">
                  <c:v>0.98299999999999998</c:v>
                </c:pt>
                <c:pt idx="493">
                  <c:v>0.79300000000000004</c:v>
                </c:pt>
                <c:pt idx="494">
                  <c:v>1</c:v>
                </c:pt>
                <c:pt idx="495">
                  <c:v>1</c:v>
                </c:pt>
                <c:pt idx="496">
                  <c:v>1.1719999999999999</c:v>
                </c:pt>
                <c:pt idx="497">
                  <c:v>0.72399999999999998</c:v>
                </c:pt>
                <c:pt idx="498">
                  <c:v>0.75900000000000001</c:v>
                </c:pt>
                <c:pt idx="499">
                  <c:v>1.1719999999999999</c:v>
                </c:pt>
                <c:pt idx="500">
                  <c:v>1.1719999999999999</c:v>
                </c:pt>
                <c:pt idx="501">
                  <c:v>1.0169999999999999</c:v>
                </c:pt>
                <c:pt idx="502">
                  <c:v>1.1379999999999999</c:v>
                </c:pt>
                <c:pt idx="503">
                  <c:v>0.96599999999999997</c:v>
                </c:pt>
                <c:pt idx="504">
                  <c:v>1.0860000000000001</c:v>
                </c:pt>
                <c:pt idx="505">
                  <c:v>0.98299999999999998</c:v>
                </c:pt>
                <c:pt idx="506">
                  <c:v>1.155</c:v>
                </c:pt>
                <c:pt idx="507">
                  <c:v>1.2070000000000001</c:v>
                </c:pt>
                <c:pt idx="508">
                  <c:v>1.19</c:v>
                </c:pt>
                <c:pt idx="509">
                  <c:v>1.155</c:v>
                </c:pt>
                <c:pt idx="510">
                  <c:v>0.89700000000000002</c:v>
                </c:pt>
                <c:pt idx="511">
                  <c:v>0.96599999999999997</c:v>
                </c:pt>
                <c:pt idx="512">
                  <c:v>1.103</c:v>
                </c:pt>
                <c:pt idx="513">
                  <c:v>0.96599999999999997</c:v>
                </c:pt>
                <c:pt idx="514">
                  <c:v>0.96599999999999997</c:v>
                </c:pt>
                <c:pt idx="515">
                  <c:v>1.0860000000000001</c:v>
                </c:pt>
                <c:pt idx="516">
                  <c:v>1.0169999999999999</c:v>
                </c:pt>
                <c:pt idx="517">
                  <c:v>1.0169999999999999</c:v>
                </c:pt>
                <c:pt idx="518">
                  <c:v>1.052</c:v>
                </c:pt>
                <c:pt idx="519">
                  <c:v>1.103</c:v>
                </c:pt>
              </c:numCache>
            </c:numRef>
          </c:val>
          <c:smooth val="0"/>
          <c:extLst>
            <c:ext xmlns:c16="http://schemas.microsoft.com/office/drawing/2014/chart" uri="{C3380CC4-5D6E-409C-BE32-E72D297353CC}">
              <c16:uniqueId val="{00000000-B34A-C941-AA2C-6E4AE072D13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0"/>
            </a:pPr>
            <a:endParaRPr lang="en-US"/>
          </a:p>
        </c:txPr>
        <c:crossAx val="2140495176"/>
        <c:crosses val="autoZero"/>
        <c:auto val="1"/>
        <c:lblAlgn val="ctr"/>
        <c:lblOffset val="100"/>
        <c:noMultiLvlLbl val="0"/>
      </c:catAx>
      <c:valAx>
        <c:axId val="2140495176"/>
        <c:scaling>
          <c:orientation val="minMax"/>
        </c:scaling>
        <c:delete val="0"/>
        <c:axPos val="l"/>
        <c:majorGridlines/>
        <c:title>
          <c:tx>
            <c:rich>
              <a:bodyPr/>
              <a:lstStyle/>
              <a:p>
                <a:r>
                  <a:rPr lang="en-US"/>
                  <a:t>latency (ms)</a:t>
                </a:r>
              </a:p>
            </c:rich>
          </c:tx>
          <c:overlay val="0"/>
        </c:title>
        <c:numFmt formatCode="General" sourceLinked="1"/>
        <c:majorTickMark val="out"/>
        <c:minorTickMark val="none"/>
        <c:tickLblPos val="nextTo"/>
        <c:txPr>
          <a:bodyPr/>
          <a:lstStyle/>
          <a:p>
            <a:pPr>
              <a:defRPr sz="12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0000"/>
                </a:solidFill>
                <a:latin typeface="Arial"/>
              </a:defRPr>
            </a:pPr>
            <a:r>
              <a:rPr lang="en-US" sz="2000" b="0" i="0" u="none" strike="noStrike" dirty="0">
                <a:solidFill>
                  <a:srgbClr val="000000"/>
                </a:solidFill>
                <a:latin typeface="Arial"/>
              </a:rPr>
              <a:t>Single threaded Valkey</a:t>
            </a:r>
            <a:r>
              <a:rPr lang="en-US" sz="2000" b="0" i="0" u="none" strike="noStrike" baseline="0" dirty="0">
                <a:solidFill>
                  <a:srgbClr val="000000"/>
                </a:solidFill>
                <a:latin typeface="Arial"/>
              </a:rPr>
              <a:t> </a:t>
            </a:r>
            <a:r>
              <a:rPr lang="en-US" sz="2000" b="0" i="0" u="none" strike="noStrike" dirty="0">
                <a:solidFill>
                  <a:srgbClr val="000000"/>
                </a:solidFill>
                <a:latin typeface="Arial"/>
              </a:rPr>
              <a:t>latency</a:t>
            </a:r>
          </a:p>
        </c:rich>
      </c:tx>
      <c:overlay val="0"/>
    </c:title>
    <c:autoTitleDeleted val="0"/>
    <c:plotArea>
      <c:layout/>
      <c:lineChart>
        <c:grouping val="standard"/>
        <c:varyColors val="0"/>
        <c:ser>
          <c:idx val="0"/>
          <c:order val="0"/>
          <c:tx>
            <c:strRef>
              <c:f>Sheet1!$B$1</c:f>
              <c:strCache>
                <c:ptCount val="1"/>
                <c:pt idx="0">
                  <c:v>avg</c:v>
                </c:pt>
              </c:strCache>
            </c:strRef>
          </c:tx>
          <c:spPr>
            <a:ln w="25400" cap="flat">
              <a:solidFill>
                <a:srgbClr val="8B0000"/>
              </a:solidFill>
              <a:prstDash val="solid"/>
              <a:round/>
            </a:ln>
            <a:effectLst/>
          </c:spPr>
          <c:marker>
            <c:symbol val="circle"/>
            <c:size val="6"/>
            <c:spPr>
              <a:solidFill>
                <a:srgbClr val="8B0000"/>
              </a:solidFill>
              <a:ln w="9525" cap="flat">
                <a:solidFill>
                  <a:srgbClr val="8B00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Sheet1!$B$2:$B$19</c:f>
              <c:numCache>
                <c:formatCode>General</c:formatCode>
                <c:ptCount val="18"/>
                <c:pt idx="0">
                  <c:v>205</c:v>
                </c:pt>
                <c:pt idx="1">
                  <c:v>208</c:v>
                </c:pt>
                <c:pt idx="2">
                  <c:v>235</c:v>
                </c:pt>
                <c:pt idx="3">
                  <c:v>288</c:v>
                </c:pt>
                <c:pt idx="4">
                  <c:v>303</c:v>
                </c:pt>
                <c:pt idx="5">
                  <c:v>342</c:v>
                </c:pt>
                <c:pt idx="6">
                  <c:v>382</c:v>
                </c:pt>
                <c:pt idx="7">
                  <c:v>419</c:v>
                </c:pt>
                <c:pt idx="8">
                  <c:v>488</c:v>
                </c:pt>
                <c:pt idx="9">
                  <c:v>518</c:v>
                </c:pt>
                <c:pt idx="10">
                  <c:v>586</c:v>
                </c:pt>
                <c:pt idx="11">
                  <c:v>648</c:v>
                </c:pt>
                <c:pt idx="12">
                  <c:v>713</c:v>
                </c:pt>
                <c:pt idx="13">
                  <c:v>772</c:v>
                </c:pt>
                <c:pt idx="14">
                  <c:v>5000</c:v>
                </c:pt>
                <c:pt idx="15">
                  <c:v>5000</c:v>
                </c:pt>
                <c:pt idx="16">
                  <c:v>5000</c:v>
                </c:pt>
                <c:pt idx="17">
                  <c:v>5000</c:v>
                </c:pt>
              </c:numCache>
            </c:numRef>
          </c:val>
          <c:smooth val="0"/>
          <c:extLst>
            <c:ext xmlns:c16="http://schemas.microsoft.com/office/drawing/2014/chart" uri="{C3380CC4-5D6E-409C-BE32-E72D297353CC}">
              <c16:uniqueId val="{00000000-0310-9B44-9F02-AE6681E1E484}"/>
            </c:ext>
          </c:extLst>
        </c:ser>
        <c:ser>
          <c:idx val="1"/>
          <c:order val="1"/>
          <c:tx>
            <c:strRef>
              <c:f>Sheet1!$C$1</c:f>
              <c:strCache>
                <c:ptCount val="1"/>
                <c:pt idx="0">
                  <c:v>p50</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Sheet1!$C$2:$C$19</c:f>
              <c:numCache>
                <c:formatCode>General</c:formatCode>
                <c:ptCount val="18"/>
                <c:pt idx="0">
                  <c:v>167</c:v>
                </c:pt>
                <c:pt idx="1">
                  <c:v>203</c:v>
                </c:pt>
                <c:pt idx="2">
                  <c:v>228</c:v>
                </c:pt>
                <c:pt idx="3">
                  <c:v>246</c:v>
                </c:pt>
                <c:pt idx="4">
                  <c:v>275</c:v>
                </c:pt>
                <c:pt idx="5">
                  <c:v>307</c:v>
                </c:pt>
                <c:pt idx="6">
                  <c:v>351</c:v>
                </c:pt>
                <c:pt idx="7">
                  <c:v>392</c:v>
                </c:pt>
                <c:pt idx="8">
                  <c:v>451</c:v>
                </c:pt>
                <c:pt idx="9">
                  <c:v>504</c:v>
                </c:pt>
                <c:pt idx="10">
                  <c:v>535</c:v>
                </c:pt>
                <c:pt idx="11">
                  <c:v>602</c:v>
                </c:pt>
                <c:pt idx="12">
                  <c:v>651</c:v>
                </c:pt>
                <c:pt idx="13">
                  <c:v>727</c:v>
                </c:pt>
                <c:pt idx="14">
                  <c:v>5000</c:v>
                </c:pt>
                <c:pt idx="15">
                  <c:v>5000</c:v>
                </c:pt>
                <c:pt idx="16">
                  <c:v>5000</c:v>
                </c:pt>
                <c:pt idx="17">
                  <c:v>5000</c:v>
                </c:pt>
              </c:numCache>
            </c:numRef>
          </c:val>
          <c:smooth val="0"/>
          <c:extLst>
            <c:ext xmlns:c16="http://schemas.microsoft.com/office/drawing/2014/chart" uri="{C3380CC4-5D6E-409C-BE32-E72D297353CC}">
              <c16:uniqueId val="{00000001-0310-9B44-9F02-AE6681E1E484}"/>
            </c:ext>
          </c:extLst>
        </c:ser>
        <c:ser>
          <c:idx val="2"/>
          <c:order val="2"/>
          <c:tx>
            <c:strRef>
              <c:f>Sheet1!$D$1</c:f>
              <c:strCache>
                <c:ptCount val="1"/>
                <c:pt idx="0">
                  <c:v>p90</c:v>
                </c:pt>
              </c:strCache>
            </c:strRef>
          </c:tx>
          <c:spPr>
            <a:ln w="25400" cap="flat">
              <a:solidFill>
                <a:srgbClr val="FF4500"/>
              </a:solidFill>
              <a:prstDash val="solid"/>
              <a:round/>
            </a:ln>
            <a:effectLst/>
          </c:spPr>
          <c:marker>
            <c:symbol val="circle"/>
            <c:size val="6"/>
            <c:spPr>
              <a:solidFill>
                <a:srgbClr val="FF4500"/>
              </a:solidFill>
              <a:ln w="9525" cap="flat">
                <a:solidFill>
                  <a:srgbClr val="FF45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Sheet1!$D$2:$D$19</c:f>
              <c:numCache>
                <c:formatCode>General</c:formatCode>
                <c:ptCount val="18"/>
                <c:pt idx="0">
                  <c:v>414</c:v>
                </c:pt>
                <c:pt idx="1">
                  <c:v>436</c:v>
                </c:pt>
                <c:pt idx="2">
                  <c:v>454</c:v>
                </c:pt>
                <c:pt idx="3">
                  <c:v>508</c:v>
                </c:pt>
                <c:pt idx="4">
                  <c:v>557</c:v>
                </c:pt>
                <c:pt idx="5">
                  <c:v>577</c:v>
                </c:pt>
                <c:pt idx="6">
                  <c:v>600</c:v>
                </c:pt>
                <c:pt idx="7">
                  <c:v>660</c:v>
                </c:pt>
                <c:pt idx="8">
                  <c:v>727</c:v>
                </c:pt>
                <c:pt idx="9">
                  <c:v>781</c:v>
                </c:pt>
                <c:pt idx="10">
                  <c:v>837</c:v>
                </c:pt>
                <c:pt idx="11">
                  <c:v>889</c:v>
                </c:pt>
                <c:pt idx="12">
                  <c:v>953</c:v>
                </c:pt>
                <c:pt idx="13">
                  <c:v>1021</c:v>
                </c:pt>
                <c:pt idx="14">
                  <c:v>5000</c:v>
                </c:pt>
                <c:pt idx="15">
                  <c:v>5000</c:v>
                </c:pt>
                <c:pt idx="16">
                  <c:v>5000</c:v>
                </c:pt>
                <c:pt idx="17">
                  <c:v>5000</c:v>
                </c:pt>
              </c:numCache>
            </c:numRef>
          </c:val>
          <c:smooth val="0"/>
          <c:extLst>
            <c:ext xmlns:c16="http://schemas.microsoft.com/office/drawing/2014/chart" uri="{C3380CC4-5D6E-409C-BE32-E72D297353CC}">
              <c16:uniqueId val="{00000002-0310-9B44-9F02-AE6681E1E484}"/>
            </c:ext>
          </c:extLst>
        </c:ser>
        <c:ser>
          <c:idx val="3"/>
          <c:order val="3"/>
          <c:tx>
            <c:strRef>
              <c:f>Sheet1!$E$1</c:f>
              <c:strCache>
                <c:ptCount val="1"/>
                <c:pt idx="0">
                  <c:v>p95</c:v>
                </c:pt>
              </c:strCache>
            </c:strRef>
          </c:tx>
          <c:spPr>
            <a:ln w="25400" cap="flat">
              <a:solidFill>
                <a:srgbClr val="FFD700"/>
              </a:solidFill>
              <a:prstDash val="solid"/>
              <a:round/>
            </a:ln>
            <a:effectLst/>
          </c:spPr>
          <c:marker>
            <c:symbol val="circle"/>
            <c:size val="6"/>
            <c:spPr>
              <a:solidFill>
                <a:srgbClr val="FFD700"/>
              </a:solidFill>
              <a:ln w="9525" cap="flat">
                <a:solidFill>
                  <a:srgbClr val="FFD7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Sheet1!$E$2:$E$19</c:f>
              <c:numCache>
                <c:formatCode>General</c:formatCode>
                <c:ptCount val="18"/>
                <c:pt idx="0">
                  <c:v>531</c:v>
                </c:pt>
                <c:pt idx="1">
                  <c:v>560</c:v>
                </c:pt>
                <c:pt idx="2">
                  <c:v>619</c:v>
                </c:pt>
                <c:pt idx="3">
                  <c:v>641</c:v>
                </c:pt>
                <c:pt idx="4">
                  <c:v>707</c:v>
                </c:pt>
                <c:pt idx="5">
                  <c:v>757</c:v>
                </c:pt>
                <c:pt idx="6">
                  <c:v>823</c:v>
                </c:pt>
                <c:pt idx="7">
                  <c:v>861</c:v>
                </c:pt>
                <c:pt idx="8">
                  <c:v>907</c:v>
                </c:pt>
                <c:pt idx="9">
                  <c:v>1021</c:v>
                </c:pt>
                <c:pt idx="10">
                  <c:v>1074</c:v>
                </c:pt>
                <c:pt idx="11">
                  <c:v>1149</c:v>
                </c:pt>
                <c:pt idx="12">
                  <c:v>1192</c:v>
                </c:pt>
                <c:pt idx="13">
                  <c:v>1279</c:v>
                </c:pt>
                <c:pt idx="14">
                  <c:v>5000</c:v>
                </c:pt>
                <c:pt idx="15">
                  <c:v>5000</c:v>
                </c:pt>
                <c:pt idx="16">
                  <c:v>5000</c:v>
                </c:pt>
                <c:pt idx="17">
                  <c:v>5000</c:v>
                </c:pt>
              </c:numCache>
            </c:numRef>
          </c:val>
          <c:smooth val="0"/>
          <c:extLst>
            <c:ext xmlns:c16="http://schemas.microsoft.com/office/drawing/2014/chart" uri="{C3380CC4-5D6E-409C-BE32-E72D297353CC}">
              <c16:uniqueId val="{00000003-0310-9B44-9F02-AE6681E1E484}"/>
            </c:ext>
          </c:extLst>
        </c:ser>
        <c:ser>
          <c:idx val="4"/>
          <c:order val="4"/>
          <c:tx>
            <c:strRef>
              <c:f>Sheet1!$F$1</c:f>
              <c:strCache>
                <c:ptCount val="1"/>
                <c:pt idx="0">
                  <c:v>p99</c:v>
                </c:pt>
              </c:strCache>
            </c:strRef>
          </c:tx>
          <c:spPr>
            <a:ln w="25400" cap="flat">
              <a:solidFill>
                <a:srgbClr val="008000"/>
              </a:solidFill>
              <a:prstDash val="solid"/>
              <a:round/>
            </a:ln>
            <a:effectLst/>
          </c:spPr>
          <c:marker>
            <c:symbol val="circle"/>
            <c:size val="6"/>
            <c:spPr>
              <a:solidFill>
                <a:srgbClr val="008000"/>
              </a:solidFill>
              <a:ln w="9525" cap="flat">
                <a:solidFill>
                  <a:srgbClr val="0080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Sheet1!$F$2:$F$19</c:f>
              <c:numCache>
                <c:formatCode>General</c:formatCode>
                <c:ptCount val="18"/>
                <c:pt idx="0">
                  <c:v>690</c:v>
                </c:pt>
                <c:pt idx="1">
                  <c:v>1232</c:v>
                </c:pt>
                <c:pt idx="2">
                  <c:v>1400</c:v>
                </c:pt>
                <c:pt idx="3">
                  <c:v>1635</c:v>
                </c:pt>
                <c:pt idx="4">
                  <c:v>1045</c:v>
                </c:pt>
                <c:pt idx="5">
                  <c:v>1248</c:v>
                </c:pt>
                <c:pt idx="6">
                  <c:v>985</c:v>
                </c:pt>
                <c:pt idx="7">
                  <c:v>1373</c:v>
                </c:pt>
                <c:pt idx="8">
                  <c:v>1166</c:v>
                </c:pt>
                <c:pt idx="9">
                  <c:v>1698</c:v>
                </c:pt>
                <c:pt idx="10">
                  <c:v>1290</c:v>
                </c:pt>
                <c:pt idx="11">
                  <c:v>1769</c:v>
                </c:pt>
                <c:pt idx="12">
                  <c:v>1501</c:v>
                </c:pt>
                <c:pt idx="13">
                  <c:v>1944</c:v>
                </c:pt>
                <c:pt idx="14">
                  <c:v>5000</c:v>
                </c:pt>
                <c:pt idx="15">
                  <c:v>5000</c:v>
                </c:pt>
                <c:pt idx="16">
                  <c:v>5000</c:v>
                </c:pt>
                <c:pt idx="17">
                  <c:v>5000</c:v>
                </c:pt>
              </c:numCache>
            </c:numRef>
          </c:val>
          <c:smooth val="0"/>
          <c:extLst>
            <c:ext xmlns:c16="http://schemas.microsoft.com/office/drawing/2014/chart" uri="{C3380CC4-5D6E-409C-BE32-E72D297353CC}">
              <c16:uniqueId val="{00000004-0310-9B44-9F02-AE6681E1E48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numRef>
              <c:f>Sheet1!$A$2:$A$26</c:f>
              <c:numCache>
                <c:formatCode>General</c:formatCode>
                <c:ptCount val="25"/>
              </c:numCache>
            </c:num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Provisioned capacity (r6g.large)</c:v>
                </c:pt>
              </c:strCache>
            </c:strRef>
          </c:tx>
          <c:spPr>
            <a:ln w="25400">
              <a:solidFill>
                <a:schemeClr val="accent3"/>
              </a:solidFill>
            </a:ln>
          </c:spPr>
          <c:marker>
            <c:symbol val="none"/>
          </c:marker>
          <c:cat>
            <c:numRef>
              <c:f>Sheet1!$A$2:$A$26</c:f>
              <c:numCache>
                <c:formatCode>General</c:formatCode>
                <c:ptCount val="25"/>
              </c:numCache>
            </c:numRef>
          </c:cat>
          <c:val>
            <c:numRef>
              <c:f>Sheet1!$C$2:$C$26</c:f>
              <c:numCache>
                <c:formatCode>General</c:formatCode>
                <c:ptCount val="25"/>
                <c:pt idx="0">
                  <c:v>150000</c:v>
                </c:pt>
                <c:pt idx="1">
                  <c:v>150000</c:v>
                </c:pt>
                <c:pt idx="2">
                  <c:v>150000</c:v>
                </c:pt>
                <c:pt idx="3">
                  <c:v>150000</c:v>
                </c:pt>
                <c:pt idx="4">
                  <c:v>150000</c:v>
                </c:pt>
                <c:pt idx="5">
                  <c:v>150000</c:v>
                </c:pt>
                <c:pt idx="6">
                  <c:v>150000</c:v>
                </c:pt>
                <c:pt idx="7">
                  <c:v>150000</c:v>
                </c:pt>
                <c:pt idx="8">
                  <c:v>150000</c:v>
                </c:pt>
                <c:pt idx="9">
                  <c:v>150000</c:v>
                </c:pt>
                <c:pt idx="10">
                  <c:v>150000</c:v>
                </c:pt>
                <c:pt idx="11">
                  <c:v>150000</c:v>
                </c:pt>
                <c:pt idx="12">
                  <c:v>150000</c:v>
                </c:pt>
                <c:pt idx="13">
                  <c:v>150000</c:v>
                </c:pt>
                <c:pt idx="14">
                  <c:v>150000</c:v>
                </c:pt>
                <c:pt idx="15">
                  <c:v>150000</c:v>
                </c:pt>
                <c:pt idx="16">
                  <c:v>150000</c:v>
                </c:pt>
                <c:pt idx="17">
                  <c:v>150000</c:v>
                </c:pt>
                <c:pt idx="18">
                  <c:v>150000</c:v>
                </c:pt>
                <c:pt idx="19">
                  <c:v>150000</c:v>
                </c:pt>
                <c:pt idx="20">
                  <c:v>150000</c:v>
                </c:pt>
                <c:pt idx="21">
                  <c:v>150000</c:v>
                </c:pt>
                <c:pt idx="22">
                  <c:v>150000</c:v>
                </c:pt>
                <c:pt idx="23">
                  <c:v>150000</c:v>
                </c:pt>
                <c:pt idx="24">
                  <c:v>150000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strRef>
              <c:f>Sheet1!$A$2:$A$26</c:f>
              <c:strCache>
                <c:ptCount val="25"/>
              </c:strCache>
            </c:str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Provisioned capacity (r6g.xlarge)</c:v>
                </c:pt>
              </c:strCache>
            </c:strRef>
          </c:tx>
          <c:spPr>
            <a:ln w="25400">
              <a:solidFill>
                <a:schemeClr val="accent3"/>
              </a:solidFill>
            </a:ln>
          </c:spPr>
          <c:marker>
            <c:symbol val="none"/>
          </c:marker>
          <c:cat>
            <c:strRef>
              <c:f>Sheet1!$A$2:$A$26</c:f>
              <c:strCache>
                <c:ptCount val="25"/>
              </c:strCache>
            </c:strRef>
          </c:cat>
          <c:val>
            <c:numRef>
              <c:f>Sheet1!$C$2:$C$26</c:f>
              <c:numCache>
                <c:formatCode>General</c:formatCode>
                <c:ptCount val="25"/>
                <c:pt idx="0">
                  <c:v>300000</c:v>
                </c:pt>
                <c:pt idx="1">
                  <c:v>300000</c:v>
                </c:pt>
                <c:pt idx="2">
                  <c:v>300000</c:v>
                </c:pt>
                <c:pt idx="3">
                  <c:v>300000</c:v>
                </c:pt>
                <c:pt idx="4">
                  <c:v>300000</c:v>
                </c:pt>
                <c:pt idx="5">
                  <c:v>300000</c:v>
                </c:pt>
                <c:pt idx="6">
                  <c:v>300000</c:v>
                </c:pt>
                <c:pt idx="7">
                  <c:v>300000</c:v>
                </c:pt>
                <c:pt idx="8">
                  <c:v>300000</c:v>
                </c:pt>
                <c:pt idx="9">
                  <c:v>300000</c:v>
                </c:pt>
                <c:pt idx="10">
                  <c:v>300000</c:v>
                </c:pt>
                <c:pt idx="11">
                  <c:v>300000</c:v>
                </c:pt>
                <c:pt idx="12">
                  <c:v>300000</c:v>
                </c:pt>
                <c:pt idx="13">
                  <c:v>300000</c:v>
                </c:pt>
                <c:pt idx="14">
                  <c:v>300000</c:v>
                </c:pt>
                <c:pt idx="15">
                  <c:v>300000</c:v>
                </c:pt>
                <c:pt idx="16">
                  <c:v>300000</c:v>
                </c:pt>
                <c:pt idx="17">
                  <c:v>300000</c:v>
                </c:pt>
                <c:pt idx="18">
                  <c:v>300000</c:v>
                </c:pt>
                <c:pt idx="19">
                  <c:v>300000</c:v>
                </c:pt>
                <c:pt idx="20">
                  <c:v>300000</c:v>
                </c:pt>
                <c:pt idx="21">
                  <c:v>300000</c:v>
                </c:pt>
                <c:pt idx="22">
                  <c:v>300000</c:v>
                </c:pt>
                <c:pt idx="23">
                  <c:v>300000</c:v>
                </c:pt>
                <c:pt idx="24">
                  <c:v>300000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0000"/>
                </a:solidFill>
                <a:latin typeface="Arial"/>
              </a:defRPr>
            </a:pPr>
            <a:r>
              <a:rPr lang="en-US" sz="2000" b="0" i="0" u="none" strike="noStrike" dirty="0">
                <a:solidFill>
                  <a:srgbClr val="000000"/>
                </a:solidFill>
                <a:latin typeface="Arial"/>
              </a:rPr>
              <a:t>Single threaded Valkey</a:t>
            </a:r>
            <a:r>
              <a:rPr lang="en-US" sz="2000" b="0" i="0" u="none" strike="noStrike" baseline="0" dirty="0">
                <a:solidFill>
                  <a:srgbClr val="000000"/>
                </a:solidFill>
                <a:latin typeface="Arial"/>
              </a:rPr>
              <a:t> </a:t>
            </a:r>
            <a:r>
              <a:rPr lang="en-US" sz="2000" b="0" i="0" u="none" strike="noStrike" dirty="0">
                <a:solidFill>
                  <a:srgbClr val="000000"/>
                </a:solidFill>
                <a:latin typeface="Arial"/>
              </a:rPr>
              <a:t>latency</a:t>
            </a:r>
          </a:p>
        </c:rich>
      </c:tx>
      <c:overlay val="0"/>
    </c:title>
    <c:autoTitleDeleted val="0"/>
    <c:plotArea>
      <c:layout/>
      <c:lineChart>
        <c:grouping val="standard"/>
        <c:varyColors val="0"/>
        <c:ser>
          <c:idx val="0"/>
          <c:order val="0"/>
          <c:tx>
            <c:strRef>
              <c:f>Sheet1!$B$1</c:f>
              <c:strCache>
                <c:ptCount val="1"/>
                <c:pt idx="0">
                  <c:v>p50 (1 IO thread)</c:v>
                </c:pt>
              </c:strCache>
            </c:strRef>
          </c:tx>
          <c:spPr>
            <a:ln w="25400" cap="flat">
              <a:solidFill>
                <a:schemeClr val="accent6"/>
              </a:solidFill>
              <a:prstDash val="solid"/>
              <a:round/>
            </a:ln>
            <a:effectLst/>
          </c:spPr>
          <c:marker>
            <c:symbol val="circle"/>
            <c:size val="6"/>
            <c:spPr>
              <a:solidFill>
                <a:schemeClr val="accent6"/>
              </a:solidFill>
              <a:ln w="9525" cap="flat">
                <a:solidFill>
                  <a:srgbClr val="8B0000"/>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Sheet1!$B$2:$B$25</c:f>
              <c:numCache>
                <c:formatCode>General</c:formatCode>
                <c:ptCount val="24"/>
                <c:pt idx="0">
                  <c:v>145.4</c:v>
                </c:pt>
                <c:pt idx="1">
                  <c:v>425.6</c:v>
                </c:pt>
                <c:pt idx="2">
                  <c:v>697</c:v>
                </c:pt>
                <c:pt idx="3">
                  <c:v>5000</c:v>
                </c:pt>
                <c:pt idx="4">
                  <c:v>5000</c:v>
                </c:pt>
                <c:pt idx="5">
                  <c:v>5000</c:v>
                </c:pt>
                <c:pt idx="6">
                  <c:v>5000</c:v>
                </c:pt>
                <c:pt idx="7">
                  <c:v>5000</c:v>
                </c:pt>
                <c:pt idx="8">
                  <c:v>5000</c:v>
                </c:pt>
                <c:pt idx="9">
                  <c:v>5000</c:v>
                </c:pt>
                <c:pt idx="10">
                  <c:v>5000</c:v>
                </c:pt>
                <c:pt idx="11">
                  <c:v>5000</c:v>
                </c:pt>
                <c:pt idx="12">
                  <c:v>5000</c:v>
                </c:pt>
                <c:pt idx="13">
                  <c:v>5000</c:v>
                </c:pt>
                <c:pt idx="14">
                  <c:v>5000</c:v>
                </c:pt>
                <c:pt idx="15">
                  <c:v>5000</c:v>
                </c:pt>
                <c:pt idx="16">
                  <c:v>5000</c:v>
                </c:pt>
                <c:pt idx="17">
                  <c:v>5000</c:v>
                </c:pt>
                <c:pt idx="18">
                  <c:v>5000</c:v>
                </c:pt>
                <c:pt idx="19">
                  <c:v>5000</c:v>
                </c:pt>
                <c:pt idx="20">
                  <c:v>5000</c:v>
                </c:pt>
                <c:pt idx="21">
                  <c:v>5000</c:v>
                </c:pt>
                <c:pt idx="22">
                  <c:v>5000</c:v>
                </c:pt>
                <c:pt idx="23">
                  <c:v>5000</c:v>
                </c:pt>
              </c:numCache>
            </c:numRef>
          </c:val>
          <c:smooth val="0"/>
          <c:extLst>
            <c:ext xmlns:c16="http://schemas.microsoft.com/office/drawing/2014/chart" uri="{C3380CC4-5D6E-409C-BE32-E72D297353CC}">
              <c16:uniqueId val="{00000000-0310-9B44-9F02-AE6681E1E484}"/>
            </c:ext>
          </c:extLst>
        </c:ser>
        <c:ser>
          <c:idx val="1"/>
          <c:order val="1"/>
          <c:tx>
            <c:strRef>
              <c:f>Sheet1!$C$1</c:f>
              <c:strCache>
                <c:ptCount val="1"/>
                <c:pt idx="0">
                  <c:v>p99 (1 IO thread)</c:v>
                </c:pt>
              </c:strCache>
            </c:strRef>
          </c:tx>
          <c:spPr>
            <a:ln w="25400" cap="flat">
              <a:solidFill>
                <a:schemeClr val="accent5"/>
              </a:solidFill>
              <a:prstDash val="solid"/>
              <a:round/>
            </a:ln>
            <a:effectLst/>
          </c:spPr>
          <c:marker>
            <c:symbol val="circle"/>
            <c:size val="6"/>
            <c:spPr>
              <a:solidFill>
                <a:schemeClr val="accent5"/>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Sheet1!$C$2:$C$25</c:f>
              <c:numCache>
                <c:formatCode>General</c:formatCode>
                <c:ptCount val="24"/>
                <c:pt idx="0">
                  <c:v>650.20000000000005</c:v>
                </c:pt>
                <c:pt idx="1">
                  <c:v>858</c:v>
                </c:pt>
                <c:pt idx="2">
                  <c:v>1557</c:v>
                </c:pt>
                <c:pt idx="3">
                  <c:v>5000</c:v>
                </c:pt>
                <c:pt idx="4">
                  <c:v>5000</c:v>
                </c:pt>
                <c:pt idx="5">
                  <c:v>5000</c:v>
                </c:pt>
                <c:pt idx="6">
                  <c:v>5000</c:v>
                </c:pt>
                <c:pt idx="7">
                  <c:v>5000</c:v>
                </c:pt>
                <c:pt idx="8">
                  <c:v>5000</c:v>
                </c:pt>
                <c:pt idx="9">
                  <c:v>5000</c:v>
                </c:pt>
                <c:pt idx="10">
                  <c:v>5000</c:v>
                </c:pt>
                <c:pt idx="11">
                  <c:v>5000</c:v>
                </c:pt>
                <c:pt idx="12">
                  <c:v>5000</c:v>
                </c:pt>
                <c:pt idx="13">
                  <c:v>5000</c:v>
                </c:pt>
                <c:pt idx="14">
                  <c:v>5000</c:v>
                </c:pt>
                <c:pt idx="15">
                  <c:v>5000</c:v>
                </c:pt>
                <c:pt idx="16">
                  <c:v>5000</c:v>
                </c:pt>
                <c:pt idx="17">
                  <c:v>5000</c:v>
                </c:pt>
                <c:pt idx="18">
                  <c:v>5000</c:v>
                </c:pt>
                <c:pt idx="19">
                  <c:v>5000</c:v>
                </c:pt>
                <c:pt idx="20">
                  <c:v>5000</c:v>
                </c:pt>
                <c:pt idx="21">
                  <c:v>5000</c:v>
                </c:pt>
                <c:pt idx="22">
                  <c:v>5000</c:v>
                </c:pt>
                <c:pt idx="23">
                  <c:v>5000</c:v>
                </c:pt>
              </c:numCache>
            </c:numRef>
          </c:val>
          <c:smooth val="0"/>
          <c:extLst>
            <c:ext xmlns:c16="http://schemas.microsoft.com/office/drawing/2014/chart" uri="{C3380CC4-5D6E-409C-BE32-E72D297353CC}">
              <c16:uniqueId val="{00000001-0310-9B44-9F02-AE6681E1E484}"/>
            </c:ext>
          </c:extLst>
        </c:ser>
        <c:ser>
          <c:idx val="2"/>
          <c:order val="2"/>
          <c:tx>
            <c:strRef>
              <c:f>Sheet1!$D$1</c:f>
              <c:strCache>
                <c:ptCount val="1"/>
                <c:pt idx="0">
                  <c:v>p50 (8 IO threads)</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Sheet1!$D$2:$D$25</c:f>
              <c:numCache>
                <c:formatCode>General</c:formatCode>
                <c:ptCount val="24"/>
                <c:pt idx="0">
                  <c:v>133.4</c:v>
                </c:pt>
                <c:pt idx="1">
                  <c:v>181</c:v>
                </c:pt>
                <c:pt idx="2">
                  <c:v>202</c:v>
                </c:pt>
                <c:pt idx="3">
                  <c:v>245.3</c:v>
                </c:pt>
                <c:pt idx="4">
                  <c:v>280.7</c:v>
                </c:pt>
                <c:pt idx="5">
                  <c:v>313</c:v>
                </c:pt>
                <c:pt idx="6">
                  <c:v>339.7</c:v>
                </c:pt>
                <c:pt idx="7">
                  <c:v>374.3</c:v>
                </c:pt>
                <c:pt idx="8">
                  <c:v>414</c:v>
                </c:pt>
                <c:pt idx="9">
                  <c:v>451.7</c:v>
                </c:pt>
                <c:pt idx="10">
                  <c:v>480.7</c:v>
                </c:pt>
                <c:pt idx="11">
                  <c:v>512.6</c:v>
                </c:pt>
                <c:pt idx="12">
                  <c:v>543.9</c:v>
                </c:pt>
                <c:pt idx="13">
                  <c:v>578</c:v>
                </c:pt>
                <c:pt idx="14">
                  <c:v>616.79999999999995</c:v>
                </c:pt>
                <c:pt idx="15">
                  <c:v>646</c:v>
                </c:pt>
                <c:pt idx="16">
                  <c:v>681.5</c:v>
                </c:pt>
                <c:pt idx="17">
                  <c:v>716.9</c:v>
                </c:pt>
                <c:pt idx="18">
                  <c:v>750.7</c:v>
                </c:pt>
                <c:pt idx="19">
                  <c:v>775</c:v>
                </c:pt>
                <c:pt idx="20">
                  <c:v>811.9</c:v>
                </c:pt>
                <c:pt idx="21">
                  <c:v>853.3</c:v>
                </c:pt>
                <c:pt idx="22">
                  <c:v>5000</c:v>
                </c:pt>
                <c:pt idx="23">
                  <c:v>5000</c:v>
                </c:pt>
              </c:numCache>
            </c:numRef>
          </c:val>
          <c:smooth val="0"/>
          <c:extLst>
            <c:ext xmlns:c16="http://schemas.microsoft.com/office/drawing/2014/chart" uri="{C3380CC4-5D6E-409C-BE32-E72D297353CC}">
              <c16:uniqueId val="{00000001-0310-9B44-9F02-AE6681E1E484}"/>
            </c:ext>
          </c:extLst>
        </c:ser>
        <c:ser>
          <c:idx val="3"/>
          <c:order val="3"/>
          <c:tx>
            <c:strRef>
              <c:f>Sheet1!$E$1</c:f>
              <c:strCache>
                <c:ptCount val="1"/>
                <c:pt idx="0">
                  <c:v>p99 (8 IO threads)</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Sheet1!$E$2:$E$25</c:f>
              <c:numCache>
                <c:formatCode>General</c:formatCode>
                <c:ptCount val="24"/>
                <c:pt idx="0">
                  <c:v>589.70000000000005</c:v>
                </c:pt>
                <c:pt idx="1">
                  <c:v>511.7</c:v>
                </c:pt>
                <c:pt idx="2">
                  <c:v>542.79999999999995</c:v>
                </c:pt>
                <c:pt idx="3">
                  <c:v>852.5</c:v>
                </c:pt>
                <c:pt idx="4">
                  <c:v>604.20000000000005</c:v>
                </c:pt>
                <c:pt idx="5">
                  <c:v>844.9</c:v>
                </c:pt>
                <c:pt idx="6">
                  <c:v>960.8</c:v>
                </c:pt>
                <c:pt idx="7">
                  <c:v>1066.8</c:v>
                </c:pt>
                <c:pt idx="8">
                  <c:v>843.5</c:v>
                </c:pt>
                <c:pt idx="9">
                  <c:v>1232.4000000000001</c:v>
                </c:pt>
                <c:pt idx="10">
                  <c:v>1214.7</c:v>
                </c:pt>
                <c:pt idx="11">
                  <c:v>1556.6</c:v>
                </c:pt>
                <c:pt idx="12">
                  <c:v>973.1</c:v>
                </c:pt>
                <c:pt idx="13">
                  <c:v>1820.4</c:v>
                </c:pt>
                <c:pt idx="14">
                  <c:v>1205.4000000000001</c:v>
                </c:pt>
                <c:pt idx="15">
                  <c:v>1866.9</c:v>
                </c:pt>
                <c:pt idx="16">
                  <c:v>1650.1</c:v>
                </c:pt>
                <c:pt idx="17">
                  <c:v>2059.6</c:v>
                </c:pt>
                <c:pt idx="18">
                  <c:v>1445.9</c:v>
                </c:pt>
                <c:pt idx="19">
                  <c:v>1658.2</c:v>
                </c:pt>
                <c:pt idx="20">
                  <c:v>1450.9</c:v>
                </c:pt>
                <c:pt idx="21">
                  <c:v>2334.5</c:v>
                </c:pt>
                <c:pt idx="22">
                  <c:v>5000</c:v>
                </c:pt>
                <c:pt idx="23">
                  <c:v>5000</c:v>
                </c:pt>
              </c:numCache>
            </c:numRef>
          </c:val>
          <c:smooth val="0"/>
          <c:extLst>
            <c:ext xmlns:c16="http://schemas.microsoft.com/office/drawing/2014/chart" uri="{C3380CC4-5D6E-409C-BE32-E72D297353CC}">
              <c16:uniqueId val="{00000001-0310-9B44-9F02-AE6681E1E48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strRef>
              <c:f>Sheet1!$A$2:$A$26</c:f>
              <c:strCache>
                <c:ptCount val="25"/>
              </c:strCache>
            </c:str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Adapted capacity</c:v>
                </c:pt>
              </c:strCache>
            </c:strRef>
          </c:tx>
          <c:spPr>
            <a:ln w="25400">
              <a:solidFill>
                <a:schemeClr val="accent3"/>
              </a:solidFill>
            </a:ln>
          </c:spPr>
          <c:marker>
            <c:symbol val="none"/>
          </c:marker>
          <c:cat>
            <c:strRef>
              <c:f>Sheet1!$A$2:$A$26</c:f>
              <c:strCache>
                <c:ptCount val="25"/>
              </c:strCache>
            </c:strRef>
          </c:cat>
          <c:val>
            <c:numRef>
              <c:f>Sheet1!$C$2:$C$26</c:f>
              <c:numCache>
                <c:formatCode>General</c:formatCode>
                <c:ptCount val="25"/>
                <c:pt idx="0">
                  <c:v>150000</c:v>
                </c:pt>
                <c:pt idx="1">
                  <c:v>150000</c:v>
                </c:pt>
                <c:pt idx="2">
                  <c:v>150000</c:v>
                </c:pt>
                <c:pt idx="3">
                  <c:v>150000</c:v>
                </c:pt>
                <c:pt idx="4">
                  <c:v>150000</c:v>
                </c:pt>
                <c:pt idx="5">
                  <c:v>150000</c:v>
                </c:pt>
                <c:pt idx="6">
                  <c:v>150000</c:v>
                </c:pt>
                <c:pt idx="7">
                  <c:v>150000</c:v>
                </c:pt>
                <c:pt idx="8">
                  <c:v>150000</c:v>
                </c:pt>
                <c:pt idx="9">
                  <c:v>150000</c:v>
                </c:pt>
                <c:pt idx="10">
                  <c:v>150000</c:v>
                </c:pt>
                <c:pt idx="11">
                  <c:v>150000</c:v>
                </c:pt>
                <c:pt idx="12">
                  <c:v>300000</c:v>
                </c:pt>
                <c:pt idx="13">
                  <c:v>300000</c:v>
                </c:pt>
                <c:pt idx="14">
                  <c:v>150000</c:v>
                </c:pt>
                <c:pt idx="15">
                  <c:v>150000</c:v>
                </c:pt>
                <c:pt idx="16">
                  <c:v>150000</c:v>
                </c:pt>
                <c:pt idx="17">
                  <c:v>300000</c:v>
                </c:pt>
                <c:pt idx="18">
                  <c:v>300000</c:v>
                </c:pt>
                <c:pt idx="19">
                  <c:v>300000</c:v>
                </c:pt>
                <c:pt idx="20">
                  <c:v>300000</c:v>
                </c:pt>
                <c:pt idx="21">
                  <c:v>300000</c:v>
                </c:pt>
                <c:pt idx="22">
                  <c:v>150000</c:v>
                </c:pt>
                <c:pt idx="23">
                  <c:v>150000</c:v>
                </c:pt>
                <c:pt idx="24">
                  <c:v>150000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0A7F18-A111-AB6A-97B8-B13BD2198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E721FC1-A360-DBB8-0D4E-F8382AEAE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A8BFF4-3DC3-D34C-B801-A1856919C1BB}" type="datetimeFigureOut">
              <a:rPr lang="en-US" smtClean="0"/>
              <a:t>9/23/26</a:t>
            </a:fld>
            <a:endParaRPr lang="en-US"/>
          </a:p>
        </p:txBody>
      </p:sp>
      <p:sp>
        <p:nvSpPr>
          <p:cNvPr id="4" name="Footer Placeholder 3">
            <a:extLst>
              <a:ext uri="{FF2B5EF4-FFF2-40B4-BE49-F238E27FC236}">
                <a16:creationId xmlns:a16="http://schemas.microsoft.com/office/drawing/2014/main" id="{23CAE0C6-45D2-84B2-2F94-5D3078BB1B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B69EAEC-8756-8E23-D948-BCAD92B39E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A76D86-3DF6-9345-A4E1-DF218D7231BC}" type="slidenum">
              <a:rPr lang="en-US" smtClean="0"/>
              <a:t>‹#›</a:t>
            </a:fld>
            <a:endParaRPr lang="en-US"/>
          </a:p>
        </p:txBody>
      </p:sp>
    </p:spTree>
    <p:extLst>
      <p:ext uri="{BB962C8B-B14F-4D97-AF65-F5344CB8AC3E}">
        <p14:creationId xmlns:p14="http://schemas.microsoft.com/office/powerpoint/2010/main" val="1304316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228600" algn="l" rtl="0">
              <a:spcBef>
                <a:spcPts val="30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en-US"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pos="2160">
          <p15:clr>
            <a:srgbClr val="F26B43"/>
          </p15:clr>
        </p15:guide>
        <p15:guide id="2" orient="horz" pos="2880">
          <p15:clr>
            <a:srgbClr val="F26B43"/>
          </p15:clr>
        </p15:guide>
        <p15:guide id="3" pos="264">
          <p15:clr>
            <a:srgbClr val="F26B43"/>
          </p15:clr>
        </p15:guide>
        <p15:guide id="4" pos="4056">
          <p15:clr>
            <a:srgbClr val="F26B43"/>
          </p15:clr>
        </p15:guide>
        <p15:guide id="5" orient="horz" pos="288">
          <p15:clr>
            <a:srgbClr val="F26B43"/>
          </p15:clr>
        </p15:guide>
        <p15:guide id="6" orient="horz" pos="264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rtl="0"/>
            <a:r>
              <a:rPr lang="en-US" dirty="0" err="1"/>
              <a:t>Buenas</a:t>
            </a:r>
            <a:r>
              <a:rPr lang="en-US" dirty="0"/>
              <a:t> </a:t>
            </a:r>
            <a:r>
              <a:rPr lang="en-US" dirty="0" err="1"/>
              <a:t>tardes</a:t>
            </a:r>
            <a:r>
              <a:rPr lang="en-US" dirty="0"/>
              <a:t>. Me </a:t>
            </a:r>
            <a:r>
              <a:rPr lang="en-US" dirty="0" err="1"/>
              <a:t>llamo</a:t>
            </a:r>
            <a:r>
              <a:rPr lang="en-US" dirty="0"/>
              <a:t> Madelyn Olson. Soy de </a:t>
            </a:r>
            <a:r>
              <a:rPr lang="en-US" dirty="0" err="1"/>
              <a:t>los</a:t>
            </a:r>
            <a:r>
              <a:rPr lang="en-US" dirty="0"/>
              <a:t> </a:t>
            </a:r>
            <a:r>
              <a:rPr lang="en-US" dirty="0" err="1"/>
              <a:t>Estados</a:t>
            </a:r>
            <a:r>
              <a:rPr lang="en-US" dirty="0"/>
              <a:t> Unidos.</a:t>
            </a:r>
          </a:p>
          <a:p>
            <a:pPr rtl="0"/>
            <a:endParaRPr lang="en-US" dirty="0"/>
          </a:p>
          <a:p>
            <a:pPr rtl="0"/>
            <a:r>
              <a:rPr lang="en-US" dirty="0" err="1"/>
              <a:t>Estoy</a:t>
            </a:r>
            <a:r>
              <a:rPr lang="en-US" dirty="0"/>
              <a:t> </a:t>
            </a:r>
            <a:r>
              <a:rPr lang="en-US" dirty="0" err="1"/>
              <a:t>muy</a:t>
            </a:r>
            <a:r>
              <a:rPr lang="en-US" dirty="0"/>
              <a:t> </a:t>
            </a:r>
            <a:r>
              <a:rPr lang="en-US" dirty="0" err="1"/>
              <a:t>emocionada</a:t>
            </a:r>
            <a:r>
              <a:rPr lang="en-US" dirty="0"/>
              <a:t> de </a:t>
            </a:r>
            <a:r>
              <a:rPr lang="en-US" dirty="0" err="1"/>
              <a:t>estar</a:t>
            </a:r>
            <a:r>
              <a:rPr lang="en-US" dirty="0"/>
              <a:t> </a:t>
            </a:r>
            <a:r>
              <a:rPr lang="en-US" dirty="0" err="1"/>
              <a:t>acá</a:t>
            </a:r>
            <a:r>
              <a:rPr lang="en-US" dirty="0"/>
              <a:t> </a:t>
            </a:r>
            <a:r>
              <a:rPr lang="en-US" dirty="0" err="1"/>
              <a:t>en</a:t>
            </a:r>
            <a:r>
              <a:rPr lang="en-US" dirty="0"/>
              <a:t> </a:t>
            </a:r>
            <a:r>
              <a:rPr lang="en-US" dirty="0" err="1"/>
              <a:t>Nerdearla</a:t>
            </a:r>
            <a:r>
              <a:rPr lang="en-US" dirty="0"/>
              <a:t>. Me </a:t>
            </a:r>
            <a:r>
              <a:rPr lang="en-US" dirty="0" err="1"/>
              <a:t>gusta</a:t>
            </a:r>
            <a:r>
              <a:rPr lang="en-US" dirty="0"/>
              <a:t> </a:t>
            </a:r>
            <a:r>
              <a:rPr lang="en-US" dirty="0" err="1"/>
              <a:t>mucho</a:t>
            </a:r>
            <a:r>
              <a:rPr lang="en-US" dirty="0"/>
              <a:t> el trekking, la </a:t>
            </a:r>
            <a:r>
              <a:rPr lang="en-US" dirty="0" err="1"/>
              <a:t>montaña</a:t>
            </a:r>
            <a:r>
              <a:rPr lang="en-US" dirty="0"/>
              <a:t> y el </a:t>
            </a:r>
            <a:r>
              <a:rPr lang="en-US" dirty="0" err="1"/>
              <a:t>buen</a:t>
            </a:r>
            <a:r>
              <a:rPr lang="en-US" dirty="0"/>
              <a:t> vino. Argentina es perfecta para </a:t>
            </a:r>
            <a:r>
              <a:rPr lang="en-US" dirty="0" err="1"/>
              <a:t>mí</a:t>
            </a:r>
            <a:r>
              <a:rPr lang="en-US" dirty="0"/>
              <a:t>. Ya </a:t>
            </a:r>
            <a:r>
              <a:rPr lang="en-US" dirty="0" err="1"/>
              <a:t>probé</a:t>
            </a:r>
            <a:r>
              <a:rPr lang="en-US" dirty="0"/>
              <a:t> el Malbec. Es </a:t>
            </a:r>
            <a:r>
              <a:rPr lang="en-US" dirty="0" err="1"/>
              <a:t>muy</a:t>
            </a:r>
            <a:r>
              <a:rPr lang="en-US" dirty="0"/>
              <a:t>, </a:t>
            </a:r>
            <a:r>
              <a:rPr lang="en-US" dirty="0" err="1"/>
              <a:t>muy</a:t>
            </a:r>
            <a:r>
              <a:rPr lang="en-US" dirty="0"/>
              <a:t> bueno.</a:t>
            </a:r>
          </a:p>
          <a:p>
            <a:pPr rtl="0"/>
            <a:endParaRPr lang="en-US" dirty="0"/>
          </a:p>
          <a:p>
            <a:pPr rtl="0"/>
            <a:r>
              <a:rPr lang="en-US" dirty="0"/>
              <a:t>Y </a:t>
            </a:r>
            <a:r>
              <a:rPr lang="en-US" dirty="0" err="1"/>
              <a:t>estoy</a:t>
            </a:r>
            <a:r>
              <a:rPr lang="en-US" dirty="0"/>
              <a:t> </a:t>
            </a:r>
            <a:r>
              <a:rPr lang="en-US" dirty="0" err="1"/>
              <a:t>muy</a:t>
            </a:r>
            <a:r>
              <a:rPr lang="en-US" dirty="0"/>
              <a:t> </a:t>
            </a:r>
            <a:r>
              <a:rPr lang="en-US" dirty="0" err="1"/>
              <a:t>feliz</a:t>
            </a:r>
            <a:r>
              <a:rPr lang="en-US" dirty="0"/>
              <a:t> de </a:t>
            </a:r>
            <a:r>
              <a:rPr lang="en-US" dirty="0" err="1"/>
              <a:t>compartir</a:t>
            </a:r>
            <a:r>
              <a:rPr lang="en-US" dirty="0"/>
              <a:t> mi amor </a:t>
            </a:r>
            <a:r>
              <a:rPr lang="en-US" dirty="0" err="1"/>
              <a:t>por</a:t>
            </a:r>
            <a:r>
              <a:rPr lang="en-US" dirty="0"/>
              <a:t> el open source con </a:t>
            </a:r>
            <a:r>
              <a:rPr lang="en-US" dirty="0" err="1"/>
              <a:t>todos</a:t>
            </a:r>
            <a:r>
              <a:rPr lang="en-US" dirty="0"/>
              <a:t> </a:t>
            </a:r>
            <a:r>
              <a:rPr lang="en-US" dirty="0" err="1"/>
              <a:t>ustedes</a:t>
            </a:r>
            <a:r>
              <a:rPr lang="en-US" dirty="0"/>
              <a:t>.</a:t>
            </a:r>
          </a:p>
          <a:p>
            <a:pPr rtl="0"/>
            <a:endParaRPr lang="en-US" dirty="0"/>
          </a:p>
          <a:p>
            <a:pPr rtl="0"/>
            <a:r>
              <a:rPr lang="en-US" dirty="0"/>
              <a:t>Gracias </a:t>
            </a:r>
            <a:r>
              <a:rPr lang="en-US" dirty="0" err="1"/>
              <a:t>por</a:t>
            </a:r>
            <a:r>
              <a:rPr lang="en-US" dirty="0"/>
              <a:t> </a:t>
            </a:r>
            <a:r>
              <a:rPr lang="en-US" dirty="0" err="1"/>
              <a:t>dejarme</a:t>
            </a:r>
            <a:r>
              <a:rPr lang="en-US" dirty="0"/>
              <a:t> </a:t>
            </a:r>
            <a:r>
              <a:rPr lang="en-US" dirty="0" err="1"/>
              <a:t>practicar</a:t>
            </a:r>
            <a:r>
              <a:rPr lang="en-US" dirty="0"/>
              <a:t> mi </a:t>
            </a:r>
            <a:r>
              <a:rPr lang="en-US" dirty="0" err="1"/>
              <a:t>español</a:t>
            </a:r>
            <a:r>
              <a:rPr lang="en-US" dirty="0"/>
              <a:t> </a:t>
            </a:r>
            <a:r>
              <a:rPr lang="en-US" dirty="0" err="1"/>
              <a:t>oxidado</a:t>
            </a:r>
            <a:r>
              <a:rPr lang="en-US" dirty="0"/>
              <a:t>. </a:t>
            </a:r>
            <a:r>
              <a:rPr lang="en-US" dirty="0" err="1"/>
              <a:t>Ahora</a:t>
            </a:r>
            <a:r>
              <a:rPr lang="en-US" dirty="0"/>
              <a:t>, el resto de la </a:t>
            </a:r>
            <a:r>
              <a:rPr lang="en-US" dirty="0" err="1"/>
              <a:t>charla</a:t>
            </a:r>
            <a:r>
              <a:rPr lang="en-US" dirty="0"/>
              <a:t> </a:t>
            </a:r>
            <a:r>
              <a:rPr lang="en-US" dirty="0" err="1"/>
              <a:t>va</a:t>
            </a:r>
            <a:r>
              <a:rPr lang="en-US" dirty="0"/>
              <a:t> a ser </a:t>
            </a:r>
            <a:r>
              <a:rPr lang="en-US" dirty="0" err="1"/>
              <a:t>en</a:t>
            </a:r>
            <a:r>
              <a:rPr lang="en-US" dirty="0"/>
              <a:t> </a:t>
            </a:r>
            <a:r>
              <a:rPr lang="en-US" dirty="0" err="1"/>
              <a:t>inglés</a:t>
            </a:r>
            <a:r>
              <a:rPr lang="en-US" dirty="0"/>
              <a: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key points about Valkey:</a:t>
            </a:r>
          </a:p>
          <a:p>
            <a:r>
              <a:t>1. It's fully compatible with Redis OSS 7.2, and will always be.</a:t>
            </a:r>
          </a:p>
          <a:p>
            <a:r>
              <a:t>2. It's backed by the Linux Foundation, so it will remain open source and vendor neutral.</a:t>
            </a:r>
          </a:p>
          <a:p>
            <a:r>
              <a:t>3. It has a diverse backing. There are nine technical steering members, from eight companies.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shape that starts every one of these conversations. The average is fine. The customer is not.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Clients in the same availability zone as the server.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would like customers to be able to over provision their clusters. This is what it costs.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Single threaded vs multi-threaded phases. Only the leftmost band has to be serialised; the rest is I/O and kernel network stack, and that is what moved to the IO threads.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80160118-0A70-2C47-7ABD-FBB39A4C247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DA1A4B4-04C9-AA2B-8575-0AF68590521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B6744BB2-B2FB-BEF1-0B72-75CA0A94F600}"/>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36B5587A-54DB-00CE-0A5E-8507D48E07EA}"/>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108835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2758F277-927A-FA24-ADA1-4766194DCF73}"/>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58CB7F9D-EA0A-1B30-F268-2F57D282F448}"/>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73F6524C-05C8-0E14-15AB-2AB3259109A1}"/>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r>
              <a:t>Single threaded vs multi-threaded phases.</a:t>
            </a:r>
          </a:p>
        </p:txBody>
      </p:sp>
      <p:sp>
        <p:nvSpPr>
          <p:cNvPr id="202" name="Google Shape;202;p8:notes">
            <a:extLst>
              <a:ext uri="{FF2B5EF4-FFF2-40B4-BE49-F238E27FC236}">
                <a16:creationId xmlns:a16="http://schemas.microsoft.com/office/drawing/2014/main" id="{E1CAD7CC-9B2C-616D-A0C2-82E0F9E7AF8A}"/>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241748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BFD08710-BC6B-41E0-4C14-6254BAEC51CB}"/>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B1C3E751-5001-8847-C2EE-A5E681BC7836}"/>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8DDF92D9-D903-7506-AA23-FA6B39CFEACD}"/>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0C53FEE9-E3AA-508E-DBAD-BF253DFB7B6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885180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DD03F631-7D28-743C-4ADE-AAF4FC855DEA}"/>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CF7FA64-3A93-6DB4-F1E4-B9212C7E410F}"/>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E01F56B-AE66-F47B-87CE-D1367272CB02}"/>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ED1BCEE1-C6DF-4554-C791-6FB7AFD5981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8427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A4216FB7-875C-3F63-04CF-BBCB09868AAD}"/>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8FDF47E-EF61-7C2C-C63A-15FD7646EF0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5319500B-C667-3ED3-EDB4-5F83930CDCBC}"/>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85174A9B-68CF-C83C-CCCA-A7B135BD04E5}"/>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940568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FD00975E-DD8F-D1C5-F15C-5C158326C66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57F2D8DB-4061-54DE-7575-F60975DC27E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7A92471-0AC9-E5D8-77BF-0B61BF39E2FE}"/>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2FF90F21-6F62-71A5-AC25-0FA8C8F48C43}"/>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37759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4E63DEC-0428-0339-3EAD-C7295DDA0B35}"/>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6D01B60-C5C2-322E-FA61-76A8D2470B9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6A03A65D-8097-C646-04D8-B6BC0DDA7271}"/>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endParaRPr/>
          </a:p>
        </p:txBody>
      </p:sp>
      <p:sp>
        <p:nvSpPr>
          <p:cNvPr id="202" name="Google Shape;202;p8:notes">
            <a:extLst>
              <a:ext uri="{FF2B5EF4-FFF2-40B4-BE49-F238E27FC236}">
                <a16:creationId xmlns:a16="http://schemas.microsoft.com/office/drawing/2014/main" id="{B016E868-6069-3322-5C43-BA1404C26FC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962773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16384 slots, fixed. The mapping from key to slot never changes; only the mapping from slot to shard does. That is what every migration slide after this is about.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Alpha. Breaking API changes and data loss are both called out in the project's own release notes, so do not oversell it. The point is that the slot migration primitives from the last section are something a controller drives for you, not a runbook you follow.</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Point people at the site first; it links everything else, including GitHub Discussions, Matrix and the issue tracker. Slack is where contributors actually talk. ValkeyConf is the only item with a date.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Valkey Title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marL="0" indent="0" algn="l">
              <a:buNone/>
              <a:defRPr sz="3200" b="1" i="0">
                <a:solidFill>
                  <a:schemeClr val="dk1"/>
                </a:solidFill>
                <a:latin typeface="Arial"/>
              </a:defRPr>
            </a:lvl1pPr>
          </a:lstStyle>
          <a:p>
            <a:r>
              <a:rPr lang="en-US" dirty="0"/>
              <a:t>Title is an assertion, not a label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alkey Title Band">
    <p:spTree>
      <p:nvGrpSpPr>
        <p:cNvPr id="1" name=""/>
        <p:cNvGrpSpPr/>
        <p:nvPr/>
      </p:nvGrpSpPr>
      <p:grpSpPr>
        <a:xfrm>
          <a:off x="0" y="0"/>
          <a:ext cx="0" cy="0"/>
          <a:chOff x="0" y="0"/>
          <a:chExt cx="0" cy="0"/>
        </a:xfrm>
      </p:grpSpPr>
      <p:pic>
        <p:nvPicPr>
          <p:cNvPr id="2" name="Picture 1" descr="band-clustering.jpg"/>
          <p:cNvPicPr>
            <a:picLocks noChangeAspect="1"/>
          </p:cNvPicPr>
          <p:nvPr/>
        </p:nvPicPr>
        <p:blipFill>
          <a:blip r:embed="rId2"/>
          <a:stretch>
            <a:fillRect/>
          </a:stretch>
        </p:blipFill>
        <p:spPr>
          <a:xfrm>
            <a:off x="8077200" y="0"/>
            <a:ext cx="4114800" cy="6858000"/>
          </a:xfrm>
          <a:prstGeom prst="rect">
            <a:avLst/>
          </a:prstGeom>
        </p:spPr>
      </p:pic>
      <p:pic>
        <p:nvPicPr>
          <p:cNvPr id="3" name="valkey-stacked-whit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4673" y="2628900"/>
            <a:ext cx="1859853" cy="1600200"/>
          </a:xfrm>
          <a:prstGeom prst="rect">
            <a:avLst/>
          </a:prstGeom>
        </p:spPr>
      </p:pic>
      <p:sp>
        <p:nvSpPr>
          <p:cNvPr id="4" name="Title"/>
          <p:cNvSpPr>
            <a:spLocks noGrp="1"/>
          </p:cNvSpPr>
          <p:nvPr>
            <p:ph type="ctrTitle" hasCustomPrompt="1"/>
          </p:nvPr>
        </p:nvSpPr>
        <p:spPr>
          <a:xfrm>
            <a:off x="609600" y="2200000"/>
            <a:ext cx="6781800" cy="1117600"/>
          </a:xfrm>
          <a:prstGeom prst="rect">
            <a:avLst/>
          </a:prstGeom>
        </p:spPr>
        <p:txBody>
          <a:bodyPr wrap="square" lIns="0" tIns="0" rIns="0" bIns="0" anchor="t">
            <a:normAutofit/>
          </a:bodyPr>
          <a:lstStyle>
            <a:lvl1pPr marL="0" indent="0" algn="l">
              <a:lnSpc>
                <a:spcPct val="110000"/>
              </a:lnSpc>
              <a:buNone/>
              <a:defRPr sz="4000" b="1" i="0">
                <a:solidFill>
                  <a:schemeClr val="dk1"/>
                </a:solidFill>
                <a:latin typeface="Arial"/>
              </a:defRPr>
            </a:lvl1pPr>
          </a:lstStyle>
          <a:p>
            <a:r>
              <a:rPr lang="en-US" dirty="0"/>
              <a:t>Presentation title goes here</a:t>
            </a:r>
          </a:p>
        </p:txBody>
      </p:sp>
      <p:sp>
        <p:nvSpPr>
          <p:cNvPr id="5" name="Subtitle"/>
          <p:cNvSpPr>
            <a:spLocks noGrp="1"/>
          </p:cNvSpPr>
          <p:nvPr>
            <p:ph type="subTitle" idx="1" hasCustomPrompt="1"/>
          </p:nvPr>
        </p:nvSpPr>
        <p:spPr>
          <a:xfrm>
            <a:off x="609600" y="3447600"/>
            <a:ext cx="6781800" cy="400000"/>
          </a:xfrm>
          <a:prstGeom prst="rect">
            <a:avLst/>
          </a:prstGeom>
        </p:spPr>
        <p:txBody>
          <a:bodyPr wrap="square" lIns="0" tIns="0" rIns="0" bIns="0" anchor="t">
            <a:normAutofit/>
          </a:bodyPr>
          <a:lstStyle>
            <a:lvl1pPr marL="0" indent="0" algn="l">
              <a:buNone/>
              <a:defRPr sz="1800" b="0" i="0">
                <a:solidFill>
                  <a:schemeClr val="dk2"/>
                </a:solidFill>
                <a:latin typeface="Arial"/>
              </a:defRPr>
            </a:lvl1pPr>
          </a:lstStyle>
          <a:p>
            <a:r>
              <a:rPr lang="en-US" dirty="0"/>
              <a:t>A single line that sets up the talk</a:t>
            </a:r>
          </a:p>
        </p:txBody>
      </p:sp>
      <p:sp>
        <p:nvSpPr>
          <p:cNvPr id="6" name="Speaker"/>
          <p:cNvSpPr>
            <a:spLocks noGrp="1"/>
          </p:cNvSpPr>
          <p:nvPr>
            <p:ph type="body" idx="2" hasCustomPrompt="1"/>
          </p:nvPr>
        </p:nvSpPr>
        <p:spPr>
          <a:xfrm>
            <a:off x="609600" y="4017600"/>
            <a:ext cx="4000000" cy="300000"/>
          </a:xfrm>
          <a:prstGeom prst="rect">
            <a:avLst/>
          </a:prstGeom>
        </p:spPr>
        <p:txBody>
          <a:bodyPr wrap="square" lIns="0" tIns="0" rIns="0" bIns="0" anchor="t">
            <a:normAutofit/>
          </a:bodyPr>
          <a:lstStyle>
            <a:lvl1pPr marL="0" indent="0" algn="l">
              <a:buNone/>
              <a:defRPr sz="1600" b="1" i="0">
                <a:solidFill>
                  <a:schemeClr val="dk1"/>
                </a:solidFill>
                <a:latin typeface="Arial"/>
              </a:defRPr>
            </a:lvl1pPr>
          </a:lstStyle>
          <a:p>
            <a:r>
              <a:rPr lang="en-US" dirty="0"/>
              <a:t>Madelyn Olson</a:t>
            </a:r>
          </a:p>
        </p:txBody>
      </p:sp>
      <p:sp>
        <p:nvSpPr>
          <p:cNvPr id="7" name="Speaker role"/>
          <p:cNvSpPr>
            <a:spLocks noGrp="1"/>
          </p:cNvSpPr>
          <p:nvPr>
            <p:ph type="body" idx="3" hasCustomPrompt="1"/>
          </p:nvPr>
        </p:nvSpPr>
        <p:spPr>
          <a:xfrm>
            <a:off x="609600" y="4347600"/>
            <a:ext cx="4000000" cy="300000"/>
          </a:xfrm>
          <a:prstGeom prst="rect">
            <a:avLst/>
          </a:prstGeom>
        </p:spPr>
        <p:txBody>
          <a:bodyPr wrap="square" lIns="0" tIns="0" rIns="0" bIns="0" anchor="t">
            <a:normAutofit/>
          </a:bodyPr>
          <a:lstStyle>
            <a:lvl1pPr marL="0" indent="0" algn="l">
              <a:buNone/>
              <a:defRPr sz="1300" b="0" i="0">
                <a:solidFill>
                  <a:schemeClr val="dk2"/>
                </a:solidFill>
                <a:latin typeface="Arial"/>
              </a:defRPr>
            </a:lvl1pPr>
          </a:lstStyle>
          <a:p>
            <a:r>
              <a:rPr lang="en-US" dirty="0"/>
              <a:t>Valkey Maintainer and Engineer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alkey Title Top Banner">
    <p:spTree>
      <p:nvGrpSpPr>
        <p:cNvPr id="1" name=""/>
        <p:cNvGrpSpPr/>
        <p:nvPr/>
      </p:nvGrpSpPr>
      <p:grpSpPr>
        <a:xfrm>
          <a:off x="0" y="0"/>
          <a:ext cx="0" cy="0"/>
          <a:chOff x="0" y="0"/>
          <a:chExt cx="0" cy="0"/>
        </a:xfrm>
      </p:grpSpPr>
      <p:sp>
        <p:nvSpPr>
          <p:cNvPr id="2" name="Rectangle 1"/>
          <p:cNvSpPr/>
          <p:nvPr/>
        </p:nvSpPr>
        <p:spPr>
          <a:xfrm>
            <a:off x="0" y="0"/>
            <a:ext cx="12192000" cy="18288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1828800"/>
            <a:ext cx="12192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valkey-horizontal-whi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17792" y="548640"/>
            <a:ext cx="2164608" cy="731520"/>
          </a:xfrm>
          <a:prstGeom prst="rect">
            <a:avLst/>
          </a:prstGeom>
        </p:spPr>
      </p:pic>
      <p:sp>
        <p:nvSpPr>
          <p:cNvPr id="5" name="Title"/>
          <p:cNvSpPr>
            <a:spLocks noGrp="1"/>
          </p:cNvSpPr>
          <p:nvPr>
            <p:ph type="ctrTitle" hasCustomPrompt="1"/>
          </p:nvPr>
        </p:nvSpPr>
        <p:spPr>
          <a:xfrm>
            <a:off x="609600" y="2700000"/>
            <a:ext cx="9800000" cy="1600000"/>
          </a:xfrm>
          <a:prstGeom prst="rect">
            <a:avLst/>
          </a:prstGeom>
        </p:spPr>
        <p:txBody>
          <a:bodyPr wrap="square" lIns="0" tIns="0" rIns="0" bIns="0" anchor="t">
            <a:normAutofit/>
          </a:bodyPr>
          <a:lstStyle>
            <a:lvl1pPr marL="0" indent="0" algn="l">
              <a:lnSpc>
                <a:spcPct val="110000"/>
              </a:lnSpc>
              <a:buNone/>
              <a:defRPr sz="4400" b="1" i="0">
                <a:solidFill>
                  <a:schemeClr val="dk1"/>
                </a:solidFill>
                <a:latin typeface="Arial"/>
              </a:defRPr>
            </a:lvl1pPr>
          </a:lstStyle>
          <a:p>
            <a:r>
              <a:rPr lang="en-US" dirty="0"/>
              <a:t>Presentation title goes here</a:t>
            </a:r>
          </a:p>
        </p:txBody>
      </p:sp>
      <p:sp>
        <p:nvSpPr>
          <p:cNvPr id="6" name="Subtitle"/>
          <p:cNvSpPr>
            <a:spLocks noGrp="1"/>
          </p:cNvSpPr>
          <p:nvPr>
            <p:ph type="subTitle" idx="1" hasCustomPrompt="1"/>
          </p:nvPr>
        </p:nvSpPr>
        <p:spPr>
          <a:xfrm>
            <a:off x="609600" y="3700000"/>
            <a:ext cx="9800000" cy="400000"/>
          </a:xfrm>
          <a:prstGeom prst="rect">
            <a:avLst/>
          </a:prstGeom>
        </p:spPr>
        <p:txBody>
          <a:bodyPr wrap="square" lIns="0" tIns="0" rIns="0" bIns="0" anchor="t">
            <a:normAutofit/>
          </a:bodyPr>
          <a:lstStyle>
            <a:lvl1pPr marL="0" indent="0" algn="l">
              <a:buNone/>
              <a:defRPr sz="1800" b="0" i="0">
                <a:solidFill>
                  <a:schemeClr val="dk2"/>
                </a:solidFill>
                <a:latin typeface="Arial"/>
              </a:defRPr>
            </a:lvl1pPr>
          </a:lstStyle>
          <a:p>
            <a:r>
              <a:rPr lang="en-US" dirty="0"/>
              <a:t>A single line that sets up the talk</a:t>
            </a:r>
          </a:p>
        </p:txBody>
      </p:sp>
      <p:sp>
        <p:nvSpPr>
          <p:cNvPr id="7" name="Speaker"/>
          <p:cNvSpPr>
            <a:spLocks noGrp="1"/>
          </p:cNvSpPr>
          <p:nvPr>
            <p:ph type="body" idx="2" hasCustomPrompt="1"/>
          </p:nvPr>
        </p:nvSpPr>
        <p:spPr>
          <a:xfrm>
            <a:off x="609600" y="4600000"/>
            <a:ext cx="5000000" cy="300000"/>
          </a:xfrm>
          <a:prstGeom prst="rect">
            <a:avLst/>
          </a:prstGeom>
        </p:spPr>
        <p:txBody>
          <a:bodyPr wrap="square" lIns="0" tIns="0" rIns="0" bIns="0" anchor="t">
            <a:normAutofit/>
          </a:bodyPr>
          <a:lstStyle>
            <a:lvl1pPr marL="0" indent="0" algn="l">
              <a:buNone/>
              <a:defRPr sz="1600" b="1" i="0">
                <a:solidFill>
                  <a:schemeClr val="dk1"/>
                </a:solidFill>
                <a:latin typeface="Arial"/>
              </a:defRPr>
            </a:lvl1pPr>
          </a:lstStyle>
          <a:p>
            <a:r>
              <a:rPr lang="en-US" dirty="0"/>
              <a:t>Madelyn Olson</a:t>
            </a:r>
          </a:p>
        </p:txBody>
      </p:sp>
      <p:sp>
        <p:nvSpPr>
          <p:cNvPr id="8" name="Speaker role"/>
          <p:cNvSpPr>
            <a:spLocks noGrp="1"/>
          </p:cNvSpPr>
          <p:nvPr>
            <p:ph type="body" idx="3" hasCustomPrompt="1"/>
          </p:nvPr>
        </p:nvSpPr>
        <p:spPr>
          <a:xfrm>
            <a:off x="609600" y="4930000"/>
            <a:ext cx="5000000" cy="300000"/>
          </a:xfrm>
          <a:prstGeom prst="rect">
            <a:avLst/>
          </a:prstGeom>
        </p:spPr>
        <p:txBody>
          <a:bodyPr wrap="square" lIns="0" tIns="0" rIns="0" bIns="0" anchor="t">
            <a:normAutofit/>
          </a:bodyPr>
          <a:lstStyle>
            <a:lvl1pPr marL="0" indent="0" algn="l">
              <a:buNone/>
              <a:defRPr sz="1300" b="0" i="0">
                <a:solidFill>
                  <a:schemeClr val="dk2"/>
                </a:solidFill>
                <a:latin typeface="Arial"/>
              </a:defRPr>
            </a:lvl1pPr>
          </a:lstStyle>
          <a:p>
            <a:r>
              <a:rPr lang="en-US" dirty="0"/>
              <a:t>Valkey Maintainer and Engineer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alkey Title Bottom Banner">
    <p:spTree>
      <p:nvGrpSpPr>
        <p:cNvPr id="1" name=""/>
        <p:cNvGrpSpPr/>
        <p:nvPr/>
      </p:nvGrpSpPr>
      <p:grpSpPr>
        <a:xfrm>
          <a:off x="0" y="0"/>
          <a:ext cx="0" cy="0"/>
          <a:chOff x="0" y="0"/>
          <a:chExt cx="0" cy="0"/>
        </a:xfrm>
      </p:grpSpPr>
      <p:sp>
        <p:nvSpPr>
          <p:cNvPr id="2" name="Rectangle 1"/>
          <p:cNvSpPr/>
          <p:nvPr/>
        </p:nvSpPr>
        <p:spPr>
          <a:xfrm>
            <a:off x="0" y="5669280"/>
            <a:ext cx="12192000" cy="1188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valkey-horizontal-colo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07832" y="1100000"/>
            <a:ext cx="2976336" cy="1005840"/>
          </a:xfrm>
          <a:prstGeom prst="rect">
            <a:avLst/>
          </a:prstGeom>
        </p:spPr>
      </p:pic>
      <p:sp>
        <p:nvSpPr>
          <p:cNvPr id="4" name="Rectangle 3"/>
          <p:cNvSpPr/>
          <p:nvPr/>
        </p:nvSpPr>
        <p:spPr>
          <a:xfrm>
            <a:off x="5638800" y="3560000"/>
            <a:ext cx="914400" cy="45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itle"/>
          <p:cNvSpPr>
            <a:spLocks noGrp="1"/>
          </p:cNvSpPr>
          <p:nvPr>
            <p:ph type="ctrTitle" hasCustomPrompt="1"/>
          </p:nvPr>
        </p:nvSpPr>
        <p:spPr>
          <a:xfrm>
            <a:off x="609600" y="2600000"/>
            <a:ext cx="11062800" cy="1300000"/>
          </a:xfrm>
          <a:prstGeom prst="rect">
            <a:avLst/>
          </a:prstGeom>
        </p:spPr>
        <p:txBody>
          <a:bodyPr wrap="square" lIns="0" tIns="0" rIns="0" bIns="0" anchor="t">
            <a:normAutofit/>
          </a:bodyPr>
          <a:lstStyle>
            <a:lvl1pPr marL="0" indent="0" algn="ctr">
              <a:lnSpc>
                <a:spcPct val="110000"/>
              </a:lnSpc>
              <a:buNone/>
              <a:defRPr sz="4000" b="1" i="0">
                <a:solidFill>
                  <a:schemeClr val="dk1"/>
                </a:solidFill>
                <a:latin typeface="Arial"/>
              </a:defRPr>
            </a:lvl1pPr>
          </a:lstStyle>
          <a:p>
            <a:r>
              <a:rPr lang="en-US" dirty="0"/>
              <a:t>Presentation title goes here</a:t>
            </a:r>
          </a:p>
        </p:txBody>
      </p:sp>
      <p:sp>
        <p:nvSpPr>
          <p:cNvPr id="6" name="Subtitle"/>
          <p:cNvSpPr>
            <a:spLocks noGrp="1"/>
          </p:cNvSpPr>
          <p:nvPr>
            <p:ph type="subTitle" idx="1" hasCustomPrompt="1"/>
          </p:nvPr>
        </p:nvSpPr>
        <p:spPr>
          <a:xfrm>
            <a:off x="609600" y="3900000"/>
            <a:ext cx="11062800" cy="400000"/>
          </a:xfrm>
          <a:prstGeom prst="rect">
            <a:avLst/>
          </a:prstGeom>
        </p:spPr>
        <p:txBody>
          <a:bodyPr wrap="square" lIns="0" tIns="0" rIns="0" bIns="0" anchor="t">
            <a:normAutofit/>
          </a:bodyPr>
          <a:lstStyle>
            <a:lvl1pPr marL="0" indent="0" algn="ctr">
              <a:buNone/>
              <a:defRPr sz="1800" b="0" i="0">
                <a:solidFill>
                  <a:schemeClr val="dk2"/>
                </a:solidFill>
                <a:latin typeface="Arial"/>
              </a:defRPr>
            </a:lvl1pPr>
          </a:lstStyle>
          <a:p>
            <a:r>
              <a:rPr lang="en-US" dirty="0"/>
              <a:t>A single line that sets up the talk</a:t>
            </a:r>
          </a:p>
        </p:txBody>
      </p:sp>
      <p:sp>
        <p:nvSpPr>
          <p:cNvPr id="7" name="Speaker"/>
          <p:cNvSpPr>
            <a:spLocks noGrp="1"/>
          </p:cNvSpPr>
          <p:nvPr>
            <p:ph type="body" idx="2" hasCustomPrompt="1"/>
          </p:nvPr>
        </p:nvSpPr>
        <p:spPr>
          <a:xfrm>
            <a:off x="609600" y="6069280"/>
            <a:ext cx="11062800" cy="400000"/>
          </a:xfrm>
          <a:prstGeom prst="rect">
            <a:avLst/>
          </a:prstGeom>
        </p:spPr>
        <p:txBody>
          <a:bodyPr wrap="square" lIns="0" tIns="0" rIns="0" bIns="0" anchor="t">
            <a:normAutofit/>
          </a:bodyPr>
          <a:lstStyle>
            <a:lvl1pPr marL="0" indent="0" algn="ctr">
              <a:buNone/>
              <a:defRPr sz="1800" b="1" i="0">
                <a:solidFill>
                  <a:schemeClr val="lt1"/>
                </a:solidFill>
                <a:latin typeface="Arial"/>
              </a:defRPr>
            </a:lvl1pPr>
          </a:lstStyle>
          <a:p>
            <a:r>
              <a:rPr lang="en-US" dirty="0"/>
              <a:t>Madelyn Olson</a:t>
            </a:r>
          </a:p>
        </p:txBody>
      </p:sp>
      <p:sp>
        <p:nvSpPr>
          <p:cNvPr id="8" name="Speaker role"/>
          <p:cNvSpPr>
            <a:spLocks noGrp="1"/>
          </p:cNvSpPr>
          <p:nvPr>
            <p:ph type="body" idx="3" hasCustomPrompt="1"/>
          </p:nvPr>
        </p:nvSpPr>
        <p:spPr>
          <a:xfrm>
            <a:off x="609600" y="6449280"/>
            <a:ext cx="11062800" cy="300000"/>
          </a:xfrm>
          <a:prstGeom prst="rect">
            <a:avLst/>
          </a:prstGeom>
        </p:spPr>
        <p:txBody>
          <a:bodyPr wrap="square" lIns="0" tIns="0" rIns="0" bIns="0" anchor="t">
            <a:normAutofit/>
          </a:bodyPr>
          <a:lstStyle>
            <a:lvl1pPr marL="0" indent="0" algn="ctr">
              <a:buNone/>
              <a:defRPr sz="1400" b="0" i="0">
                <a:solidFill>
                  <a:schemeClr val="lt1"/>
                </a:solidFill>
                <a:latin typeface="Arial"/>
              </a:defRPr>
            </a:lvl1pPr>
          </a:lstStyle>
          <a:p>
            <a:r>
              <a:rPr lang="en-US" dirty="0"/>
              <a:t>Valkey Maintainer and Engineer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alkey Insight">
    <p:spTree>
      <p:nvGrpSpPr>
        <p:cNvPr id="1" name=""/>
        <p:cNvGrpSpPr/>
        <p:nvPr/>
      </p:nvGrpSpPr>
      <p:grpSpPr>
        <a:xfrm>
          <a:off x="0" y="0"/>
          <a:ext cx="0" cy="0"/>
          <a:chOff x="0" y="0"/>
          <a:chExt cx="0" cy="0"/>
        </a:xfrm>
      </p:grpSpPr>
      <p:sp>
        <p:nvSpPr>
          <p:cNvPr id="2" name="Rectangle 1"/>
          <p:cNvSpPr/>
          <p:nvPr/>
        </p:nvSpPr>
        <p:spPr>
          <a:xfrm>
            <a:off x="609600" y="22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tatement"/>
          <p:cNvSpPr>
            <a:spLocks noGrp="1"/>
          </p:cNvSpPr>
          <p:nvPr>
            <p:ph type="body" idx="1" hasCustomPrompt="1"/>
          </p:nvPr>
        </p:nvSpPr>
        <p:spPr>
          <a:xfrm>
            <a:off x="609600" y="2500000"/>
            <a:ext cx="9144000" cy="1800000"/>
          </a:xfrm>
          <a:prstGeom prst="rect">
            <a:avLst/>
          </a:prstGeom>
        </p:spPr>
        <p:txBody>
          <a:bodyPr wrap="square" lIns="0" tIns="0" rIns="0" bIns="0" anchor="t">
            <a:normAutofit/>
          </a:bodyPr>
          <a:lstStyle>
            <a:lvl1pPr marL="0" indent="0" algn="l">
              <a:lnSpc>
                <a:spcPct val="114999"/>
              </a:lnSpc>
              <a:buNone/>
              <a:defRPr sz="4000" b="1" i="0">
                <a:solidFill>
                  <a:schemeClr val="dk1"/>
                </a:solidFill>
                <a:latin typeface="Arial"/>
              </a:defRPr>
            </a:lvl1pPr>
          </a:lstStyle>
          <a:p>
            <a:r>
              <a:rPr lang="en-US" dirty="0"/>
              <a:t>Steady state is a lie. The peak is the only number that matters.</a:t>
            </a:r>
          </a:p>
        </p:txBody>
      </p:sp>
      <p:sp>
        <p:nvSpPr>
          <p:cNvPr id="4" name="Caption"/>
          <p:cNvSpPr>
            <a:spLocks noGrp="1"/>
          </p:cNvSpPr>
          <p:nvPr>
            <p:ph type="body" idx="2" hasCustomPrompt="1"/>
          </p:nvPr>
        </p:nvSpPr>
        <p:spPr>
          <a:xfrm>
            <a:off x="609600" y="4400000"/>
            <a:ext cx="9144000" cy="400000"/>
          </a:xfrm>
          <a:prstGeom prst="rect">
            <a:avLst/>
          </a:prstGeom>
        </p:spPr>
        <p:txBody>
          <a:bodyPr wrap="square" lIns="0" tIns="0" rIns="0" bIns="0" anchor="t">
            <a:normAutofit/>
          </a:bodyPr>
          <a:lstStyle>
            <a:lvl1pPr marL="0" indent="0" algn="l">
              <a:buNone/>
              <a:defRPr sz="1600" b="0" i="0">
                <a:solidFill>
                  <a:schemeClr val="dk2"/>
                </a:solidFill>
                <a:latin typeface="Arial"/>
              </a:defRPr>
            </a:lvl1pPr>
          </a:lstStyle>
          <a:p>
            <a:r>
              <a:rPr lang="en-US" dirty="0"/>
              <a:t>Optional caption. Delete it if the line stands alone.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alkey Insight Bo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valkey-horizontal-whi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2716" y="5943597"/>
            <a:ext cx="1311447" cy="443198"/>
          </a:xfrm>
          <a:prstGeom prst="rect">
            <a:avLst/>
          </a:prstGeom>
        </p:spPr>
      </p:pic>
      <p:sp>
        <p:nvSpPr>
          <p:cNvPr id="4" name="Statement"/>
          <p:cNvSpPr>
            <a:spLocks noGrp="1"/>
          </p:cNvSpPr>
          <p:nvPr>
            <p:ph type="body" idx="1" hasCustomPrompt="1"/>
          </p:nvPr>
        </p:nvSpPr>
        <p:spPr>
          <a:xfrm>
            <a:off x="609600" y="2600000"/>
            <a:ext cx="11062800" cy="1800000"/>
          </a:xfrm>
          <a:prstGeom prst="rect">
            <a:avLst/>
          </a:prstGeom>
        </p:spPr>
        <p:txBody>
          <a:bodyPr wrap="square" lIns="0" tIns="0" rIns="0" bIns="0" anchor="t">
            <a:normAutofit/>
          </a:bodyPr>
          <a:lstStyle>
            <a:lvl1pPr marL="0" indent="0" algn="ctr">
              <a:lnSpc>
                <a:spcPct val="114999"/>
              </a:lnSpc>
              <a:buNone/>
              <a:defRPr sz="4000" b="1" i="0">
                <a:solidFill>
                  <a:schemeClr val="lt1"/>
                </a:solidFill>
                <a:latin typeface="Arial"/>
              </a:defRPr>
            </a:lvl1pPr>
          </a:lstStyle>
          <a:p>
            <a:r>
              <a:rPr lang="en-US" dirty="0"/>
              <a:t>You cannot provision your way out of a workload that moves.</a:t>
            </a:r>
          </a:p>
        </p:txBody>
      </p:sp>
      <p:sp>
        <p:nvSpPr>
          <p:cNvPr id="5" name="Caption"/>
          <p:cNvSpPr>
            <a:spLocks noGrp="1"/>
          </p:cNvSpPr>
          <p:nvPr>
            <p:ph type="body" idx="2" hasCustomPrompt="1"/>
          </p:nvPr>
        </p:nvSpPr>
        <p:spPr>
          <a:xfrm>
            <a:off x="609600" y="4500000"/>
            <a:ext cx="11062800" cy="400000"/>
          </a:xfrm>
          <a:prstGeom prst="rect">
            <a:avLst/>
          </a:prstGeom>
        </p:spPr>
        <p:txBody>
          <a:bodyPr wrap="square" lIns="0" tIns="0" rIns="0" bIns="0" anchor="t">
            <a:normAutofit/>
          </a:bodyPr>
          <a:lstStyle>
            <a:lvl1pPr marL="0" indent="0" algn="ctr">
              <a:buNone/>
              <a:defRPr sz="1600" b="0" i="0">
                <a:solidFill>
                  <a:schemeClr val="lt1"/>
                </a:solidFill>
                <a:latin typeface="Arial"/>
              </a:defRPr>
            </a:lvl1pPr>
          </a:lstStyle>
          <a:p>
            <a:r>
              <a:rPr lang="en-US" dirty="0"/>
              <a:t>Optional caption.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alkey Big Number">
    <p:spTree>
      <p:nvGrpSpPr>
        <p:cNvPr id="1" name=""/>
        <p:cNvGrpSpPr/>
        <p:nvPr/>
      </p:nvGrpSpPr>
      <p:grpSpPr>
        <a:xfrm>
          <a:off x="0" y="0"/>
          <a:ext cx="0" cy="0"/>
          <a:chOff x="0" y="0"/>
          <a:chExt cx="0" cy="0"/>
        </a:xfrm>
      </p:grpSpPr>
      <p:sp>
        <p:nvSpPr>
          <p:cNvPr id="2" name="Number"/>
          <p:cNvSpPr>
            <a:spLocks noGrp="1"/>
          </p:cNvSpPr>
          <p:nvPr>
            <p:ph type="body" idx="1" hasCustomPrompt="1"/>
          </p:nvPr>
        </p:nvSpPr>
        <p:spPr>
          <a:xfrm>
            <a:off x="609600" y="1800000"/>
            <a:ext cx="11062800" cy="2100000"/>
          </a:xfrm>
          <a:prstGeom prst="rect">
            <a:avLst/>
          </a:prstGeom>
        </p:spPr>
        <p:txBody>
          <a:bodyPr wrap="square" lIns="0" tIns="0" rIns="0" bIns="0" anchor="t">
            <a:normAutofit/>
          </a:bodyPr>
          <a:lstStyle>
            <a:lvl1pPr marL="0" indent="0" algn="ctr">
              <a:lnSpc>
                <a:spcPct val="100000"/>
              </a:lnSpc>
              <a:buNone/>
              <a:defRPr sz="13000" b="1" i="0">
                <a:solidFill>
                  <a:schemeClr val="accent1"/>
                </a:solidFill>
                <a:latin typeface="Arial"/>
              </a:defRPr>
            </a:lvl1pPr>
          </a:lstStyle>
          <a:p>
            <a:r>
              <a:rPr lang="en-US" dirty="0"/>
              <a:t>3x</a:t>
            </a:r>
          </a:p>
        </p:txBody>
      </p:sp>
      <p:sp>
        <p:nvSpPr>
          <p:cNvPr id="3" name="Label"/>
          <p:cNvSpPr>
            <a:spLocks noGrp="1"/>
          </p:cNvSpPr>
          <p:nvPr>
            <p:ph type="body" idx="2" hasCustomPrompt="1"/>
          </p:nvPr>
        </p:nvSpPr>
        <p:spPr>
          <a:xfrm>
            <a:off x="609600" y="3950000"/>
            <a:ext cx="11062800" cy="500000"/>
          </a:xfrm>
          <a:prstGeom prst="rect">
            <a:avLst/>
          </a:prstGeom>
        </p:spPr>
        <p:txBody>
          <a:bodyPr wrap="square" lIns="0" tIns="0" rIns="0" bIns="0" anchor="t">
            <a:normAutofit/>
          </a:bodyPr>
          <a:lstStyle>
            <a:lvl1pPr marL="0" indent="0" algn="ctr">
              <a:buNone/>
              <a:defRPr sz="2800" b="1" i="0">
                <a:solidFill>
                  <a:schemeClr val="dk1"/>
                </a:solidFill>
                <a:latin typeface="Arial"/>
              </a:defRPr>
            </a:lvl1pPr>
          </a:lstStyle>
          <a:p>
            <a:r>
              <a:rPr lang="en-US" dirty="0"/>
              <a:t>throughput on the same hardware</a:t>
            </a:r>
          </a:p>
        </p:txBody>
      </p:sp>
      <p:sp>
        <p:nvSpPr>
          <p:cNvPr id="4" name="Source"/>
          <p:cNvSpPr>
            <a:spLocks noGrp="1"/>
          </p:cNvSpPr>
          <p:nvPr>
            <p:ph type="body" idx="3" hasCustomPrompt="1"/>
          </p:nvPr>
        </p:nvSpPr>
        <p:spPr>
          <a:xfrm>
            <a:off x="609600" y="4560000"/>
            <a:ext cx="11062800" cy="400000"/>
          </a:xfrm>
          <a:prstGeom prst="rect">
            <a:avLst/>
          </a:prstGeom>
        </p:spPr>
        <p:txBody>
          <a:bodyPr wrap="square" lIns="0" tIns="0" rIns="0" bIns="0" anchor="t">
            <a:normAutofit/>
          </a:bodyPr>
          <a:lstStyle>
            <a:lvl1pPr marL="0" indent="0" algn="ctr">
              <a:buNone/>
              <a:defRPr sz="1600" b="0" i="0">
                <a:solidFill>
                  <a:schemeClr val="dk2"/>
                </a:solidFill>
                <a:latin typeface="Arial"/>
              </a:defRPr>
            </a:lvl1pPr>
          </a:lstStyle>
          <a:p>
            <a:r>
              <a:rPr lang="en-US" dirty="0"/>
              <a:t>Source: valkey.io/blog/...</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alkey List Rows">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marL="0" indent="0" algn="l">
              <a:buNone/>
              <a:defRPr sz="3200" b="1" i="0">
                <a:solidFill>
                  <a:schemeClr val="dk1"/>
                </a:solidFill>
                <a:latin typeface="Arial"/>
              </a:defRPr>
            </a:lvl1pPr>
          </a:lstStyle>
          <a:p>
            <a:r>
              <a:rPr lang="en-US" dirty="0"/>
              <a:t>Title is an assertion, not a label</a:t>
            </a:r>
          </a:p>
        </p:txBody>
      </p:sp>
      <p:sp>
        <p:nvSpPr>
          <p:cNvPr id="3" name="Row 1"/>
          <p:cNvSpPr>
            <a:spLocks noGrp="1"/>
          </p:cNvSpPr>
          <p:nvPr>
            <p:ph type="body" idx="1" hasCustomPrompt="1"/>
          </p:nvPr>
        </p:nvSpPr>
        <p:spPr>
          <a:xfrm>
            <a:off x="682752" y="1445931"/>
            <a:ext cx="1098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4" name="Row 2"/>
          <p:cNvSpPr>
            <a:spLocks noGrp="1"/>
          </p:cNvSpPr>
          <p:nvPr>
            <p:ph type="body" idx="2" hasCustomPrompt="1"/>
          </p:nvPr>
        </p:nvSpPr>
        <p:spPr>
          <a:xfrm>
            <a:off x="682752" y="2095931"/>
            <a:ext cx="1098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5" name="Row 3"/>
          <p:cNvSpPr>
            <a:spLocks noGrp="1"/>
          </p:cNvSpPr>
          <p:nvPr>
            <p:ph type="body" idx="3" hasCustomPrompt="1"/>
          </p:nvPr>
        </p:nvSpPr>
        <p:spPr>
          <a:xfrm>
            <a:off x="682752" y="2745931"/>
            <a:ext cx="1098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6" name="Row 4"/>
          <p:cNvSpPr>
            <a:spLocks noGrp="1"/>
          </p:cNvSpPr>
          <p:nvPr>
            <p:ph type="body" idx="4" hasCustomPrompt="1"/>
          </p:nvPr>
        </p:nvSpPr>
        <p:spPr>
          <a:xfrm>
            <a:off x="682752" y="3395931"/>
            <a:ext cx="1098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7" name="Row 5"/>
          <p:cNvSpPr>
            <a:spLocks noGrp="1"/>
          </p:cNvSpPr>
          <p:nvPr>
            <p:ph type="body" idx="5" hasCustomPrompt="1"/>
          </p:nvPr>
        </p:nvSpPr>
        <p:spPr>
          <a:xfrm>
            <a:off x="682752" y="4045931"/>
            <a:ext cx="1098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alkey List Rows with Imag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marL="0" indent="0" algn="l">
              <a:buNone/>
              <a:defRPr sz="3200" b="1" i="0">
                <a:solidFill>
                  <a:schemeClr val="dk1"/>
                </a:solidFill>
                <a:latin typeface="Arial"/>
              </a:defRPr>
            </a:lvl1pPr>
          </a:lstStyle>
          <a:p>
            <a:r>
              <a:rPr lang="en-US" dirty="0"/>
              <a:t>Title is an assertion, not a label</a:t>
            </a:r>
          </a:p>
        </p:txBody>
      </p:sp>
      <p:sp>
        <p:nvSpPr>
          <p:cNvPr id="3" name="Row 1"/>
          <p:cNvSpPr>
            <a:spLocks noGrp="1"/>
          </p:cNvSpPr>
          <p:nvPr>
            <p:ph type="body" idx="1" hasCustomPrompt="1"/>
          </p:nvPr>
        </p:nvSpPr>
        <p:spPr>
          <a:xfrm>
            <a:off x="682752" y="1445931"/>
            <a:ext cx="727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4" name="Row 2"/>
          <p:cNvSpPr>
            <a:spLocks noGrp="1"/>
          </p:cNvSpPr>
          <p:nvPr>
            <p:ph type="body" idx="2" hasCustomPrompt="1"/>
          </p:nvPr>
        </p:nvSpPr>
        <p:spPr>
          <a:xfrm>
            <a:off x="682752" y="2095931"/>
            <a:ext cx="727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5" name="Row 3"/>
          <p:cNvSpPr>
            <a:spLocks noGrp="1"/>
          </p:cNvSpPr>
          <p:nvPr>
            <p:ph type="body" idx="3" hasCustomPrompt="1"/>
          </p:nvPr>
        </p:nvSpPr>
        <p:spPr>
          <a:xfrm>
            <a:off x="682752" y="2745931"/>
            <a:ext cx="727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6" name="Row 4"/>
          <p:cNvSpPr>
            <a:spLocks noGrp="1"/>
          </p:cNvSpPr>
          <p:nvPr>
            <p:ph type="body" idx="4" hasCustomPrompt="1"/>
          </p:nvPr>
        </p:nvSpPr>
        <p:spPr>
          <a:xfrm>
            <a:off x="682752" y="3395931"/>
            <a:ext cx="727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7" name="Row 5"/>
          <p:cNvSpPr>
            <a:spLocks noGrp="1"/>
          </p:cNvSpPr>
          <p:nvPr>
            <p:ph type="body" idx="5" hasCustomPrompt="1"/>
          </p:nvPr>
        </p:nvSpPr>
        <p:spPr>
          <a:xfrm>
            <a:off x="682752" y="4045931"/>
            <a:ext cx="7279648" cy="520000"/>
          </a:xfrm>
          <a:prstGeom prst="rect">
            <a:avLst/>
          </a:prstGeom>
          <a:solidFill>
            <a:schemeClr val="lt2"/>
          </a:solidFill>
        </p:spPr>
        <p:txBody>
          <a:bodyPr wrap="square" lIns="182880" tIns="0" rIns="182880" bIns="0" anchor="ctr">
            <a:normAutofit/>
          </a:bodyPr>
          <a:lstStyle>
            <a:lvl1pPr marL="0" indent="0" algn="l">
              <a:buNone/>
              <a:defRPr sz="1800" b="0" i="0">
                <a:solidFill>
                  <a:schemeClr val="dk1"/>
                </a:solidFill>
                <a:latin typeface="Arial"/>
              </a:defRPr>
            </a:lvl1pPr>
          </a:lstStyle>
          <a:p>
            <a:r>
              <a:rPr lang="en-US" dirty="0"/>
              <a:t>One idea, one line</a:t>
            </a:r>
          </a:p>
        </p:txBody>
      </p:sp>
      <p:sp>
        <p:nvSpPr>
          <p:cNvPr id="8" name="Image"/>
          <p:cNvSpPr>
            <a:spLocks noGrp="1"/>
          </p:cNvSpPr>
          <p:nvPr>
            <p:ph type="pic" idx="6" hasCustomPrompt="1"/>
          </p:nvPr>
        </p:nvSpPr>
        <p:spPr>
          <a:xfrm>
            <a:off x="8462400" y="1445931"/>
            <a:ext cx="3120000" cy="3120000"/>
          </a:xfrm>
          <a:prstGeom prst="rect">
            <a:avLst/>
          </a:prstGeom>
        </p:spPr>
        <p:txBody>
          <a:bodyPr wrap="square" lIns="0" tIns="0" rIns="0" bIns="0" anchor="ctr">
            <a:normAutofit/>
          </a:bodyPr>
          <a:lstStyle>
            <a:lvl1pPr marL="0" indent="0" algn="ctr">
              <a:buNone/>
              <a:defRPr sz="1400" b="0" i="0">
                <a:solidFill>
                  <a:schemeClr val="dk2"/>
                </a:solidFill>
                <a:latin typeface="Arial"/>
              </a:defRPr>
            </a:lvl1pPr>
          </a:lstStyle>
          <a:p>
            <a:r>
              <a:rPr lang="en-US" dirty="0"/>
              <a:t>Square image: QR, logo, screenshot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Valkey Two Box">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marL="0" indent="0" algn="l">
              <a:buNone/>
              <a:defRPr sz="3200" b="1" i="0">
                <a:solidFill>
                  <a:schemeClr val="dk1"/>
                </a:solidFill>
                <a:latin typeface="Arial"/>
              </a:defRPr>
            </a:lvl1pPr>
          </a:lstStyle>
          <a:p>
            <a:r>
              <a:rPr lang="en-US" dirty="0"/>
              <a:t>Title is an assertion, not a label</a:t>
            </a:r>
          </a:p>
        </p:txBody>
      </p:sp>
      <p:sp>
        <p:nvSpPr>
          <p:cNvPr id="3" name="Rectangle 2"/>
          <p:cNvSpPr/>
          <p:nvPr/>
        </p:nvSpPr>
        <p:spPr>
          <a:xfrm>
            <a:off x="609600" y="1445931"/>
            <a:ext cx="5431400" cy="39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vertical-scali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628811"/>
            <a:ext cx="1097280" cy="1097280"/>
          </a:xfrm>
          <a:prstGeom prst="rect">
            <a:avLst/>
          </a:prstGeom>
        </p:spPr>
      </p:pic>
      <p:sp>
        <p:nvSpPr>
          <p:cNvPr id="5" name="Heading 1"/>
          <p:cNvSpPr>
            <a:spLocks noGrp="1"/>
          </p:cNvSpPr>
          <p:nvPr>
            <p:ph type="body" idx="1" hasCustomPrompt="1"/>
          </p:nvPr>
        </p:nvSpPr>
        <p:spPr>
          <a:xfrm>
            <a:off x="792480" y="2863251"/>
            <a:ext cx="5065640" cy="400110"/>
          </a:xfrm>
          <a:prstGeom prst="rect">
            <a:avLst/>
          </a:prstGeom>
        </p:spPr>
        <p:txBody>
          <a:bodyPr wrap="square" lIns="0" tIns="0" rIns="0" bIns="0" anchor="t">
            <a:normAutofit/>
          </a:bodyPr>
          <a:lstStyle>
            <a:lvl1pPr marL="0" indent="0" algn="l">
              <a:buNone/>
              <a:defRPr sz="1800" b="1" i="0">
                <a:solidFill>
                  <a:schemeClr val="accent2"/>
                </a:solidFill>
                <a:latin typeface="Arial"/>
              </a:defRPr>
            </a:lvl1pPr>
          </a:lstStyle>
          <a:p>
            <a:r>
              <a:rPr lang="en-US" dirty="0"/>
              <a:t>Heading one</a:t>
            </a:r>
          </a:p>
        </p:txBody>
      </p:sp>
      <p:sp>
        <p:nvSpPr>
          <p:cNvPr id="6" name="Body 1"/>
          <p:cNvSpPr>
            <a:spLocks noGrp="1"/>
          </p:cNvSpPr>
          <p:nvPr>
            <p:ph type="body" idx="2" hasCustomPrompt="1"/>
          </p:nvPr>
        </p:nvSpPr>
        <p:spPr>
          <a:xfrm>
            <a:off x="792480" y="3309081"/>
            <a:ext cx="5065640" cy="1853970"/>
          </a:xfrm>
          <a:prstGeom prst="rect">
            <a:avLst/>
          </a:prstGeom>
        </p:spPr>
        <p:txBody>
          <a:bodyPr wrap="square" lIns="0" tIns="0" rIns="0" bIns="0" anchor="t">
            <a:normAutofit/>
          </a:bodyPr>
          <a:lstStyle>
            <a:lvl1pPr marL="0" indent="0" algn="l">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7" name="Rectangle 6"/>
          <p:cNvSpPr/>
          <p:nvPr/>
        </p:nvSpPr>
        <p:spPr>
          <a:xfrm>
            <a:off x="6241000" y="1445931"/>
            <a:ext cx="5431400" cy="39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horizontal-scal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628811"/>
            <a:ext cx="1097280" cy="1097280"/>
          </a:xfrm>
          <a:prstGeom prst="rect">
            <a:avLst/>
          </a:prstGeom>
        </p:spPr>
      </p:pic>
      <p:sp>
        <p:nvSpPr>
          <p:cNvPr id="9" name="Heading 2"/>
          <p:cNvSpPr>
            <a:spLocks noGrp="1"/>
          </p:cNvSpPr>
          <p:nvPr>
            <p:ph type="body" idx="3" hasCustomPrompt="1"/>
          </p:nvPr>
        </p:nvSpPr>
        <p:spPr>
          <a:xfrm>
            <a:off x="6423880" y="2863251"/>
            <a:ext cx="5065640" cy="400110"/>
          </a:xfrm>
          <a:prstGeom prst="rect">
            <a:avLst/>
          </a:prstGeom>
        </p:spPr>
        <p:txBody>
          <a:bodyPr wrap="square" lIns="0" tIns="0" rIns="0" bIns="0" anchor="t">
            <a:normAutofit/>
          </a:bodyPr>
          <a:lstStyle>
            <a:lvl1pPr marL="0" indent="0" algn="l">
              <a:buNone/>
              <a:defRPr sz="1800" b="1" i="0">
                <a:solidFill>
                  <a:schemeClr val="accent2"/>
                </a:solidFill>
                <a:latin typeface="Arial"/>
              </a:defRPr>
            </a:lvl1pPr>
          </a:lstStyle>
          <a:p>
            <a:r>
              <a:rPr lang="en-US" dirty="0"/>
              <a:t>Heading two</a:t>
            </a:r>
          </a:p>
        </p:txBody>
      </p:sp>
      <p:sp>
        <p:nvSpPr>
          <p:cNvPr id="10" name="Body 2"/>
          <p:cNvSpPr>
            <a:spLocks noGrp="1"/>
          </p:cNvSpPr>
          <p:nvPr>
            <p:ph type="body" idx="4" hasCustomPrompt="1"/>
          </p:nvPr>
        </p:nvSpPr>
        <p:spPr>
          <a:xfrm>
            <a:off x="6423880" y="3309081"/>
            <a:ext cx="5065640" cy="1853970"/>
          </a:xfrm>
          <a:prstGeom prst="rect">
            <a:avLst/>
          </a:prstGeom>
        </p:spPr>
        <p:txBody>
          <a:bodyPr wrap="square" lIns="0" tIns="0" rIns="0" bIns="0" anchor="t">
            <a:normAutofit/>
          </a:bodyPr>
          <a:lstStyle>
            <a:lvl1pPr marL="0" indent="0" algn="l">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alkey Three Box">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marL="0" indent="0" algn="l">
              <a:buNone/>
              <a:defRPr sz="3200" b="1" i="0">
                <a:solidFill>
                  <a:schemeClr val="dk1"/>
                </a:solidFill>
                <a:latin typeface="Arial"/>
              </a:defRPr>
            </a:lvl1pPr>
          </a:lstStyle>
          <a:p>
            <a:r>
              <a:rPr lang="en-US" dirty="0"/>
              <a:t>Title is an assertion, not a label</a:t>
            </a:r>
          </a:p>
        </p:txBody>
      </p:sp>
      <p:sp>
        <p:nvSpPr>
          <p:cNvPr id="3" name="Rectangle 2"/>
          <p:cNvSpPr/>
          <p:nvPr/>
        </p:nvSpPr>
        <p:spPr>
          <a:xfrm>
            <a:off x="609600"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erformanc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628811"/>
            <a:ext cx="1097280" cy="1097280"/>
          </a:xfrm>
          <a:prstGeom prst="rect">
            <a:avLst/>
          </a:prstGeom>
        </p:spPr>
      </p:pic>
      <p:sp>
        <p:nvSpPr>
          <p:cNvPr id="5" name="Heading 1"/>
          <p:cNvSpPr>
            <a:spLocks noGrp="1"/>
          </p:cNvSpPr>
          <p:nvPr>
            <p:ph type="body" idx="1" hasCustomPrompt="1"/>
          </p:nvPr>
        </p:nvSpPr>
        <p:spPr>
          <a:xfrm>
            <a:off x="792480" y="2863251"/>
            <a:ext cx="3188506" cy="400110"/>
          </a:xfrm>
          <a:prstGeom prst="rect">
            <a:avLst/>
          </a:prstGeom>
        </p:spPr>
        <p:txBody>
          <a:bodyPr wrap="square" lIns="0" tIns="0" rIns="0" bIns="0" anchor="t">
            <a:normAutofit/>
          </a:bodyPr>
          <a:lstStyle>
            <a:lvl1pPr marL="0" indent="0" algn="l">
              <a:buNone/>
              <a:defRPr sz="1800" b="1" i="0">
                <a:solidFill>
                  <a:schemeClr val="accent2"/>
                </a:solidFill>
                <a:latin typeface="Arial"/>
              </a:defRPr>
            </a:lvl1pPr>
          </a:lstStyle>
          <a:p>
            <a:r>
              <a:rPr lang="en-US" dirty="0"/>
              <a:t>Heading one</a:t>
            </a:r>
          </a:p>
        </p:txBody>
      </p:sp>
      <p:sp>
        <p:nvSpPr>
          <p:cNvPr id="6" name="Body 1"/>
          <p:cNvSpPr>
            <a:spLocks noGrp="1"/>
          </p:cNvSpPr>
          <p:nvPr>
            <p:ph type="body" idx="2" hasCustomPrompt="1"/>
          </p:nvPr>
        </p:nvSpPr>
        <p:spPr>
          <a:xfrm>
            <a:off x="792480" y="3309081"/>
            <a:ext cx="3188506" cy="1853970"/>
          </a:xfrm>
          <a:prstGeom prst="rect">
            <a:avLst/>
          </a:prstGeom>
        </p:spPr>
        <p:txBody>
          <a:bodyPr wrap="square" lIns="0" tIns="0" rIns="0" bIns="0" anchor="t">
            <a:normAutofit/>
          </a:bodyPr>
          <a:lstStyle>
            <a:lvl1pPr marL="0" indent="0" algn="l">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7" name="Rectangle 6"/>
          <p:cNvSpPr/>
          <p:nvPr/>
        </p:nvSpPr>
        <p:spPr>
          <a:xfrm>
            <a:off x="4363866"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secur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46746" y="1628811"/>
            <a:ext cx="1097280" cy="1097280"/>
          </a:xfrm>
          <a:prstGeom prst="rect">
            <a:avLst/>
          </a:prstGeom>
        </p:spPr>
      </p:pic>
      <p:sp>
        <p:nvSpPr>
          <p:cNvPr id="9" name="Heading 2"/>
          <p:cNvSpPr>
            <a:spLocks noGrp="1"/>
          </p:cNvSpPr>
          <p:nvPr>
            <p:ph type="body" idx="3" hasCustomPrompt="1"/>
          </p:nvPr>
        </p:nvSpPr>
        <p:spPr>
          <a:xfrm>
            <a:off x="4546746" y="2863251"/>
            <a:ext cx="3188506" cy="400110"/>
          </a:xfrm>
          <a:prstGeom prst="rect">
            <a:avLst/>
          </a:prstGeom>
        </p:spPr>
        <p:txBody>
          <a:bodyPr wrap="square" lIns="0" tIns="0" rIns="0" bIns="0" anchor="t">
            <a:normAutofit/>
          </a:bodyPr>
          <a:lstStyle>
            <a:lvl1pPr marL="0" indent="0" algn="l">
              <a:buNone/>
              <a:defRPr sz="1800" b="1" i="0">
                <a:solidFill>
                  <a:schemeClr val="accent2"/>
                </a:solidFill>
                <a:latin typeface="Arial"/>
              </a:defRPr>
            </a:lvl1pPr>
          </a:lstStyle>
          <a:p>
            <a:r>
              <a:rPr lang="en-US" dirty="0"/>
              <a:t>Heading two</a:t>
            </a:r>
          </a:p>
        </p:txBody>
      </p:sp>
      <p:sp>
        <p:nvSpPr>
          <p:cNvPr id="10" name="Body 2"/>
          <p:cNvSpPr>
            <a:spLocks noGrp="1"/>
          </p:cNvSpPr>
          <p:nvPr>
            <p:ph type="body" idx="4" hasCustomPrompt="1"/>
          </p:nvPr>
        </p:nvSpPr>
        <p:spPr>
          <a:xfrm>
            <a:off x="4546746" y="3309081"/>
            <a:ext cx="3188506" cy="1853970"/>
          </a:xfrm>
          <a:prstGeom prst="rect">
            <a:avLst/>
          </a:prstGeom>
        </p:spPr>
        <p:txBody>
          <a:bodyPr wrap="square" lIns="0" tIns="0" rIns="0" bIns="0" anchor="t">
            <a:normAutofit/>
          </a:bodyPr>
          <a:lstStyle>
            <a:lvl1pPr marL="0" indent="0" algn="l">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11" name="Rectangle 10"/>
          <p:cNvSpPr/>
          <p:nvPr/>
        </p:nvSpPr>
        <p:spPr>
          <a:xfrm>
            <a:off x="8118132"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reliability"/>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01012" y="1628811"/>
            <a:ext cx="1097280" cy="1097280"/>
          </a:xfrm>
          <a:prstGeom prst="rect">
            <a:avLst/>
          </a:prstGeom>
        </p:spPr>
      </p:pic>
      <p:sp>
        <p:nvSpPr>
          <p:cNvPr id="13" name="Heading 3"/>
          <p:cNvSpPr>
            <a:spLocks noGrp="1"/>
          </p:cNvSpPr>
          <p:nvPr>
            <p:ph type="body" idx="5" hasCustomPrompt="1"/>
          </p:nvPr>
        </p:nvSpPr>
        <p:spPr>
          <a:xfrm>
            <a:off x="8301012" y="2863251"/>
            <a:ext cx="3188506" cy="400110"/>
          </a:xfrm>
          <a:prstGeom prst="rect">
            <a:avLst/>
          </a:prstGeom>
        </p:spPr>
        <p:txBody>
          <a:bodyPr wrap="square" lIns="0" tIns="0" rIns="0" bIns="0" anchor="t">
            <a:normAutofit/>
          </a:bodyPr>
          <a:lstStyle>
            <a:lvl1pPr marL="0" indent="0" algn="l">
              <a:buNone/>
              <a:defRPr sz="1800" b="1" i="0">
                <a:solidFill>
                  <a:schemeClr val="accent2"/>
                </a:solidFill>
                <a:latin typeface="Arial"/>
              </a:defRPr>
            </a:lvl1pPr>
          </a:lstStyle>
          <a:p>
            <a:r>
              <a:rPr lang="en-US" dirty="0"/>
              <a:t>Heading three</a:t>
            </a:r>
          </a:p>
        </p:txBody>
      </p:sp>
      <p:sp>
        <p:nvSpPr>
          <p:cNvPr id="14" name="Body 3"/>
          <p:cNvSpPr>
            <a:spLocks noGrp="1"/>
          </p:cNvSpPr>
          <p:nvPr>
            <p:ph type="body" idx="6" hasCustomPrompt="1"/>
          </p:nvPr>
        </p:nvSpPr>
        <p:spPr>
          <a:xfrm>
            <a:off x="8301012" y="3309081"/>
            <a:ext cx="3188506" cy="1853970"/>
          </a:xfrm>
          <a:prstGeom prst="rect">
            <a:avLst/>
          </a:prstGeom>
        </p:spPr>
        <p:txBody>
          <a:bodyPr wrap="square" lIns="0" tIns="0" rIns="0" bIns="0" anchor="t">
            <a:normAutofit/>
          </a:bodyPr>
          <a:lstStyle>
            <a:lvl1pPr marL="0" indent="0" algn="l">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alkey Thank You">
    <p:spTree>
      <p:nvGrpSpPr>
        <p:cNvPr id="1" name=""/>
        <p:cNvGrpSpPr/>
        <p:nvPr/>
      </p:nvGrpSpPr>
      <p:grpSpPr>
        <a:xfrm>
          <a:off x="0" y="0"/>
          <a:ext cx="0" cy="0"/>
          <a:chOff x="0" y="0"/>
          <a:chExt cx="0" cy="0"/>
        </a:xfrm>
      </p:grpSpPr>
      <p:sp>
        <p:nvSpPr>
          <p:cNvPr id="2" name="Rectangle 1"/>
          <p:cNvSpPr/>
          <p:nvPr/>
        </p:nvSpPr>
        <p:spPr>
          <a:xfrm>
            <a:off x="0" y="5669280"/>
            <a:ext cx="12192000" cy="1188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609600" y="31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valkey-horizontal-whi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94080" y="5958840"/>
            <a:ext cx="1803840" cy="609600"/>
          </a:xfrm>
          <a:prstGeom prst="rect">
            <a:avLst/>
          </a:prstGeom>
        </p:spPr>
      </p:pic>
      <p:sp>
        <p:nvSpPr>
          <p:cNvPr id="5" name="Closing"/>
          <p:cNvSpPr>
            <a:spLocks noGrp="1"/>
          </p:cNvSpPr>
          <p:nvPr>
            <p:ph type="body" idx="1" hasCustomPrompt="1"/>
          </p:nvPr>
        </p:nvSpPr>
        <p:spPr>
          <a:xfrm>
            <a:off x="609600" y="1900000"/>
            <a:ext cx="11062800" cy="1000000"/>
          </a:xfrm>
          <a:prstGeom prst="rect">
            <a:avLst/>
          </a:prstGeom>
        </p:spPr>
        <p:txBody>
          <a:bodyPr wrap="square" lIns="0" tIns="0" rIns="0" bIns="0" anchor="t">
            <a:normAutofit/>
          </a:bodyPr>
          <a:lstStyle>
            <a:lvl1pPr marL="0" indent="0" algn="l">
              <a:buNone/>
              <a:defRPr sz="5400" b="1" i="0">
                <a:solidFill>
                  <a:schemeClr val="dk1"/>
                </a:solidFill>
                <a:latin typeface="Arial"/>
              </a:defRPr>
            </a:lvl1pPr>
          </a:lstStyle>
          <a:p>
            <a:r>
              <a:rPr lang="en-US" dirty="0"/>
              <a:t>Thank you</a:t>
            </a:r>
          </a:p>
        </p:txBody>
      </p:sp>
      <p:sp>
        <p:nvSpPr>
          <p:cNvPr id="6" name="Speaker"/>
          <p:cNvSpPr>
            <a:spLocks noGrp="1"/>
          </p:cNvSpPr>
          <p:nvPr>
            <p:ph type="body" idx="2" hasCustomPrompt="1"/>
          </p:nvPr>
        </p:nvSpPr>
        <p:spPr>
          <a:xfrm>
            <a:off x="609600" y="3400000"/>
            <a:ext cx="6000000" cy="400000"/>
          </a:xfrm>
          <a:prstGeom prst="rect">
            <a:avLst/>
          </a:prstGeom>
        </p:spPr>
        <p:txBody>
          <a:bodyPr wrap="square" lIns="0" tIns="0" rIns="0" bIns="0" anchor="t">
            <a:normAutofit/>
          </a:bodyPr>
          <a:lstStyle>
            <a:lvl1pPr marL="0" indent="0" algn="l">
              <a:buNone/>
              <a:defRPr sz="1800" b="1" i="0">
                <a:solidFill>
                  <a:schemeClr val="dk1"/>
                </a:solidFill>
                <a:latin typeface="Arial"/>
              </a:defRPr>
            </a:lvl1pPr>
          </a:lstStyle>
          <a:p>
            <a:r>
              <a:rPr lang="en-US" dirty="0"/>
              <a:t>Madelyn Olson</a:t>
            </a:r>
          </a:p>
        </p:txBody>
      </p:sp>
      <p:sp>
        <p:nvSpPr>
          <p:cNvPr id="7" name="Contact 1"/>
          <p:cNvSpPr>
            <a:spLocks noGrp="1"/>
          </p:cNvSpPr>
          <p:nvPr>
            <p:ph type="body" idx="3" hasCustomPrompt="1"/>
          </p:nvPr>
        </p:nvSpPr>
        <p:spPr>
          <a:xfrm>
            <a:off x="609600" y="3820000"/>
            <a:ext cx="6000000" cy="340000"/>
          </a:xfrm>
          <a:prstGeom prst="rect">
            <a:avLst/>
          </a:prstGeom>
        </p:spPr>
        <p:txBody>
          <a:bodyPr wrap="square" lIns="0" tIns="0" rIns="0" bIns="0" anchor="t">
            <a:normAutofit/>
          </a:bodyPr>
          <a:lstStyle>
            <a:lvl1pPr marL="0" indent="0" algn="l">
              <a:buNone/>
              <a:defRPr sz="1600" b="0" i="0">
                <a:solidFill>
                  <a:schemeClr val="dk2"/>
                </a:solidFill>
                <a:latin typeface="Arial"/>
              </a:defRPr>
            </a:lvl1pPr>
          </a:lstStyle>
          <a:p>
            <a:r>
              <a:rPr lang="en-US" dirty="0"/>
              <a:t>@reconditerose</a:t>
            </a:r>
          </a:p>
        </p:txBody>
      </p:sp>
      <p:sp>
        <p:nvSpPr>
          <p:cNvPr id="8" name="Contact 2"/>
          <p:cNvSpPr>
            <a:spLocks noGrp="1"/>
          </p:cNvSpPr>
          <p:nvPr>
            <p:ph type="body" idx="4" hasCustomPrompt="1"/>
          </p:nvPr>
        </p:nvSpPr>
        <p:spPr>
          <a:xfrm>
            <a:off x="609600" y="4160000"/>
            <a:ext cx="6000000" cy="340000"/>
          </a:xfrm>
          <a:prstGeom prst="rect">
            <a:avLst/>
          </a:prstGeom>
        </p:spPr>
        <p:txBody>
          <a:bodyPr wrap="square" lIns="0" tIns="0" rIns="0" bIns="0" anchor="t">
            <a:normAutofit/>
          </a:bodyPr>
          <a:lstStyle>
            <a:lvl1pPr marL="0" indent="0" algn="l">
              <a:buNone/>
              <a:defRPr sz="1600" b="0" i="0">
                <a:solidFill>
                  <a:schemeClr val="dk2"/>
                </a:solidFill>
                <a:latin typeface="Arial"/>
              </a:defRPr>
            </a:lvl1pPr>
          </a:lstStyle>
          <a:p>
            <a:r>
              <a:rPr lang="en-US" dirty="0"/>
              <a:t>github.com/madolson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38"/>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p38"/>
          <p:cNvSpPr txBox="1">
            <a:spLocks noGrp="1"/>
          </p:cNvSpPr>
          <p:nvPr>
            <p:ph type="body" idx="1"/>
          </p:nvPr>
        </p:nvSpPr>
        <p:spPr>
          <a:xfrm>
            <a:off x="609600" y="1718985"/>
            <a:ext cx="10972800" cy="36933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dk1"/>
              </a:buClr>
              <a:buSzPts val="2160"/>
              <a:buFont typeface="Arial"/>
              <a:buNone/>
              <a:defRPr sz="24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20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dirty="0"/>
          </a:p>
        </p:txBody>
      </p:sp>
      <p:pic>
        <p:nvPicPr>
          <p:cNvPr id="9" name="Google Shape;9;p38" descr="pasted-movie.png"/>
          <p:cNvPicPr preferRelativeResize="0"/>
          <p:nvPr/>
        </p:nvPicPr>
        <p:blipFill rotWithShape="1">
          <a:blip r:embed="rId14">
            <a:alphaModFix/>
          </a:blip>
          <a:srcRect/>
          <a:stretch/>
        </p:blipFill>
        <p:spPr>
          <a:xfrm>
            <a:off x="10389732" y="5943597"/>
            <a:ext cx="1434431" cy="4431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github.com/valkey-io/valkey-operator" TargetMode="External"/><Relationship Id="rId5" Type="http://schemas.openxmlformats.org/officeDocument/2006/relationships/image" Target="../media/image9.svg"/><Relationship Id="rId4" Type="http://schemas.openxmlformats.org/officeDocument/2006/relationships/image" Target="../media/image10.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a:latin typeface="Arial"/>
              </a:rPr>
              <a:t>Scaling up and out,</a:t>
            </a:r>
          </a:p>
          <a:p>
            <a:r>
              <a:rPr>
                <a:latin typeface="Arial"/>
              </a:rPr>
              <a:t>and how Valkey does both</a:t>
            </a:r>
          </a:p>
        </p:txBody>
      </p:sp>
      <p:sp>
        <p:nvSpPr>
          <p:cNvPr id="4" name="Text Placeholder 3"/>
          <p:cNvSpPr>
            <a:spLocks noGrp="1"/>
          </p:cNvSpPr>
          <p:nvPr>
            <p:ph type="body" idx="2"/>
          </p:nvPr>
        </p:nvSpPr>
        <p:spPr/>
        <p:txBody>
          <a:bodyPr/>
          <a:lstStyle/>
          <a:p>
            <a:r>
              <a:rPr>
                <a:latin typeface="Arial"/>
              </a:rPr>
              <a:t>Madelyn Olson</a:t>
            </a:r>
          </a:p>
        </p:txBody>
      </p:sp>
      <p:sp>
        <p:nvSpPr>
          <p:cNvPr id="5" name="Text Placeholder 4"/>
          <p:cNvSpPr>
            <a:spLocks noGrp="1"/>
          </p:cNvSpPr>
          <p:nvPr>
            <p:ph type="body" idx="3"/>
          </p:nvPr>
        </p:nvSpPr>
        <p:spPr/>
        <p:txBody>
          <a:bodyPr/>
          <a:lstStyle/>
          <a:p>
            <a:r>
              <a:rPr>
                <a:latin typeface="Arial"/>
              </a:rPr>
              <a:t>Valkey Engineer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Madelyn Olson (she/her)</a:t>
            </a:r>
          </a:p>
        </p:txBody>
      </p:sp>
      <p:pic>
        <p:nvPicPr>
          <p:cNvPr id="3" name="Picture 2" descr="madelyn-winery.jpg"/>
          <p:cNvPicPr>
            <a:picLocks noChangeAspect="1"/>
          </p:cNvPicPr>
          <p:nvPr/>
        </p:nvPicPr>
        <p:blipFill>
          <a:blip r:embed="rId3"/>
          <a:stretch>
            <a:fillRect/>
          </a:stretch>
        </p:blipFill>
        <p:spPr>
          <a:xfrm>
            <a:off x="609600" y="1445931"/>
            <a:ext cx="4387600" cy="3290700"/>
          </a:xfrm>
          <a:prstGeom prst="rect">
            <a:avLst/>
          </a:prstGeom>
        </p:spPr>
      </p:pic>
      <p:sp>
        <p:nvSpPr>
          <p:cNvPr id="4" name="TextBox 3"/>
          <p:cNvSpPr txBox="1"/>
          <p:nvPr/>
        </p:nvSpPr>
        <p:spPr>
          <a:xfrm>
            <a:off x="5497200" y="1445931"/>
            <a:ext cx="6085200" cy="400110"/>
          </a:xfrm>
          <a:prstGeom prst="rect">
            <a:avLst/>
          </a:prstGeom>
          <a:noFill/>
        </p:spPr>
        <p:txBody>
          <a:bodyPr wrap="square" lIns="0" tIns="0" rIns="0" bIns="0" anchor="t">
            <a:spAutoFit/>
          </a:bodyPr>
          <a:lstStyle/>
          <a:p>
            <a:pPr algn="l"/>
            <a:r>
              <a:rPr sz="2400" b="1">
                <a:solidFill>
                  <a:schemeClr val="dk1"/>
                </a:solidFill>
                <a:latin typeface="Arial"/>
              </a:rPr>
              <a:t>Valkey maintainer</a:t>
            </a:r>
          </a:p>
        </p:txBody>
      </p:sp>
      <p:sp>
        <p:nvSpPr>
          <p:cNvPr id="5" name="TextBox 4"/>
          <p:cNvSpPr txBox="1"/>
          <p:nvPr/>
        </p:nvSpPr>
        <p:spPr>
          <a:xfrm>
            <a:off x="5497200" y="1905931"/>
            <a:ext cx="6085200" cy="400110"/>
          </a:xfrm>
          <a:prstGeom prst="rect">
            <a:avLst/>
          </a:prstGeom>
          <a:noFill/>
        </p:spPr>
        <p:txBody>
          <a:bodyPr wrap="square" lIns="0" tIns="0" rIns="0" bIns="0" anchor="t">
            <a:spAutoFit/>
          </a:bodyPr>
          <a:lstStyle/>
          <a:p>
            <a:pPr algn="l"/>
            <a:r>
              <a:rPr sz="2400" b="0">
                <a:solidFill>
                  <a:schemeClr val="dk2"/>
                </a:solidFill>
                <a:latin typeface="Arial"/>
              </a:rPr>
              <a:t>Principal engineer at AWS</a:t>
            </a:r>
          </a:p>
        </p:txBody>
      </p:sp>
      <p:sp>
        <p:nvSpPr>
          <p:cNvPr id="6" name="Rectangle 5"/>
          <p:cNvSpPr/>
          <p:nvPr/>
        </p:nvSpPr>
        <p:spPr>
          <a:xfrm>
            <a:off x="5497200" y="2495931"/>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97200" y="2795931"/>
            <a:ext cx="6085200" cy="48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97200" y="2795931"/>
            <a:ext cx="73152" cy="48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753232" y="2795931"/>
            <a:ext cx="5646288" cy="480000"/>
          </a:xfrm>
          <a:prstGeom prst="rect">
            <a:avLst/>
          </a:prstGeom>
          <a:noFill/>
        </p:spPr>
        <p:txBody>
          <a:bodyPr wrap="square" lIns="0" tIns="0" rIns="0" bIns="0" anchor="ctr">
            <a:spAutoFit/>
          </a:bodyPr>
          <a:lstStyle/>
          <a:p>
            <a:pPr algn="l"/>
            <a:r>
              <a:rPr sz="1800" b="0">
                <a:solidFill>
                  <a:schemeClr val="dk1"/>
                </a:solidFill>
                <a:latin typeface="Arial"/>
              </a:rPr>
              <a:t>Original co-creator of the Valkey fork</a:t>
            </a:r>
          </a:p>
        </p:txBody>
      </p:sp>
      <p:sp>
        <p:nvSpPr>
          <p:cNvPr id="10" name="Rectangle 9"/>
          <p:cNvSpPr/>
          <p:nvPr/>
        </p:nvSpPr>
        <p:spPr>
          <a:xfrm>
            <a:off x="5497200" y="3415931"/>
            <a:ext cx="6085200" cy="48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497200" y="3415931"/>
            <a:ext cx="73152" cy="48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753232" y="3415931"/>
            <a:ext cx="5646288" cy="480000"/>
          </a:xfrm>
          <a:prstGeom prst="rect">
            <a:avLst/>
          </a:prstGeom>
          <a:noFill/>
        </p:spPr>
        <p:txBody>
          <a:bodyPr wrap="square" lIns="0" tIns="0" rIns="0" bIns="0" anchor="ctr">
            <a:spAutoFit/>
          </a:bodyPr>
          <a:lstStyle/>
          <a:p>
            <a:pPr algn="l"/>
            <a:r>
              <a:rPr sz="1800" b="0">
                <a:solidFill>
                  <a:schemeClr val="dk1"/>
                </a:solidFill>
                <a:latin typeface="Arial"/>
              </a:rPr>
              <a:t>I love hearing diverse opinions about performance</a:t>
            </a:r>
          </a:p>
        </p:txBody>
      </p:sp>
      <p:sp>
        <p:nvSpPr>
          <p:cNvPr id="13" name="Rectangle 12"/>
          <p:cNvSpPr/>
          <p:nvPr/>
        </p:nvSpPr>
        <p:spPr>
          <a:xfrm>
            <a:off x="5497200" y="4035931"/>
            <a:ext cx="6085200" cy="48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97200" y="4035931"/>
            <a:ext cx="73152" cy="48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753232" y="4035931"/>
            <a:ext cx="5646288" cy="480000"/>
          </a:xfrm>
          <a:prstGeom prst="rect">
            <a:avLst/>
          </a:prstGeom>
          <a:noFill/>
        </p:spPr>
        <p:txBody>
          <a:bodyPr wrap="square" lIns="0" tIns="0" rIns="0" bIns="0" anchor="ctr">
            <a:spAutoFit/>
          </a:bodyPr>
          <a:lstStyle/>
          <a:p>
            <a:pPr algn="l"/>
            <a:r>
              <a:rPr sz="1800" b="0">
                <a:solidFill>
                  <a:schemeClr val="dk1"/>
                </a:solidFill>
                <a:latin typeface="Arial"/>
              </a:rPr>
              <a:t>I enjoy hiking, nature, and good wine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Introducing the Valkey project</a:t>
            </a:r>
          </a:p>
        </p:txBody>
      </p:sp>
      <p:sp>
        <p:nvSpPr>
          <p:cNvPr id="3" name="Rectangle 2"/>
          <p:cNvSpPr/>
          <p:nvPr/>
        </p:nvSpPr>
        <p:spPr>
          <a:xfrm>
            <a:off x="609600"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valkey-mark-color.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2480" y="2276287"/>
            <a:ext cx="951200" cy="1097280"/>
          </a:xfrm>
          <a:prstGeom prst="rect">
            <a:avLst/>
          </a:prstGeom>
        </p:spPr>
      </p:pic>
      <p:sp>
        <p:nvSpPr>
          <p:cNvPr id="5" name="TextBox 4"/>
          <p:cNvSpPr txBox="1"/>
          <p:nvPr/>
        </p:nvSpPr>
        <p:spPr>
          <a:xfrm>
            <a:off x="792480"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Drop-in compatible</a:t>
            </a:r>
          </a:p>
        </p:txBody>
      </p:sp>
      <p:sp>
        <p:nvSpPr>
          <p:cNvPr id="6" name="TextBox 5"/>
          <p:cNvSpPr txBox="1"/>
          <p:nvPr/>
        </p:nvSpPr>
        <p:spPr>
          <a:xfrm>
            <a:off x="792480"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Fully compatible with Redis OSS 7.2, and always will be.</a:t>
            </a:r>
          </a:p>
        </p:txBody>
      </p:sp>
      <p:sp>
        <p:nvSpPr>
          <p:cNvPr id="7" name="Rectangle 6"/>
          <p:cNvSpPr/>
          <p:nvPr/>
        </p:nvSpPr>
        <p:spPr>
          <a:xfrm>
            <a:off x="4363866"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linux-foundation.png"/>
          <p:cNvPicPr>
            <a:picLocks noChangeAspect="1"/>
          </p:cNvPicPr>
          <p:nvPr/>
        </p:nvPicPr>
        <p:blipFill>
          <a:blip r:embed="rId4"/>
          <a:stretch>
            <a:fillRect/>
          </a:stretch>
        </p:blipFill>
        <p:spPr>
          <a:xfrm>
            <a:off x="4546746" y="2523175"/>
            <a:ext cx="1801227" cy="603504"/>
          </a:xfrm>
          <a:prstGeom prst="rect">
            <a:avLst/>
          </a:prstGeom>
        </p:spPr>
      </p:pic>
      <p:sp>
        <p:nvSpPr>
          <p:cNvPr id="9" name="TextBox 8"/>
          <p:cNvSpPr txBox="1"/>
          <p:nvPr/>
        </p:nvSpPr>
        <p:spPr>
          <a:xfrm>
            <a:off x="4546746"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Vendor neutral</a:t>
            </a:r>
          </a:p>
        </p:txBody>
      </p:sp>
      <p:sp>
        <p:nvSpPr>
          <p:cNvPr id="10" name="TextBox 9"/>
          <p:cNvSpPr txBox="1"/>
          <p:nvPr/>
        </p:nvSpPr>
        <p:spPr>
          <a:xfrm>
            <a:off x="4546746"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A Linux Foundation project, BSD-3 licensed, so it stays open source.</a:t>
            </a:r>
          </a:p>
        </p:txBody>
      </p:sp>
      <p:sp>
        <p:nvSpPr>
          <p:cNvPr id="11" name="Rectangle 10"/>
          <p:cNvSpPr/>
          <p:nvPr/>
        </p:nvSpPr>
        <p:spPr>
          <a:xfrm>
            <a:off x="8118132"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global-communit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01012" y="2276287"/>
            <a:ext cx="1097280" cy="1097280"/>
          </a:xfrm>
          <a:prstGeom prst="rect">
            <a:avLst/>
          </a:prstGeom>
        </p:spPr>
      </p:pic>
      <p:sp>
        <p:nvSpPr>
          <p:cNvPr id="13" name="TextBox 12"/>
          <p:cNvSpPr txBox="1"/>
          <p:nvPr/>
        </p:nvSpPr>
        <p:spPr>
          <a:xfrm>
            <a:off x="8301012"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Built in the open</a:t>
            </a:r>
          </a:p>
        </p:txBody>
      </p:sp>
      <p:sp>
        <p:nvSpPr>
          <p:cNvPr id="14" name="TextBox 13"/>
          <p:cNvSpPr txBox="1"/>
          <p:nvPr/>
        </p:nvSpPr>
        <p:spPr>
          <a:xfrm>
            <a:off x="8301012"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Nine technical steering committee members, from eight companies.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A customer latency story</a:t>
            </a:r>
          </a:p>
        </p:txBody>
      </p:sp>
      <p:graphicFrame>
        <p:nvGraphicFramePr>
          <p:cNvPr id="3" name="Chart 2"/>
          <p:cNvGraphicFramePr>
            <a:graphicFrameLocks noGrp="1"/>
          </p:cNvGraphicFramePr>
          <p:nvPr/>
        </p:nvGraphicFramePr>
        <p:xfrm>
          <a:off x="609600" y="1445931"/>
          <a:ext cx="11062800" cy="3700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609600" y="5205931"/>
            <a:ext cx="11062800" cy="300000"/>
          </a:xfrm>
          <a:prstGeom prst="rect">
            <a:avLst/>
          </a:prstGeom>
          <a:noFill/>
        </p:spPr>
        <p:txBody>
          <a:bodyPr wrap="square" lIns="0" tIns="0" rIns="0" bIns="0" anchor="t">
            <a:spAutoFit/>
          </a:bodyPr>
          <a:lstStyle/>
          <a:p>
            <a:pPr algn="ctr"/>
            <a:r>
              <a:rPr sz="1400" b="0">
                <a:solidFill>
                  <a:schemeClr val="dk2"/>
                </a:solidFill>
                <a:latin typeface="Arial"/>
              </a:rPr>
              <a:t>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5A290-AC0B-D04F-4B96-C74EBAC19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68915-9B25-3AA8-275C-C9092E8929AE}"/>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Latency is a cliff</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C29A952-6F39-2DFE-8811-5708B57D20BE}"/>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7" name="Chart 0">
            <a:extLst>
              <a:ext uri="{FF2B5EF4-FFF2-40B4-BE49-F238E27FC236}">
                <a16:creationId xmlns:a16="http://schemas.microsoft.com/office/drawing/2014/main" id="{DF6BAD9E-D50E-FFA7-DDC3-C20FFC6A3BF8}"/>
              </a:ext>
            </a:extLst>
          </p:cNvPr>
          <p:cNvGraphicFramePr/>
          <p:nvPr>
            <p:extLst>
              <p:ext uri="{D42A27DB-BD31-4B8C-83A1-F6EECF244321}">
                <p14:modId xmlns:p14="http://schemas.microsoft.com/office/powerpoint/2010/main" val="1291258587"/>
              </p:ext>
            </p:extLst>
          </p:nvPr>
        </p:nvGraphicFramePr>
        <p:xfrm>
          <a:off x="1478280" y="1171448"/>
          <a:ext cx="9235440" cy="45151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09600" y="5943597"/>
            <a:ext cx="11062800" cy="300000"/>
          </a:xfrm>
          <a:prstGeom prst="rect">
            <a:avLst/>
          </a:prstGeom>
          <a:noFill/>
        </p:spPr>
        <p:txBody>
          <a:bodyPr wrap="square" lIns="0" tIns="0" rIns="0" bIns="0" anchor="t">
            <a:spAutoFit/>
          </a:bodyPr>
          <a:lstStyle/>
          <a:p>
            <a:pPr algn="l"/>
            <a:r>
              <a:rPr sz="1200" b="0">
                <a:solidFill>
                  <a:schemeClr val="dk2"/>
                </a:solidFill>
                <a:latin typeface="Arial"/>
              </a:rPr>
              <a:t>* Latency capped at 5ms</a:t>
            </a:r>
          </a:p>
        </p:txBody>
      </p:sp>
    </p:spTree>
    <p:extLst>
      <p:ext uri="{BB962C8B-B14F-4D97-AF65-F5344CB8AC3E}">
        <p14:creationId xmlns:p14="http://schemas.microsoft.com/office/powerpoint/2010/main" val="2467608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6D515-FA8C-53F0-8193-53D0C6F5F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4107A-7E2B-6DE5-5563-67E1F0A458B2}"/>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Steady state is a lie</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1CB8FC7-CB06-65D3-14F5-0F672B727552}"/>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7E8AB4D8-AB89-94E7-C9D8-FCA903F8704A}"/>
              </a:ext>
            </a:extLst>
          </p:cNvPr>
          <p:cNvGraphicFramePr>
            <a:graphicFrameLocks noGrp="1"/>
          </p:cNvGraphicFramePr>
          <p:nvPr>
            <p:extLst>
              <p:ext uri="{D42A27DB-BD31-4B8C-83A1-F6EECF244321}">
                <p14:modId xmlns:p14="http://schemas.microsoft.com/office/powerpoint/2010/main" val="3783043187"/>
              </p:ext>
            </p:extLst>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09978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BFE74-5BB6-55C7-79AE-301725C53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11DF0-EB09-209E-B5AD-02A555097ADB}"/>
              </a:ext>
            </a:extLst>
          </p:cNvPr>
          <p:cNvSpPr>
            <a:spLocks noGrp="1"/>
          </p:cNvSpPr>
          <p:nvPr>
            <p:ph type="title"/>
          </p:nvPr>
        </p:nvSpPr>
        <p:spPr>
          <a:xfrm>
            <a:off x="609600" y="400019"/>
            <a:ext cx="11062800" cy="387798"/>
          </a:xfrm>
        </p:spPr>
        <p:txBody>
          <a:bodyPr/>
          <a:lstStyle/>
          <a:p>
            <a:r>
              <a:rPr lang="en-US" sz="2800" dirty="0">
                <a:latin typeface="Arial"/>
              </a:rPr>
              <a:t>You could overprovision</a:t>
            </a:r>
            <a:endParaRPr dirty="0"/>
          </a:p>
        </p:txBody>
      </p:sp>
      <p:sp>
        <p:nvSpPr>
          <p:cNvPr id="5" name="TextBox 4">
            <a:extLst>
              <a:ext uri="{FF2B5EF4-FFF2-40B4-BE49-F238E27FC236}">
                <a16:creationId xmlns:a16="http://schemas.microsoft.com/office/drawing/2014/main" id="{212643FB-CA3F-7AAF-2D40-C37129E17EDC}"/>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B3AD5081-AFFC-03FA-8554-FEC845C3BD3D}"/>
              </a:ext>
            </a:extLst>
          </p:cNvPr>
          <p:cNvGraphicFramePr>
            <a:graphicFrameLocks noGrp="1"/>
          </p:cNvGraphicFramePr>
          <p:nvPr>
            <p:extLst>
              <p:ext uri="{D42A27DB-BD31-4B8C-83A1-F6EECF244321}">
                <p14:modId xmlns:p14="http://schemas.microsoft.com/office/powerpoint/2010/main" val="3474335248"/>
              </p:ext>
            </p:extLst>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80054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Two axes, and neither one is optional</a:t>
            </a:r>
          </a:p>
        </p:txBody>
      </p:sp>
      <p:sp>
        <p:nvSpPr>
          <p:cNvPr id="3" name="Rectangle 2"/>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Vertical Scaling</a:t>
            </a:r>
            <a:endParaRPr sz="2600" b="1" dirty="0">
              <a:solidFill>
                <a:schemeClr val="dk1"/>
              </a:solidFill>
            </a:endParaRPr>
          </a:p>
        </p:txBody>
      </p:sp>
      <p:sp>
        <p:nvSpPr>
          <p:cNvPr id="1012" name="TextBox 1011"/>
          <p:cNvSpPr txBox="1"/>
          <p:nvPr/>
        </p:nvSpPr>
        <p:spPr>
          <a:xfrm>
            <a:off x="792480" y="3382233"/>
            <a:ext cx="4649315" cy="1074012"/>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latin typeface="Arial"/>
              </a:rPr>
              <a:t>Add more cores to handle incoming requests</a:t>
            </a:r>
          </a:p>
          <a:p>
            <a:pPr marL="285750" indent="-285750" algn="l">
              <a:lnSpc>
                <a:spcPct val="120000"/>
              </a:lnSpc>
              <a:buFont typeface="Arial" panose="020B0604020202020204" pitchFamily="34" charset="0"/>
              <a:buChar char="•"/>
            </a:pPr>
            <a:r>
              <a:rPr lang="en-US" sz="2000" b="0" dirty="0">
                <a:solidFill>
                  <a:schemeClr val="dk2"/>
                </a:solidFill>
                <a:latin typeface="Arial"/>
              </a:rPr>
              <a:t>Limited with IO threading</a:t>
            </a:r>
            <a:endParaRPr sz="2000" b="0" dirty="0">
              <a:solidFill>
                <a:schemeClr val="dk2"/>
              </a:solidFill>
            </a:endParaRPr>
          </a:p>
        </p:txBody>
      </p:sp>
      <p:sp>
        <p:nvSpPr>
          <p:cNvPr id="1013" name="Rectangle 1012"/>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Rectangle 1013"/>
          <p:cNvSpPr/>
          <p:nvPr/>
        </p:nvSpPr>
        <p:spPr>
          <a:xfrm>
            <a:off x="62410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Horizontal Scaling</a:t>
            </a:r>
            <a:endParaRPr sz="2600" b="1" dirty="0">
              <a:solidFill>
                <a:schemeClr val="dk1"/>
              </a:solidFill>
            </a:endParaRPr>
          </a:p>
        </p:txBody>
      </p:sp>
      <p:sp>
        <p:nvSpPr>
          <p:cNvPr id="1016" name="TextBox 1015"/>
          <p:cNvSpPr txBox="1"/>
          <p:nvPr/>
        </p:nvSpPr>
        <p:spPr>
          <a:xfrm>
            <a:off x="6423880" y="3382233"/>
            <a:ext cx="5065640" cy="1074012"/>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latin typeface="Arial"/>
              </a:rPr>
              <a:t>Add more hosts to handle requests</a:t>
            </a:r>
          </a:p>
          <a:p>
            <a:pPr marL="285750" indent="-285750">
              <a:lnSpc>
                <a:spcPct val="120000"/>
              </a:lnSpc>
              <a:buFont typeface="Arial" panose="020B0604020202020204" pitchFamily="34" charset="0"/>
              <a:buChar char="•"/>
            </a:pPr>
            <a:r>
              <a:rPr lang="en-US" sz="2000" dirty="0">
                <a:solidFill>
                  <a:schemeClr val="dk2"/>
                </a:solidFill>
                <a:latin typeface="Arial"/>
              </a:rPr>
              <a:t>No cross-shard transactions</a:t>
            </a:r>
          </a:p>
          <a:p>
            <a:pPr marL="285750" indent="-285750">
              <a:lnSpc>
                <a:spcPct val="120000"/>
              </a:lnSpc>
              <a:buFont typeface="Arial" panose="020B0604020202020204" pitchFamily="34" charset="0"/>
              <a:buChar char="•"/>
            </a:pPr>
            <a:r>
              <a:rPr lang="en-US" sz="2000" dirty="0">
                <a:solidFill>
                  <a:schemeClr val="dk2"/>
                </a:solidFill>
                <a:latin typeface="Arial"/>
              </a:rPr>
              <a:t>Slow and dangerous to scale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valkey-flamegraph.png"/>
          <p:cNvPicPr>
            <a:picLocks noChangeAspect="1"/>
          </p:cNvPicPr>
          <p:nvPr/>
        </p:nvPicPr>
        <p:blipFill>
          <a:blip r:embed="rId3"/>
          <a:stretch>
            <a:fillRect/>
          </a:stretch>
        </p:blipFill>
        <p:spPr>
          <a:xfrm>
            <a:off x="0" y="58689"/>
            <a:ext cx="12192000" cy="6740622"/>
          </a:xfrm>
          <a:prstGeom prst="rect">
            <a:avLst/>
          </a:prstGeom>
        </p:spPr>
      </p:pic>
      <p:sp>
        <p:nvSpPr>
          <p:cNvPr id="3" name="Rectangle 2"/>
          <p:cNvSpPr/>
          <p:nvPr/>
        </p:nvSpPr>
        <p:spPr>
          <a:xfrm>
            <a:off x="0" y="58689"/>
            <a:ext cx="2679405" cy="6740622"/>
          </a:xfrm>
          <a:prstGeom prst="rect">
            <a:avLst/>
          </a:prstGeom>
          <a:solidFill>
            <a:srgbClr val="6983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58689"/>
            <a:ext cx="2679405" cy="4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0000" y="58689"/>
            <a:ext cx="2599405" cy="420000"/>
          </a:xfrm>
          <a:prstGeom prst="rect">
            <a:avLst/>
          </a:prstGeom>
          <a:noFill/>
        </p:spPr>
        <p:txBody>
          <a:bodyPr wrap="square" lIns="0" tIns="0" rIns="0" bIns="0" anchor="ctr">
            <a:spAutoFit/>
          </a:bodyPr>
          <a:lstStyle/>
          <a:p>
            <a:pPr algn="ctr"/>
            <a:r>
              <a:rPr sz="1300" b="1">
                <a:solidFill>
                  <a:schemeClr val="lt1"/>
                </a:solidFill>
                <a:latin typeface="Arial"/>
              </a:rPr>
              <a:t>Parse and execute command</a:t>
            </a:r>
          </a:p>
        </p:txBody>
      </p:sp>
      <p:sp>
        <p:nvSpPr>
          <p:cNvPr id="6" name="Rectangle 5"/>
          <p:cNvSpPr/>
          <p:nvPr/>
        </p:nvSpPr>
        <p:spPr>
          <a:xfrm>
            <a:off x="2679405" y="58689"/>
            <a:ext cx="1105786" cy="6740622"/>
          </a:xfrm>
          <a:prstGeom prst="rect">
            <a:avLst/>
          </a:prstGeom>
          <a:solidFill>
            <a:srgbClr val="6983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 name="Connector 6"/>
          <p:cNvCxnSpPr/>
          <p:nvPr/>
        </p:nvCxnSpPr>
        <p:spPr>
          <a:xfrm>
            <a:off x="2679405" y="58689"/>
            <a:ext cx="0" cy="6740622"/>
          </a:xfrm>
          <a:prstGeom prst="line">
            <a:avLst/>
          </a:prstGeom>
          <a:ln w="15875">
            <a:solidFill>
              <a:schemeClr val="lt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679405" y="58689"/>
            <a:ext cx="1105786" cy="4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719405" y="58689"/>
            <a:ext cx="1025786" cy="420000"/>
          </a:xfrm>
          <a:prstGeom prst="rect">
            <a:avLst/>
          </a:prstGeom>
          <a:noFill/>
        </p:spPr>
        <p:txBody>
          <a:bodyPr wrap="square" lIns="0" tIns="0" rIns="0" bIns="0" anchor="ctr">
            <a:spAutoFit/>
          </a:bodyPr>
          <a:lstStyle/>
          <a:p>
            <a:pPr algn="ctr"/>
            <a:r>
              <a:rPr sz="1300" b="1">
                <a:solidFill>
                  <a:schemeClr val="lt1"/>
                </a:solidFill>
                <a:latin typeface="Arial"/>
              </a:rPr>
              <a:t>Epoll</a:t>
            </a:r>
          </a:p>
        </p:txBody>
      </p:sp>
      <p:sp>
        <p:nvSpPr>
          <p:cNvPr id="10" name="Rectangle 9"/>
          <p:cNvSpPr/>
          <p:nvPr/>
        </p:nvSpPr>
        <p:spPr>
          <a:xfrm>
            <a:off x="3785191" y="58689"/>
            <a:ext cx="1984744" cy="6740622"/>
          </a:xfrm>
          <a:prstGeom prst="rect">
            <a:avLst/>
          </a:prstGeom>
          <a:solidFill>
            <a:srgbClr val="6983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1" name="Connector 10"/>
          <p:cNvCxnSpPr/>
          <p:nvPr/>
        </p:nvCxnSpPr>
        <p:spPr>
          <a:xfrm>
            <a:off x="3785191" y="58689"/>
            <a:ext cx="0" cy="6740622"/>
          </a:xfrm>
          <a:prstGeom prst="line">
            <a:avLst/>
          </a:prstGeom>
          <a:ln w="15875">
            <a:solidFill>
              <a:schemeClr val="lt1"/>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785191" y="58689"/>
            <a:ext cx="1984744" cy="4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25191" y="58689"/>
            <a:ext cx="1904744" cy="420000"/>
          </a:xfrm>
          <a:prstGeom prst="rect">
            <a:avLst/>
          </a:prstGeom>
          <a:noFill/>
        </p:spPr>
        <p:txBody>
          <a:bodyPr wrap="square" lIns="0" tIns="0" rIns="0" bIns="0" anchor="ctr">
            <a:spAutoFit/>
          </a:bodyPr>
          <a:lstStyle/>
          <a:p>
            <a:pPr algn="ctr"/>
            <a:r>
              <a:rPr sz="1300" b="1">
                <a:solidFill>
                  <a:schemeClr val="lt1"/>
                </a:solidFill>
                <a:latin typeface="Arial"/>
              </a:rPr>
              <a:t>Read command</a:t>
            </a:r>
          </a:p>
        </p:txBody>
      </p:sp>
      <p:sp>
        <p:nvSpPr>
          <p:cNvPr id="14" name="Rectangle 13"/>
          <p:cNvSpPr/>
          <p:nvPr/>
        </p:nvSpPr>
        <p:spPr>
          <a:xfrm>
            <a:off x="5769935" y="58689"/>
            <a:ext cx="6422065" cy="6740622"/>
          </a:xfrm>
          <a:prstGeom prst="rect">
            <a:avLst/>
          </a:prstGeom>
          <a:solidFill>
            <a:srgbClr val="6983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5" name="Connector 14"/>
          <p:cNvCxnSpPr/>
          <p:nvPr/>
        </p:nvCxnSpPr>
        <p:spPr>
          <a:xfrm>
            <a:off x="5769935" y="58689"/>
            <a:ext cx="0" cy="6740622"/>
          </a:xfrm>
          <a:prstGeom prst="line">
            <a:avLst/>
          </a:prstGeom>
          <a:ln w="15875">
            <a:solidFill>
              <a:schemeClr val="lt1"/>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769935" y="58689"/>
            <a:ext cx="6422065" cy="4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809935" y="58689"/>
            <a:ext cx="6342065" cy="420000"/>
          </a:xfrm>
          <a:prstGeom prst="rect">
            <a:avLst/>
          </a:prstGeom>
          <a:noFill/>
        </p:spPr>
        <p:txBody>
          <a:bodyPr wrap="square" lIns="0" tIns="0" rIns="0" bIns="0" anchor="ctr">
            <a:spAutoFit/>
          </a:bodyPr>
          <a:lstStyle/>
          <a:p>
            <a:pPr algn="ctr"/>
            <a:r>
              <a:rPr sz="1300" b="1">
                <a:solidFill>
                  <a:schemeClr val="lt1"/>
                </a:solidFill>
                <a:latin typeface="Arial"/>
              </a:rPr>
              <a:t>Send response</a:t>
            </a:r>
          </a:p>
        </p:txBody>
      </p:sp>
      <p:sp>
        <p:nvSpPr>
          <p:cNvPr id="18" name="TextBox 17"/>
          <p:cNvSpPr txBox="1"/>
          <p:nvPr/>
        </p:nvSpPr>
        <p:spPr>
          <a:xfrm>
            <a:off x="609600" y="6419311"/>
            <a:ext cx="11062800" cy="300000"/>
          </a:xfrm>
          <a:prstGeom prst="rect">
            <a:avLst/>
          </a:prstGeom>
          <a:noFill/>
        </p:spPr>
        <p:txBody>
          <a:bodyPr wrap="square" lIns="0" tIns="0" rIns="0" bIns="0" anchor="t">
            <a:spAutoFit/>
          </a:bodyPr>
          <a:lstStyle/>
          <a:p>
            <a:pPr algn="l"/>
            <a:r>
              <a:rPr sz="1000" b="0" i="1">
                <a:solidFill>
                  <a:schemeClr val="accent2"/>
                </a:solidFill>
                <a:latin typeface="Arial"/>
              </a:rPr>
              <a:t>perf flame graph, valkey-server under valkey-benchmark GET.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B4168394-5122-92D2-B270-6ED15912B87B}"/>
            </a:ext>
          </a:extLst>
        </p:cNvPr>
        <p:cNvGrpSpPr/>
        <p:nvPr/>
      </p:nvGrpSpPr>
      <p:grpSpPr>
        <a:xfrm>
          <a:off x="0" y="0"/>
          <a:ext cx="0" cy="0"/>
          <a:chOff x="0" y="0"/>
          <a:chExt cx="0" cy="0"/>
        </a:xfrm>
      </p:grpSpPr>
      <p:sp>
        <p:nvSpPr>
          <p:cNvPr id="204" name="Google Shape;204;p8">
            <a:extLst>
              <a:ext uri="{FF2B5EF4-FFF2-40B4-BE49-F238E27FC236}">
                <a16:creationId xmlns:a16="http://schemas.microsoft.com/office/drawing/2014/main" id="{5DA4E851-8D38-74E3-3456-193155366DED}"/>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Arial"/>
              <a:buNone/>
            </a:pPr>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A96B6976-8604-7323-0D54-7D80A6C2505C}"/>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cxnSp>
        <p:nvCxnSpPr>
          <p:cNvPr id="7" name="Straight Arrow Connector 6">
            <a:extLst>
              <a:ext uri="{FF2B5EF4-FFF2-40B4-BE49-F238E27FC236}">
                <a16:creationId xmlns:a16="http://schemas.microsoft.com/office/drawing/2014/main" id="{9809634D-B2A7-737F-8FC0-E8B1A084D109}"/>
              </a:ext>
            </a:extLst>
          </p:cNvPr>
          <p:cNvCxnSpPr>
            <a:cxnSpLocks/>
            <a:stCxn id="3" idx="2"/>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E486E458-3D2A-1365-EBBA-6308B6D7D74D}"/>
              </a:ext>
            </a:extLst>
          </p:cNvPr>
          <p:cNvSpPr/>
          <p:nvPr/>
        </p:nvSpPr>
        <p:spPr>
          <a:xfrm>
            <a:off x="2026488" y="323713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520EA42A-C85F-9E26-5904-9A9DD7116F76}"/>
              </a:ext>
            </a:extLst>
          </p:cNvPr>
          <p:cNvSpPr/>
          <p:nvPr/>
        </p:nvSpPr>
        <p:spPr>
          <a:xfrm>
            <a:off x="2026488" y="253609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94ACD480-E50B-1D9F-4276-542E43936E9B}"/>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E1FBF140-23D6-9040-CBA9-5E1EDFA6E576}"/>
              </a:ext>
            </a:extLst>
          </p:cNvPr>
          <p:cNvSpPr/>
          <p:nvPr/>
        </p:nvSpPr>
        <p:spPr>
          <a:xfrm>
            <a:off x="2026488" y="463921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15" name="Rectangle 14">
            <a:extLst>
              <a:ext uri="{FF2B5EF4-FFF2-40B4-BE49-F238E27FC236}">
                <a16:creationId xmlns:a16="http://schemas.microsoft.com/office/drawing/2014/main" id="{B1D723CF-8682-65AF-F6C1-5A83F1CCB50E}"/>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spTree>
    <p:extLst>
      <p:ext uri="{BB962C8B-B14F-4D97-AF65-F5344CB8AC3E}">
        <p14:creationId xmlns:p14="http://schemas.microsoft.com/office/powerpoint/2010/main" val="401303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5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2464EB63-9190-23CD-29F2-3A0BC4FF7E0F}"/>
            </a:ext>
          </a:extLst>
        </p:cNvPr>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C02FF877-0641-6BA9-4669-B3C344C5371C}"/>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BA99A26-558A-A988-105D-1B607819EAD2}"/>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490BE4AE-51E1-F23D-5E01-550C36A58E1F}"/>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6BD34022-358F-7BF4-103B-DEFF04723690}"/>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sp>
        <p:nvSpPr>
          <p:cNvPr id="9" name="Rectangle 8">
            <a:extLst>
              <a:ext uri="{FF2B5EF4-FFF2-40B4-BE49-F238E27FC236}">
                <a16:creationId xmlns:a16="http://schemas.microsoft.com/office/drawing/2014/main" id="{7FFBCDCC-F385-6BE5-C47C-E811B1D6B91A}"/>
              </a:ext>
            </a:extLst>
          </p:cNvPr>
          <p:cNvSpPr/>
          <p:nvPr/>
        </p:nvSpPr>
        <p:spPr>
          <a:xfrm>
            <a:off x="5435601" y="324731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800B8853-BDA5-B50C-1EF7-E29BA7E2C7DB}"/>
              </a:ext>
            </a:extLst>
          </p:cNvPr>
          <p:cNvSpPr/>
          <p:nvPr/>
        </p:nvSpPr>
        <p:spPr>
          <a:xfrm>
            <a:off x="5435601" y="254627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03363EA6-E46E-7079-9388-FA10D96C40F8}"/>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5" name="TextBox 4">
            <a:extLst>
              <a:ext uri="{FF2B5EF4-FFF2-40B4-BE49-F238E27FC236}">
                <a16:creationId xmlns:a16="http://schemas.microsoft.com/office/drawing/2014/main" id="{9FE45B76-A4FD-197C-193E-BDE6F41BEF5D}"/>
              </a:ext>
            </a:extLst>
          </p:cNvPr>
          <p:cNvSpPr txBox="1"/>
          <p:nvPr/>
        </p:nvSpPr>
        <p:spPr>
          <a:xfrm>
            <a:off x="5365788" y="1227871"/>
            <a:ext cx="1550424" cy="400110"/>
          </a:xfrm>
          <a:prstGeom prst="rect">
            <a:avLst/>
          </a:prstGeom>
          <a:noFill/>
        </p:spPr>
        <p:txBody>
          <a:bodyPr wrap="none" rtlCol="0">
            <a:spAutoFit/>
          </a:bodyPr>
          <a:lstStyle/>
          <a:p>
            <a:r>
              <a:rPr lang="en-US" sz="2000" dirty="0">
                <a:latin typeface="Arial"/>
              </a:rPr>
              <a:t>IO Thread 1</a:t>
            </a:r>
          </a:p>
        </p:txBody>
      </p:sp>
      <p:sp>
        <p:nvSpPr>
          <p:cNvPr id="14" name="Rectangle 13">
            <a:extLst>
              <a:ext uri="{FF2B5EF4-FFF2-40B4-BE49-F238E27FC236}">
                <a16:creationId xmlns:a16="http://schemas.microsoft.com/office/drawing/2014/main" id="{AACE42D0-B49E-1075-74B2-E37D672E3257}"/>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cxnSp>
        <p:nvCxnSpPr>
          <p:cNvPr id="18" name="Straight Arrow Connector 17">
            <a:extLst>
              <a:ext uri="{FF2B5EF4-FFF2-40B4-BE49-F238E27FC236}">
                <a16:creationId xmlns:a16="http://schemas.microsoft.com/office/drawing/2014/main" id="{A8010A13-D1F2-8568-E7C1-4206D2347C1E}"/>
              </a:ext>
            </a:extLst>
          </p:cNvPr>
          <p:cNvCxnSpPr>
            <a:cxnSpLocks/>
          </p:cNvCxnSpPr>
          <p:nvPr/>
        </p:nvCxnSpPr>
        <p:spPr>
          <a:xfrm>
            <a:off x="2686888" y="2433234"/>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CE14C0A-DDD7-020E-D732-7D72D965BAE1}"/>
              </a:ext>
            </a:extLst>
          </p:cNvPr>
          <p:cNvCxnSpPr>
            <a:cxnSpLocks/>
          </p:cNvCxnSpPr>
          <p:nvPr/>
        </p:nvCxnSpPr>
        <p:spPr>
          <a:xfrm flipH="1">
            <a:off x="2686888" y="3843580"/>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EA3A712-269B-FB03-3C81-33BF3E14DD10}"/>
              </a:ext>
            </a:extLst>
          </p:cNvPr>
          <p:cNvSpPr/>
          <p:nvPr/>
        </p:nvSpPr>
        <p:spPr>
          <a:xfrm>
            <a:off x="2026488" y="3226149"/>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21" name="Rectangle 20">
            <a:extLst>
              <a:ext uri="{FF2B5EF4-FFF2-40B4-BE49-F238E27FC236}">
                <a16:creationId xmlns:a16="http://schemas.microsoft.com/office/drawing/2014/main" id="{78A0BA33-B2DC-8116-5CF4-BC64BE924934}"/>
              </a:ext>
            </a:extLst>
          </p:cNvPr>
          <p:cNvSpPr/>
          <p:nvPr/>
        </p:nvSpPr>
        <p:spPr>
          <a:xfrm>
            <a:off x="2026488" y="2525109"/>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27" name="Rectangle 26">
            <a:extLst>
              <a:ext uri="{FF2B5EF4-FFF2-40B4-BE49-F238E27FC236}">
                <a16:creationId xmlns:a16="http://schemas.microsoft.com/office/drawing/2014/main" id="{4CCF889B-A6A7-BDAA-C565-C4B919DFED18}"/>
              </a:ext>
            </a:extLst>
          </p:cNvPr>
          <p:cNvSpPr/>
          <p:nvPr/>
        </p:nvSpPr>
        <p:spPr>
          <a:xfrm>
            <a:off x="2026488" y="4664212"/>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28" name="Rectangle 27">
            <a:extLst>
              <a:ext uri="{FF2B5EF4-FFF2-40B4-BE49-F238E27FC236}">
                <a16:creationId xmlns:a16="http://schemas.microsoft.com/office/drawing/2014/main" id="{7FC3B82F-0A32-C7FA-F820-3506E54E853C}"/>
              </a:ext>
            </a:extLst>
          </p:cNvPr>
          <p:cNvSpPr/>
          <p:nvPr/>
        </p:nvSpPr>
        <p:spPr>
          <a:xfrm>
            <a:off x="2026488" y="5365708"/>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Tree>
    <p:extLst>
      <p:ext uri="{BB962C8B-B14F-4D97-AF65-F5344CB8AC3E}">
        <p14:creationId xmlns:p14="http://schemas.microsoft.com/office/powerpoint/2010/main" val="60199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2" presetClass="entr" presetSubtype="4" fill="hold" grpId="0" nodeType="withEffect">
                                  <p:stCondLst>
                                    <p:cond delay="200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12692A0B-57C6-94AC-122D-96ABEBEE0D0C}"/>
            </a:ext>
          </a:extLst>
        </p:cNvPr>
        <p:cNvGrpSpPr/>
        <p:nvPr/>
      </p:nvGrpSpPr>
      <p:grpSpPr>
        <a:xfrm>
          <a:off x="0" y="0"/>
          <a:ext cx="0" cy="0"/>
          <a:chOff x="0" y="0"/>
          <a:chExt cx="0" cy="0"/>
        </a:xfrm>
      </p:grpSpPr>
      <p:sp>
        <p:nvSpPr>
          <p:cNvPr id="204" name="Google Shape;204;p8">
            <a:extLst>
              <a:ext uri="{FF2B5EF4-FFF2-40B4-BE49-F238E27FC236}">
                <a16:creationId xmlns:a16="http://schemas.microsoft.com/office/drawing/2014/main" id="{144AC4FE-A0DB-D517-0B2A-582AFE05BD58}"/>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Arial"/>
              <a:buNone/>
            </a:pPr>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25237683-0AED-0A63-38B1-02EDFF087C54}"/>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cxnSp>
        <p:nvCxnSpPr>
          <p:cNvPr id="7" name="Straight Arrow Connector 6">
            <a:extLst>
              <a:ext uri="{FF2B5EF4-FFF2-40B4-BE49-F238E27FC236}">
                <a16:creationId xmlns:a16="http://schemas.microsoft.com/office/drawing/2014/main" id="{AFDA06AF-8EA9-03C3-EA98-95AD42AA7D58}"/>
              </a:ext>
            </a:extLst>
          </p:cNvPr>
          <p:cNvCxnSpPr>
            <a:cxnSpLocks/>
            <a:stCxn id="3" idx="2"/>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CCCB3F02-0A11-E1D7-1EBE-5CCD795E4661}"/>
              </a:ext>
            </a:extLst>
          </p:cNvPr>
          <p:cNvSpPr/>
          <p:nvPr/>
        </p:nvSpPr>
        <p:spPr>
          <a:xfrm>
            <a:off x="2026488" y="323713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6EC39AE8-1847-BD98-4C43-6450D6A80F07}"/>
              </a:ext>
            </a:extLst>
          </p:cNvPr>
          <p:cNvSpPr/>
          <p:nvPr/>
        </p:nvSpPr>
        <p:spPr>
          <a:xfrm>
            <a:off x="2026488" y="253609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863A29BF-0287-94DB-BF27-CF5466BCDECE}"/>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FFE1DFBD-FB4B-8412-CD1C-0AA48705984A}"/>
              </a:ext>
            </a:extLst>
          </p:cNvPr>
          <p:cNvSpPr/>
          <p:nvPr/>
        </p:nvSpPr>
        <p:spPr>
          <a:xfrm>
            <a:off x="2026488" y="463921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15" name="Rectangle 14">
            <a:extLst>
              <a:ext uri="{FF2B5EF4-FFF2-40B4-BE49-F238E27FC236}">
                <a16:creationId xmlns:a16="http://schemas.microsoft.com/office/drawing/2014/main" id="{4DA1E9BD-FFB2-662E-2130-AF7027FC3B3A}"/>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spTree>
    <p:extLst>
      <p:ext uri="{BB962C8B-B14F-4D97-AF65-F5344CB8AC3E}">
        <p14:creationId xmlns:p14="http://schemas.microsoft.com/office/powerpoint/2010/main" val="346750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5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D7E97F79-46C6-811E-D34B-C365A7C70162}"/>
            </a:ext>
          </a:extLst>
        </p:cNvPr>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F7981C78-710C-79D8-25EA-96DE2AB0938D}"/>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1635135-8F96-92A3-2F71-D2FDF4311C98}"/>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0249E35F-E488-02D0-338C-4760A01557D6}"/>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9F91FB1B-7E1C-DE36-BCC8-668E392BCAE4}"/>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sp>
        <p:nvSpPr>
          <p:cNvPr id="9" name="Rectangle 8">
            <a:extLst>
              <a:ext uri="{FF2B5EF4-FFF2-40B4-BE49-F238E27FC236}">
                <a16:creationId xmlns:a16="http://schemas.microsoft.com/office/drawing/2014/main" id="{CD65EBA5-D518-59EF-4662-F5E43023282E}"/>
              </a:ext>
            </a:extLst>
          </p:cNvPr>
          <p:cNvSpPr/>
          <p:nvPr/>
        </p:nvSpPr>
        <p:spPr>
          <a:xfrm>
            <a:off x="5435601" y="324731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24B549CF-AF68-1191-6B8E-AAD410CF8293}"/>
              </a:ext>
            </a:extLst>
          </p:cNvPr>
          <p:cNvSpPr/>
          <p:nvPr/>
        </p:nvSpPr>
        <p:spPr>
          <a:xfrm>
            <a:off x="5435601" y="254627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908AA768-AF67-E8BC-CB74-A06578674FA8}"/>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FA5F99D9-7C8A-4F8E-35F5-C0BE9D5DBF2C}"/>
              </a:ext>
            </a:extLst>
          </p:cNvPr>
          <p:cNvSpPr/>
          <p:nvPr/>
        </p:nvSpPr>
        <p:spPr>
          <a:xfrm>
            <a:off x="5435601" y="464939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5" name="TextBox 4">
            <a:extLst>
              <a:ext uri="{FF2B5EF4-FFF2-40B4-BE49-F238E27FC236}">
                <a16:creationId xmlns:a16="http://schemas.microsoft.com/office/drawing/2014/main" id="{E343D248-3ED8-8F95-1577-84D8B3B3200D}"/>
              </a:ext>
            </a:extLst>
          </p:cNvPr>
          <p:cNvSpPr txBox="1"/>
          <p:nvPr/>
        </p:nvSpPr>
        <p:spPr>
          <a:xfrm>
            <a:off x="5365788" y="1227871"/>
            <a:ext cx="1550424" cy="400110"/>
          </a:xfrm>
          <a:prstGeom prst="rect">
            <a:avLst/>
          </a:prstGeom>
          <a:noFill/>
        </p:spPr>
        <p:txBody>
          <a:bodyPr wrap="none" rtlCol="0">
            <a:spAutoFit/>
          </a:bodyPr>
          <a:lstStyle/>
          <a:p>
            <a:r>
              <a:rPr lang="en-US" sz="2000" dirty="0">
                <a:latin typeface="Arial"/>
              </a:rPr>
              <a:t>IO Thread 1</a:t>
            </a:r>
          </a:p>
        </p:txBody>
      </p:sp>
      <p:sp>
        <p:nvSpPr>
          <p:cNvPr id="14" name="Rectangle 13">
            <a:extLst>
              <a:ext uri="{FF2B5EF4-FFF2-40B4-BE49-F238E27FC236}">
                <a16:creationId xmlns:a16="http://schemas.microsoft.com/office/drawing/2014/main" id="{41D5D44D-0518-9583-1E0E-D4B67151BE74}"/>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cxnSp>
        <p:nvCxnSpPr>
          <p:cNvPr id="18" name="Straight Arrow Connector 17">
            <a:extLst>
              <a:ext uri="{FF2B5EF4-FFF2-40B4-BE49-F238E27FC236}">
                <a16:creationId xmlns:a16="http://schemas.microsoft.com/office/drawing/2014/main" id="{47909952-3B7B-E04E-F3E8-A3055BECFF2F}"/>
              </a:ext>
            </a:extLst>
          </p:cNvPr>
          <p:cNvCxnSpPr>
            <a:cxnSpLocks/>
          </p:cNvCxnSpPr>
          <p:nvPr/>
        </p:nvCxnSpPr>
        <p:spPr>
          <a:xfrm>
            <a:off x="2686888" y="2433234"/>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670D54-FFA5-EE64-0FAB-0102E678C11B}"/>
              </a:ext>
            </a:extLst>
          </p:cNvPr>
          <p:cNvCxnSpPr>
            <a:cxnSpLocks/>
          </p:cNvCxnSpPr>
          <p:nvPr/>
        </p:nvCxnSpPr>
        <p:spPr>
          <a:xfrm flipH="1">
            <a:off x="2686888" y="3843580"/>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C31E20F-D9FD-974C-305B-B51D8B82324B}"/>
              </a:ext>
            </a:extLst>
          </p:cNvPr>
          <p:cNvCxnSpPr>
            <a:cxnSpLocks/>
          </p:cNvCxnSpPr>
          <p:nvPr/>
        </p:nvCxnSpPr>
        <p:spPr>
          <a:xfrm>
            <a:off x="2686888" y="4530671"/>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DCD1772-0EAF-AB10-B0EF-BBFB1CDC7EB3}"/>
              </a:ext>
            </a:extLst>
          </p:cNvPr>
          <p:cNvCxnSpPr>
            <a:cxnSpLocks/>
          </p:cNvCxnSpPr>
          <p:nvPr/>
        </p:nvCxnSpPr>
        <p:spPr>
          <a:xfrm flipH="1">
            <a:off x="2686888" y="5230019"/>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454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506BCF67-BCA9-2474-543F-22EAAEF12A9F}"/>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1169313F-48E8-BF5D-1F21-1725A7AFE54D}"/>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49B939F-9477-245C-949D-6C868F35CFCE}"/>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67351335-8BAD-91DC-147A-141D3D89FDF3}"/>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C1610955-5162-9D7F-2AD9-BF8850B12DD2}"/>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sp>
        <p:nvSpPr>
          <p:cNvPr id="9" name="Rectangle 8">
            <a:extLst>
              <a:ext uri="{FF2B5EF4-FFF2-40B4-BE49-F238E27FC236}">
                <a16:creationId xmlns:a16="http://schemas.microsoft.com/office/drawing/2014/main" id="{E9122D66-3A2C-0D7F-EA80-ABAADD20AD68}"/>
              </a:ext>
            </a:extLst>
          </p:cNvPr>
          <p:cNvSpPr/>
          <p:nvPr/>
        </p:nvSpPr>
        <p:spPr>
          <a:xfrm>
            <a:off x="5435600" y="254289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2D1B9D47-B0DC-3606-803B-A3B4111EC1F5}"/>
              </a:ext>
            </a:extLst>
          </p:cNvPr>
          <p:cNvSpPr/>
          <p:nvPr/>
        </p:nvSpPr>
        <p:spPr>
          <a:xfrm>
            <a:off x="5435601"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EA8E4E83-11A0-CACC-0B9D-F8457F9D73D1}"/>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68A31131-E8D9-0FAB-A014-2CF73A5A0D68}"/>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5" name="TextBox 4">
            <a:extLst>
              <a:ext uri="{FF2B5EF4-FFF2-40B4-BE49-F238E27FC236}">
                <a16:creationId xmlns:a16="http://schemas.microsoft.com/office/drawing/2014/main" id="{F48D26AE-22AA-90BC-178A-3099F79677DF}"/>
              </a:ext>
            </a:extLst>
          </p:cNvPr>
          <p:cNvSpPr txBox="1"/>
          <p:nvPr/>
        </p:nvSpPr>
        <p:spPr>
          <a:xfrm>
            <a:off x="5365788" y="1227871"/>
            <a:ext cx="1550424" cy="400110"/>
          </a:xfrm>
          <a:prstGeom prst="rect">
            <a:avLst/>
          </a:prstGeom>
          <a:noFill/>
        </p:spPr>
        <p:txBody>
          <a:bodyPr wrap="none" rtlCol="0">
            <a:spAutoFit/>
          </a:bodyPr>
          <a:lstStyle/>
          <a:p>
            <a:r>
              <a:rPr lang="en-US" sz="2000" dirty="0">
                <a:latin typeface="Arial"/>
              </a:rPr>
              <a:t>IO Thread 1</a:t>
            </a:r>
          </a:p>
        </p:txBody>
      </p:sp>
      <p:sp>
        <p:nvSpPr>
          <p:cNvPr id="14" name="Rectangle 13">
            <a:extLst>
              <a:ext uri="{FF2B5EF4-FFF2-40B4-BE49-F238E27FC236}">
                <a16:creationId xmlns:a16="http://schemas.microsoft.com/office/drawing/2014/main" id="{C2374E7B-EC91-B813-A8E4-31421E5A41D5}"/>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sp>
        <p:nvSpPr>
          <p:cNvPr id="2" name="Rectangle 1">
            <a:extLst>
              <a:ext uri="{FF2B5EF4-FFF2-40B4-BE49-F238E27FC236}">
                <a16:creationId xmlns:a16="http://schemas.microsoft.com/office/drawing/2014/main" id="{CA9313AE-5D4C-08C2-E19F-26E3662D8E95}"/>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6" name="Rectangle 5">
            <a:extLst>
              <a:ext uri="{FF2B5EF4-FFF2-40B4-BE49-F238E27FC236}">
                <a16:creationId xmlns:a16="http://schemas.microsoft.com/office/drawing/2014/main" id="{BE6DD505-0AF6-DFE8-894F-1CF6D8B75D65}"/>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8" name="Rectangle 7">
            <a:extLst>
              <a:ext uri="{FF2B5EF4-FFF2-40B4-BE49-F238E27FC236}">
                <a16:creationId xmlns:a16="http://schemas.microsoft.com/office/drawing/2014/main" id="{A608CFBF-B0F5-DBFE-8C4E-984E64597028}"/>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5" name="Rectangle 14">
            <a:extLst>
              <a:ext uri="{FF2B5EF4-FFF2-40B4-BE49-F238E27FC236}">
                <a16:creationId xmlns:a16="http://schemas.microsoft.com/office/drawing/2014/main" id="{1331C0FE-9079-574B-A629-45353941DBB9}"/>
              </a:ext>
            </a:extLst>
          </p:cNvPr>
          <p:cNvSpPr/>
          <p:nvPr/>
        </p:nvSpPr>
        <p:spPr>
          <a:xfrm>
            <a:off x="5435600"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16" name="Rectangle 15">
            <a:extLst>
              <a:ext uri="{FF2B5EF4-FFF2-40B4-BE49-F238E27FC236}">
                <a16:creationId xmlns:a16="http://schemas.microsoft.com/office/drawing/2014/main" id="{E838802B-24B4-B88B-B1B4-0A483C7E4D82}"/>
              </a:ext>
            </a:extLst>
          </p:cNvPr>
          <p:cNvSpPr/>
          <p:nvPr/>
        </p:nvSpPr>
        <p:spPr>
          <a:xfrm>
            <a:off x="2026488" y="466975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7" name="Rectangle 16">
            <a:extLst>
              <a:ext uri="{FF2B5EF4-FFF2-40B4-BE49-F238E27FC236}">
                <a16:creationId xmlns:a16="http://schemas.microsoft.com/office/drawing/2014/main" id="{DA233E90-82A1-7E86-E653-A074BDCA8CF5}"/>
              </a:ext>
            </a:extLst>
          </p:cNvPr>
          <p:cNvSpPr/>
          <p:nvPr/>
        </p:nvSpPr>
        <p:spPr>
          <a:xfrm>
            <a:off x="2026489" y="396506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9" name="Rectangle 18">
            <a:extLst>
              <a:ext uri="{FF2B5EF4-FFF2-40B4-BE49-F238E27FC236}">
                <a16:creationId xmlns:a16="http://schemas.microsoft.com/office/drawing/2014/main" id="{A0220357-53E2-2B2D-226B-E87F91A57CC5}"/>
              </a:ext>
            </a:extLst>
          </p:cNvPr>
          <p:cNvSpPr/>
          <p:nvPr/>
        </p:nvSpPr>
        <p:spPr>
          <a:xfrm>
            <a:off x="2026488" y="5381209"/>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Tree>
    <p:extLst>
      <p:ext uri="{BB962C8B-B14F-4D97-AF65-F5344CB8AC3E}">
        <p14:creationId xmlns:p14="http://schemas.microsoft.com/office/powerpoint/2010/main" val="1839777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44F03354-6456-5331-82B8-A83FB8615658}"/>
            </a:ext>
          </a:extLst>
        </p:cNvPr>
        <p:cNvGrpSpPr/>
        <p:nvPr/>
      </p:nvGrpSpPr>
      <p:grpSpPr>
        <a:xfrm>
          <a:off x="0" y="0"/>
          <a:ext cx="0" cy="0"/>
          <a:chOff x="0" y="0"/>
          <a:chExt cx="0" cy="0"/>
        </a:xfrm>
      </p:grpSpPr>
      <p:cxnSp>
        <p:nvCxnSpPr>
          <p:cNvPr id="38" name="Straight Arrow Connector 37">
            <a:extLst>
              <a:ext uri="{FF2B5EF4-FFF2-40B4-BE49-F238E27FC236}">
                <a16:creationId xmlns:a16="http://schemas.microsoft.com/office/drawing/2014/main" id="{5AFC6699-5D4D-D11B-5D9B-B5455AA89130}"/>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5B49CD53-974D-14A9-6386-B62DEEAA60B5}"/>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E86F0E1-84F6-A3BA-4DF6-DB52F951FD35}"/>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C44F9162-3707-223B-1869-4077994316B5}"/>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565B1B13-196D-53AB-6D95-E2184E66ECD8}"/>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sp>
        <p:nvSpPr>
          <p:cNvPr id="12" name="Rectangle 11">
            <a:extLst>
              <a:ext uri="{FF2B5EF4-FFF2-40B4-BE49-F238E27FC236}">
                <a16:creationId xmlns:a16="http://schemas.microsoft.com/office/drawing/2014/main" id="{CF82C673-4929-FDA8-1E21-3524D7387A5E}"/>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4B7F1217-DFD6-73D1-CC97-012D5ED53A95}"/>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5" name="TextBox 4">
            <a:extLst>
              <a:ext uri="{FF2B5EF4-FFF2-40B4-BE49-F238E27FC236}">
                <a16:creationId xmlns:a16="http://schemas.microsoft.com/office/drawing/2014/main" id="{B415253F-2875-9C6D-BE6C-9F4C89236C01}"/>
              </a:ext>
            </a:extLst>
          </p:cNvPr>
          <p:cNvSpPr txBox="1"/>
          <p:nvPr/>
        </p:nvSpPr>
        <p:spPr>
          <a:xfrm>
            <a:off x="5365788" y="1227871"/>
            <a:ext cx="1550424" cy="400110"/>
          </a:xfrm>
          <a:prstGeom prst="rect">
            <a:avLst/>
          </a:prstGeom>
          <a:noFill/>
        </p:spPr>
        <p:txBody>
          <a:bodyPr wrap="none" rtlCol="0">
            <a:spAutoFit/>
          </a:bodyPr>
          <a:lstStyle/>
          <a:p>
            <a:r>
              <a:rPr lang="en-US" sz="2000" dirty="0">
                <a:latin typeface="Arial"/>
              </a:rPr>
              <a:t>IO Thread 1</a:t>
            </a:r>
          </a:p>
        </p:txBody>
      </p:sp>
      <p:sp>
        <p:nvSpPr>
          <p:cNvPr id="14" name="Rectangle 13">
            <a:extLst>
              <a:ext uri="{FF2B5EF4-FFF2-40B4-BE49-F238E27FC236}">
                <a16:creationId xmlns:a16="http://schemas.microsoft.com/office/drawing/2014/main" id="{8D3E1B0C-FF3F-2CD9-407A-006644880684}"/>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sp>
        <p:nvSpPr>
          <p:cNvPr id="2" name="Rectangle 1">
            <a:extLst>
              <a:ext uri="{FF2B5EF4-FFF2-40B4-BE49-F238E27FC236}">
                <a16:creationId xmlns:a16="http://schemas.microsoft.com/office/drawing/2014/main" id="{A9B62178-294C-03FC-7C2C-3DD8EA290C00}"/>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6" name="Rectangle 5">
            <a:extLst>
              <a:ext uri="{FF2B5EF4-FFF2-40B4-BE49-F238E27FC236}">
                <a16:creationId xmlns:a16="http://schemas.microsoft.com/office/drawing/2014/main" id="{6DB929D1-11CB-1FA4-7426-4D13FC50A504}"/>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8" name="Rectangle 7">
            <a:extLst>
              <a:ext uri="{FF2B5EF4-FFF2-40B4-BE49-F238E27FC236}">
                <a16:creationId xmlns:a16="http://schemas.microsoft.com/office/drawing/2014/main" id="{3077EF21-4435-A904-FEEE-20393EEBB2B4}"/>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29" name="Rectangle 28">
            <a:extLst>
              <a:ext uri="{FF2B5EF4-FFF2-40B4-BE49-F238E27FC236}">
                <a16:creationId xmlns:a16="http://schemas.microsoft.com/office/drawing/2014/main" id="{AEA1643A-06EA-9620-D764-DF18EAF43BAA}"/>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30" name="Rectangle 29">
            <a:extLst>
              <a:ext uri="{FF2B5EF4-FFF2-40B4-BE49-F238E27FC236}">
                <a16:creationId xmlns:a16="http://schemas.microsoft.com/office/drawing/2014/main" id="{3A6839E8-6810-3E62-B705-E82E0F606D5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31" name="Rectangle 30">
            <a:extLst>
              <a:ext uri="{FF2B5EF4-FFF2-40B4-BE49-F238E27FC236}">
                <a16:creationId xmlns:a16="http://schemas.microsoft.com/office/drawing/2014/main" id="{DF61AC68-5FF3-E1DD-C5C5-7519E5C61EB1}"/>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32" name="Rectangle 31">
            <a:extLst>
              <a:ext uri="{FF2B5EF4-FFF2-40B4-BE49-F238E27FC236}">
                <a16:creationId xmlns:a16="http://schemas.microsoft.com/office/drawing/2014/main" id="{CAD6213B-2F08-999F-070E-C373E43A5CD0}"/>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33" name="Rectangle 32">
            <a:extLst>
              <a:ext uri="{FF2B5EF4-FFF2-40B4-BE49-F238E27FC236}">
                <a16:creationId xmlns:a16="http://schemas.microsoft.com/office/drawing/2014/main" id="{B6BB9B95-515E-F789-0CBD-024CAB13BFE3}"/>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34" name="Rectangle 33">
            <a:extLst>
              <a:ext uri="{FF2B5EF4-FFF2-40B4-BE49-F238E27FC236}">
                <a16:creationId xmlns:a16="http://schemas.microsoft.com/office/drawing/2014/main" id="{64A2CE64-CBF3-29F6-88E2-7A7B61A6BBFB}"/>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35" name="TextBox 34">
            <a:extLst>
              <a:ext uri="{FF2B5EF4-FFF2-40B4-BE49-F238E27FC236}">
                <a16:creationId xmlns:a16="http://schemas.microsoft.com/office/drawing/2014/main" id="{B84721BD-8222-E5D1-66AA-8086C13ED357}"/>
              </a:ext>
            </a:extLst>
          </p:cNvPr>
          <p:cNvSpPr txBox="1"/>
          <p:nvPr/>
        </p:nvSpPr>
        <p:spPr>
          <a:xfrm>
            <a:off x="8729900" y="1243168"/>
            <a:ext cx="1550424" cy="400110"/>
          </a:xfrm>
          <a:prstGeom prst="rect">
            <a:avLst/>
          </a:prstGeom>
          <a:noFill/>
        </p:spPr>
        <p:txBody>
          <a:bodyPr wrap="none" rtlCol="0">
            <a:spAutoFit/>
          </a:bodyPr>
          <a:lstStyle/>
          <a:p>
            <a:r>
              <a:rPr lang="en-US" sz="2000" dirty="0">
                <a:latin typeface="Arial"/>
              </a:rPr>
              <a:t>IO Thread 2</a:t>
            </a:r>
          </a:p>
        </p:txBody>
      </p:sp>
    </p:spTree>
    <p:extLst>
      <p:ext uri="{BB962C8B-B14F-4D97-AF65-F5344CB8AC3E}">
        <p14:creationId xmlns:p14="http://schemas.microsoft.com/office/powerpoint/2010/main" val="2656781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6B1464FE-0A3D-8F3D-3B2B-328D94D301D5}"/>
            </a:ext>
          </a:extLst>
        </p:cNvPr>
        <p:cNvGrpSpPr/>
        <p:nvPr/>
      </p:nvGrpSpPr>
      <p:grpSpPr>
        <a:xfrm>
          <a:off x="0" y="0"/>
          <a:ext cx="0" cy="0"/>
          <a:chOff x="0" y="0"/>
          <a:chExt cx="0" cy="0"/>
        </a:xfrm>
      </p:grpSpPr>
      <p:cxnSp>
        <p:nvCxnSpPr>
          <p:cNvPr id="33" name="Straight Arrow Connector 32">
            <a:extLst>
              <a:ext uri="{FF2B5EF4-FFF2-40B4-BE49-F238E27FC236}">
                <a16:creationId xmlns:a16="http://schemas.microsoft.com/office/drawing/2014/main" id="{79A85B11-3BF7-6519-3A00-9BCCCDFF4CA3}"/>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658F49ED-A353-A4C3-F42A-9BC7361DDF3E}"/>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660186D0-A621-4ACC-3A80-EA240BE1AB42}"/>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9B468260-7137-CF1E-6E4E-6F626E58FA69}"/>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latin typeface="Arial"/>
              </a:rPr>
              <a:t>Thread scalable command processing</a:t>
            </a:r>
            <a:endParaRPr dirty="0"/>
          </a:p>
        </p:txBody>
      </p:sp>
      <p:sp>
        <p:nvSpPr>
          <p:cNvPr id="3" name="TextBox 2">
            <a:extLst>
              <a:ext uri="{FF2B5EF4-FFF2-40B4-BE49-F238E27FC236}">
                <a16:creationId xmlns:a16="http://schemas.microsoft.com/office/drawing/2014/main" id="{DF88132F-F2EA-08A5-192D-C3145A5F4C84}"/>
              </a:ext>
            </a:extLst>
          </p:cNvPr>
          <p:cNvSpPr txBox="1"/>
          <p:nvPr/>
        </p:nvSpPr>
        <p:spPr>
          <a:xfrm>
            <a:off x="1874807" y="1227871"/>
            <a:ext cx="1624163" cy="400110"/>
          </a:xfrm>
          <a:prstGeom prst="rect">
            <a:avLst/>
          </a:prstGeom>
          <a:noFill/>
        </p:spPr>
        <p:txBody>
          <a:bodyPr wrap="none" rtlCol="0">
            <a:spAutoFit/>
          </a:bodyPr>
          <a:lstStyle/>
          <a:p>
            <a:r>
              <a:rPr lang="en-US" sz="2000" dirty="0">
                <a:latin typeface="Arial"/>
              </a:rPr>
              <a:t>Main Thread</a:t>
            </a:r>
          </a:p>
        </p:txBody>
      </p:sp>
      <p:sp>
        <p:nvSpPr>
          <p:cNvPr id="9" name="Rectangle 8">
            <a:extLst>
              <a:ext uri="{FF2B5EF4-FFF2-40B4-BE49-F238E27FC236}">
                <a16:creationId xmlns:a16="http://schemas.microsoft.com/office/drawing/2014/main" id="{09396504-883C-481A-CDE9-DC176826CE59}"/>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0" name="Rectangle 9">
            <a:extLst>
              <a:ext uri="{FF2B5EF4-FFF2-40B4-BE49-F238E27FC236}">
                <a16:creationId xmlns:a16="http://schemas.microsoft.com/office/drawing/2014/main" id="{3A8C5709-BC27-4269-C836-D2A4E097180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2" name="Rectangle 11">
            <a:extLst>
              <a:ext uri="{FF2B5EF4-FFF2-40B4-BE49-F238E27FC236}">
                <a16:creationId xmlns:a16="http://schemas.microsoft.com/office/drawing/2014/main" id="{9110B780-EBCB-E8F1-F1DC-BBC30784A610}"/>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13" name="Rectangle 12">
            <a:extLst>
              <a:ext uri="{FF2B5EF4-FFF2-40B4-BE49-F238E27FC236}">
                <a16:creationId xmlns:a16="http://schemas.microsoft.com/office/drawing/2014/main" id="{E09EF20B-97FF-DA75-DA16-09952FE556A4}"/>
              </a:ext>
            </a:extLst>
          </p:cNvPr>
          <p:cNvSpPr/>
          <p:nvPr/>
        </p:nvSpPr>
        <p:spPr>
          <a:xfrm>
            <a:off x="5427707" y="3881377"/>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5" name="TextBox 4">
            <a:extLst>
              <a:ext uri="{FF2B5EF4-FFF2-40B4-BE49-F238E27FC236}">
                <a16:creationId xmlns:a16="http://schemas.microsoft.com/office/drawing/2014/main" id="{932D0EAB-8B19-BB53-ADE3-BD415BFCA520}"/>
              </a:ext>
            </a:extLst>
          </p:cNvPr>
          <p:cNvSpPr txBox="1"/>
          <p:nvPr/>
        </p:nvSpPr>
        <p:spPr>
          <a:xfrm>
            <a:off x="5365788" y="1227871"/>
            <a:ext cx="1550424" cy="400110"/>
          </a:xfrm>
          <a:prstGeom prst="rect">
            <a:avLst/>
          </a:prstGeom>
          <a:noFill/>
        </p:spPr>
        <p:txBody>
          <a:bodyPr wrap="none" rtlCol="0">
            <a:spAutoFit/>
          </a:bodyPr>
          <a:lstStyle/>
          <a:p>
            <a:r>
              <a:rPr lang="en-US" sz="2000" dirty="0">
                <a:latin typeface="Arial"/>
              </a:rPr>
              <a:t>IO Thread 1</a:t>
            </a:r>
          </a:p>
        </p:txBody>
      </p:sp>
      <p:sp>
        <p:nvSpPr>
          <p:cNvPr id="2" name="Rectangle 1">
            <a:extLst>
              <a:ext uri="{FF2B5EF4-FFF2-40B4-BE49-F238E27FC236}">
                <a16:creationId xmlns:a16="http://schemas.microsoft.com/office/drawing/2014/main" id="{239FBF1A-ECFC-D09A-1C48-983E23C1F181}"/>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6" name="Rectangle 5">
            <a:extLst>
              <a:ext uri="{FF2B5EF4-FFF2-40B4-BE49-F238E27FC236}">
                <a16:creationId xmlns:a16="http://schemas.microsoft.com/office/drawing/2014/main" id="{251733B8-8094-1B65-67A3-ACE1DE4CEA55}"/>
              </a:ext>
            </a:extLst>
          </p:cNvPr>
          <p:cNvSpPr/>
          <p:nvPr/>
        </p:nvSpPr>
        <p:spPr>
          <a:xfrm>
            <a:off x="5431653" y="318008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8" name="Rectangle 7">
            <a:extLst>
              <a:ext uri="{FF2B5EF4-FFF2-40B4-BE49-F238E27FC236}">
                <a16:creationId xmlns:a16="http://schemas.microsoft.com/office/drawing/2014/main" id="{C2542870-6FE9-386D-EAAB-9ED9B59D48BA}"/>
              </a:ext>
            </a:extLst>
          </p:cNvPr>
          <p:cNvSpPr/>
          <p:nvPr/>
        </p:nvSpPr>
        <p:spPr>
          <a:xfrm>
            <a:off x="5431654" y="2475385"/>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5" name="Rectangle 14">
            <a:extLst>
              <a:ext uri="{FF2B5EF4-FFF2-40B4-BE49-F238E27FC236}">
                <a16:creationId xmlns:a16="http://schemas.microsoft.com/office/drawing/2014/main" id="{BA8C6282-5CFA-AC02-1279-9840EA26736E}"/>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16" name="Rectangle 15">
            <a:extLst>
              <a:ext uri="{FF2B5EF4-FFF2-40B4-BE49-F238E27FC236}">
                <a16:creationId xmlns:a16="http://schemas.microsoft.com/office/drawing/2014/main" id="{78242C8E-D31D-688F-043F-F3C0F443EDBB}"/>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17" name="Rectangle 16">
            <a:extLst>
              <a:ext uri="{FF2B5EF4-FFF2-40B4-BE49-F238E27FC236}">
                <a16:creationId xmlns:a16="http://schemas.microsoft.com/office/drawing/2014/main" id="{7068AE74-8683-CB44-108C-40F4E39A2D4B}"/>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19" name="Rectangle 18">
            <a:extLst>
              <a:ext uri="{FF2B5EF4-FFF2-40B4-BE49-F238E27FC236}">
                <a16:creationId xmlns:a16="http://schemas.microsoft.com/office/drawing/2014/main" id="{D3BF260D-815A-8A80-E7AB-BFD501EEE01F}"/>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Send response</a:t>
            </a:r>
          </a:p>
        </p:txBody>
      </p:sp>
      <p:sp>
        <p:nvSpPr>
          <p:cNvPr id="18" name="TextBox 17">
            <a:extLst>
              <a:ext uri="{FF2B5EF4-FFF2-40B4-BE49-F238E27FC236}">
                <a16:creationId xmlns:a16="http://schemas.microsoft.com/office/drawing/2014/main" id="{175FA9B4-8F44-5720-1D2E-D1F5734E1CC0}"/>
              </a:ext>
            </a:extLst>
          </p:cNvPr>
          <p:cNvSpPr txBox="1"/>
          <p:nvPr/>
        </p:nvSpPr>
        <p:spPr>
          <a:xfrm>
            <a:off x="8729900" y="1243168"/>
            <a:ext cx="1550424" cy="400110"/>
          </a:xfrm>
          <a:prstGeom prst="rect">
            <a:avLst/>
          </a:prstGeom>
          <a:noFill/>
        </p:spPr>
        <p:txBody>
          <a:bodyPr wrap="none" rtlCol="0">
            <a:spAutoFit/>
          </a:bodyPr>
          <a:lstStyle/>
          <a:p>
            <a:r>
              <a:rPr lang="en-US" sz="2000" dirty="0">
                <a:latin typeface="Arial"/>
              </a:rPr>
              <a:t>IO Thread 2</a:t>
            </a:r>
          </a:p>
        </p:txBody>
      </p:sp>
      <p:sp>
        <p:nvSpPr>
          <p:cNvPr id="24" name="Rectangle 23">
            <a:extLst>
              <a:ext uri="{FF2B5EF4-FFF2-40B4-BE49-F238E27FC236}">
                <a16:creationId xmlns:a16="http://schemas.microsoft.com/office/drawing/2014/main" id="{5B6BF134-68A1-ECAF-EA9C-992FD0B12169}"/>
              </a:ext>
            </a:extLst>
          </p:cNvPr>
          <p:cNvSpPr/>
          <p:nvPr/>
        </p:nvSpPr>
        <p:spPr>
          <a:xfrm>
            <a:off x="2026488" y="3952262"/>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25" name="Rectangle 24">
            <a:extLst>
              <a:ext uri="{FF2B5EF4-FFF2-40B4-BE49-F238E27FC236}">
                <a16:creationId xmlns:a16="http://schemas.microsoft.com/office/drawing/2014/main" id="{4C41ACFD-8BF9-21EC-0623-4D74F6068B9D}"/>
              </a:ext>
            </a:extLst>
          </p:cNvPr>
          <p:cNvSpPr/>
          <p:nvPr/>
        </p:nvSpPr>
        <p:spPr>
          <a:xfrm>
            <a:off x="2026488"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26" name="Rectangle 25">
            <a:extLst>
              <a:ext uri="{FF2B5EF4-FFF2-40B4-BE49-F238E27FC236}">
                <a16:creationId xmlns:a16="http://schemas.microsoft.com/office/drawing/2014/main" id="{EDA84D00-595E-4C27-89C5-AEE4A0A8CB87}"/>
              </a:ext>
            </a:extLst>
          </p:cNvPr>
          <p:cNvSpPr/>
          <p:nvPr/>
        </p:nvSpPr>
        <p:spPr>
          <a:xfrm>
            <a:off x="2026488" y="18327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
        <p:nvSpPr>
          <p:cNvPr id="23" name="Rectangle 22">
            <a:extLst>
              <a:ext uri="{FF2B5EF4-FFF2-40B4-BE49-F238E27FC236}">
                <a16:creationId xmlns:a16="http://schemas.microsoft.com/office/drawing/2014/main" id="{93BD489A-8115-5256-B56E-326BB2117F6F}"/>
              </a:ext>
            </a:extLst>
          </p:cNvPr>
          <p:cNvSpPr/>
          <p:nvPr/>
        </p:nvSpPr>
        <p:spPr>
          <a:xfrm>
            <a:off x="5431654"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System </a:t>
            </a:r>
            <a:r>
              <a:rPr lang="en-US" dirty="0" err="1">
                <a:latin typeface="Arial"/>
              </a:rPr>
              <a:t>Epoll</a:t>
            </a:r>
            <a:endParaRPr lang="en-US" dirty="0"/>
          </a:p>
        </p:txBody>
      </p:sp>
      <p:sp>
        <p:nvSpPr>
          <p:cNvPr id="27" name="Rectangle 26">
            <a:extLst>
              <a:ext uri="{FF2B5EF4-FFF2-40B4-BE49-F238E27FC236}">
                <a16:creationId xmlns:a16="http://schemas.microsoft.com/office/drawing/2014/main" id="{5F5D34E0-5B38-C5A2-7E98-F1663860BD9D}"/>
              </a:ext>
            </a:extLst>
          </p:cNvPr>
          <p:cNvSpPr/>
          <p:nvPr/>
        </p:nvSpPr>
        <p:spPr>
          <a:xfrm>
            <a:off x="5427706" y="528397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Parse Command</a:t>
            </a:r>
          </a:p>
        </p:txBody>
      </p:sp>
      <p:sp>
        <p:nvSpPr>
          <p:cNvPr id="28" name="Rectangle 27">
            <a:extLst>
              <a:ext uri="{FF2B5EF4-FFF2-40B4-BE49-F238E27FC236}">
                <a16:creationId xmlns:a16="http://schemas.microsoft.com/office/drawing/2014/main" id="{9467B169-8FC7-C1EB-D00B-BCC8BA747260}"/>
              </a:ext>
            </a:extLst>
          </p:cNvPr>
          <p:cNvSpPr/>
          <p:nvPr/>
        </p:nvSpPr>
        <p:spPr>
          <a:xfrm>
            <a:off x="5427706" y="458267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Read Client Command</a:t>
            </a:r>
          </a:p>
        </p:txBody>
      </p:sp>
      <p:sp>
        <p:nvSpPr>
          <p:cNvPr id="36" name="Rectangle 35">
            <a:extLst>
              <a:ext uri="{FF2B5EF4-FFF2-40B4-BE49-F238E27FC236}">
                <a16:creationId xmlns:a16="http://schemas.microsoft.com/office/drawing/2014/main" id="{72DA592F-99AD-EAA3-F120-27E39DB82BE7}"/>
              </a:ext>
            </a:extLst>
          </p:cNvPr>
          <p:cNvSpPr/>
          <p:nvPr/>
        </p:nvSpPr>
        <p:spPr>
          <a:xfrm>
            <a:off x="2026488" y="536841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a:rPr>
              <a:t>Execute Command</a:t>
            </a:r>
          </a:p>
        </p:txBody>
      </p:sp>
    </p:spTree>
    <p:extLst>
      <p:ext uri="{BB962C8B-B14F-4D97-AF65-F5344CB8AC3E}">
        <p14:creationId xmlns:p14="http://schemas.microsoft.com/office/powerpoint/2010/main" val="670526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The host looks idle. The main thread is full.</a:t>
            </a:r>
          </a:p>
        </p:txBody>
      </p:sp>
      <p:sp>
        <p:nvSpPr>
          <p:cNvPr id="3" name="Rectangle 2"/>
          <p:cNvSpPr/>
          <p:nvPr/>
        </p:nvSpPr>
        <p:spPr>
          <a:xfrm>
            <a:off x="609600" y="1650000"/>
            <a:ext cx="5286400" cy="3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09600" y="1910000"/>
            <a:ext cx="4686400" cy="460000"/>
          </a:xfrm>
          <a:prstGeom prst="rect">
            <a:avLst/>
          </a:prstGeom>
          <a:noFill/>
        </p:spPr>
        <p:txBody>
          <a:bodyPr wrap="square" lIns="0" tIns="0" rIns="0" bIns="0" anchor="t">
            <a:spAutoFit/>
          </a:bodyPr>
          <a:lstStyle/>
          <a:p>
            <a:pPr algn="l"/>
            <a:r>
              <a:rPr sz="2400" b="1">
                <a:solidFill>
                  <a:schemeClr val="dk2"/>
                </a:solidFill>
                <a:latin typeface="Arial"/>
              </a:rPr>
              <a:t>host CPU</a:t>
            </a:r>
          </a:p>
        </p:txBody>
      </p:sp>
      <p:sp>
        <p:nvSpPr>
          <p:cNvPr id="5" name="TextBox 4"/>
          <p:cNvSpPr txBox="1"/>
          <p:nvPr/>
        </p:nvSpPr>
        <p:spPr>
          <a:xfrm>
            <a:off x="909600" y="2550000"/>
            <a:ext cx="4686400" cy="700000"/>
          </a:xfrm>
          <a:prstGeom prst="rect">
            <a:avLst/>
          </a:prstGeom>
          <a:noFill/>
        </p:spPr>
        <p:txBody>
          <a:bodyPr wrap="square" lIns="0" tIns="0" rIns="0" bIns="0" anchor="t">
            <a:spAutoFit/>
          </a:bodyPr>
          <a:lstStyle/>
          <a:p>
            <a:pPr algn="l"/>
            <a:r>
              <a:rPr sz="4400" b="1">
                <a:solidFill>
                  <a:schemeClr val="dk2"/>
                </a:solidFill>
                <a:latin typeface="Arial"/>
              </a:rPr>
              <a:t>200%</a:t>
            </a:r>
            <a:r>
              <a:rPr sz="1800" b="0">
                <a:solidFill>
                  <a:schemeClr val="dk2"/>
                </a:solidFill>
                <a:latin typeface="Arial"/>
              </a:rPr>
              <a:t> of 400%</a:t>
            </a:r>
          </a:p>
        </p:txBody>
      </p:sp>
      <p:sp>
        <p:nvSpPr>
          <p:cNvPr id="6" name="TextBox 5"/>
          <p:cNvSpPr txBox="1"/>
          <p:nvPr/>
        </p:nvSpPr>
        <p:spPr>
          <a:xfrm>
            <a:off x="909600" y="3510000"/>
            <a:ext cx="1400000" cy="340000"/>
          </a:xfrm>
          <a:prstGeom prst="rect">
            <a:avLst/>
          </a:prstGeom>
          <a:noFill/>
        </p:spPr>
        <p:txBody>
          <a:bodyPr wrap="square" lIns="0" tIns="0" rIns="0" bIns="0" anchor="ctr">
            <a:spAutoFit/>
          </a:bodyPr>
          <a:lstStyle/>
          <a:p>
            <a:pPr algn="l"/>
            <a:r>
              <a:rPr sz="1100" b="0">
                <a:solidFill>
                  <a:schemeClr val="dk2"/>
                </a:solidFill>
                <a:latin typeface="Arial"/>
              </a:rPr>
              <a:t>4 cores pinned</a:t>
            </a:r>
          </a:p>
        </p:txBody>
      </p:sp>
      <p:sp>
        <p:nvSpPr>
          <p:cNvPr id="7" name="Rectangle 6"/>
          <p:cNvSpPr/>
          <p:nvPr/>
        </p:nvSpPr>
        <p:spPr>
          <a:xfrm>
            <a:off x="2409600" y="3550000"/>
            <a:ext cx="222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2409600" y="3550000"/>
            <a:ext cx="111320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796000" y="3510000"/>
            <a:ext cx="800000" cy="340000"/>
          </a:xfrm>
          <a:prstGeom prst="rect">
            <a:avLst/>
          </a:prstGeom>
          <a:noFill/>
        </p:spPr>
        <p:txBody>
          <a:bodyPr wrap="square" lIns="0" tIns="0" rIns="0" bIns="0" anchor="ctr">
            <a:spAutoFit/>
          </a:bodyPr>
          <a:lstStyle/>
          <a:p>
            <a:pPr algn="r"/>
            <a:r>
              <a:rPr sz="1100" b="0">
                <a:solidFill>
                  <a:schemeClr val="dk2"/>
                </a:solidFill>
                <a:latin typeface="Arial"/>
              </a:rPr>
              <a:t>200%</a:t>
            </a:r>
          </a:p>
        </p:txBody>
      </p:sp>
      <p:sp>
        <p:nvSpPr>
          <p:cNvPr id="11" name="Rectangle 10"/>
          <p:cNvSpPr/>
          <p:nvPr/>
        </p:nvSpPr>
        <p:spPr>
          <a:xfrm>
            <a:off x="6296000" y="1650000"/>
            <a:ext cx="5286400" cy="3400000"/>
          </a:xfrm>
          <a:prstGeom prst="rect">
            <a:avLst/>
          </a:prstGeom>
          <a:noFill/>
          <a:ln w="9525">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96000" y="1910000"/>
            <a:ext cx="4686400" cy="460000"/>
          </a:xfrm>
          <a:prstGeom prst="rect">
            <a:avLst/>
          </a:prstGeom>
          <a:noFill/>
        </p:spPr>
        <p:txBody>
          <a:bodyPr wrap="square" lIns="0" tIns="0" rIns="0" bIns="0" anchor="t">
            <a:spAutoFit/>
          </a:bodyPr>
          <a:lstStyle/>
          <a:p>
            <a:pPr algn="l"/>
            <a:r>
              <a:rPr sz="2000" b="1">
                <a:solidFill>
                  <a:schemeClr val="accent1"/>
                </a:solidFill>
                <a:latin typeface="Arial"/>
              </a:rPr>
              <a:t>used_active_main_thread</a:t>
            </a:r>
          </a:p>
        </p:txBody>
      </p:sp>
      <p:sp>
        <p:nvSpPr>
          <p:cNvPr id="13" name="TextBox 12"/>
          <p:cNvSpPr txBox="1"/>
          <p:nvPr/>
        </p:nvSpPr>
        <p:spPr>
          <a:xfrm>
            <a:off x="65960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main thread</a:t>
            </a:r>
          </a:p>
        </p:txBody>
      </p:sp>
      <p:sp>
        <p:nvSpPr>
          <p:cNvPr id="14" name="Rectangle 13"/>
          <p:cNvSpPr/>
          <p:nvPr/>
        </p:nvSpPr>
        <p:spPr>
          <a:xfrm>
            <a:off x="7546000" y="255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546000" y="2550000"/>
            <a:ext cx="2748636"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482400" y="2510000"/>
            <a:ext cx="800000" cy="340000"/>
          </a:xfrm>
          <a:prstGeom prst="rect">
            <a:avLst/>
          </a:prstGeom>
          <a:noFill/>
        </p:spPr>
        <p:txBody>
          <a:bodyPr wrap="square" lIns="0" tIns="0" rIns="0" bIns="0" anchor="ctr">
            <a:spAutoFit/>
          </a:bodyPr>
          <a:lstStyle/>
          <a:p>
            <a:pPr algn="r"/>
            <a:r>
              <a:rPr sz="1100" b="1">
                <a:solidFill>
                  <a:schemeClr val="dk1"/>
                </a:solidFill>
                <a:latin typeface="Arial"/>
              </a:rPr>
              <a:t>99%</a:t>
            </a:r>
          </a:p>
        </p:txBody>
      </p:sp>
      <p:sp>
        <p:nvSpPr>
          <p:cNvPr id="17" name="TextBox 16"/>
          <p:cNvSpPr txBox="1"/>
          <p:nvPr/>
        </p:nvSpPr>
        <p:spPr>
          <a:xfrm>
            <a:off x="65960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1</a:t>
            </a:r>
          </a:p>
        </p:txBody>
      </p:sp>
      <p:sp>
        <p:nvSpPr>
          <p:cNvPr id="18" name="Rectangle 17"/>
          <p:cNvSpPr/>
          <p:nvPr/>
        </p:nvSpPr>
        <p:spPr>
          <a:xfrm>
            <a:off x="7546000" y="306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46000" y="3060000"/>
            <a:ext cx="999504"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482400" y="3020000"/>
            <a:ext cx="800000" cy="340000"/>
          </a:xfrm>
          <a:prstGeom prst="rect">
            <a:avLst/>
          </a:prstGeom>
          <a:noFill/>
        </p:spPr>
        <p:txBody>
          <a:bodyPr wrap="square" lIns="0" tIns="0" rIns="0" bIns="0" anchor="ctr">
            <a:spAutoFit/>
          </a:bodyPr>
          <a:lstStyle/>
          <a:p>
            <a:pPr algn="r"/>
            <a:r>
              <a:rPr sz="1100" b="0">
                <a:solidFill>
                  <a:schemeClr val="dk2"/>
                </a:solidFill>
                <a:latin typeface="Arial"/>
              </a:rPr>
              <a:t>36%</a:t>
            </a:r>
          </a:p>
        </p:txBody>
      </p:sp>
      <p:sp>
        <p:nvSpPr>
          <p:cNvPr id="21" name="TextBox 20"/>
          <p:cNvSpPr txBox="1"/>
          <p:nvPr/>
        </p:nvSpPr>
        <p:spPr>
          <a:xfrm>
            <a:off x="65960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2</a:t>
            </a:r>
          </a:p>
        </p:txBody>
      </p:sp>
      <p:sp>
        <p:nvSpPr>
          <p:cNvPr id="22" name="Rectangle 21"/>
          <p:cNvSpPr/>
          <p:nvPr/>
        </p:nvSpPr>
        <p:spPr>
          <a:xfrm>
            <a:off x="7546000" y="357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546000" y="3570000"/>
            <a:ext cx="943976"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482400" y="3530000"/>
            <a:ext cx="800000" cy="340000"/>
          </a:xfrm>
          <a:prstGeom prst="rect">
            <a:avLst/>
          </a:prstGeom>
          <a:noFill/>
        </p:spPr>
        <p:txBody>
          <a:bodyPr wrap="square" lIns="0" tIns="0" rIns="0" bIns="0" anchor="ctr">
            <a:spAutoFit/>
          </a:bodyPr>
          <a:lstStyle/>
          <a:p>
            <a:pPr algn="r"/>
            <a:r>
              <a:rPr sz="1100" b="0">
                <a:solidFill>
                  <a:schemeClr val="dk2"/>
                </a:solidFill>
                <a:latin typeface="Arial"/>
              </a:rPr>
              <a:t>34%</a:t>
            </a:r>
          </a:p>
        </p:txBody>
      </p:sp>
      <p:sp>
        <p:nvSpPr>
          <p:cNvPr id="25" name="TextBox 24"/>
          <p:cNvSpPr txBox="1"/>
          <p:nvPr/>
        </p:nvSpPr>
        <p:spPr>
          <a:xfrm>
            <a:off x="65960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3</a:t>
            </a:r>
          </a:p>
        </p:txBody>
      </p:sp>
      <p:sp>
        <p:nvSpPr>
          <p:cNvPr id="26" name="Rectangle 25"/>
          <p:cNvSpPr/>
          <p:nvPr/>
        </p:nvSpPr>
        <p:spPr>
          <a:xfrm>
            <a:off x="7546000" y="408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7546000" y="4080000"/>
            <a:ext cx="860684"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482400" y="4040000"/>
            <a:ext cx="800000" cy="340000"/>
          </a:xfrm>
          <a:prstGeom prst="rect">
            <a:avLst/>
          </a:prstGeom>
          <a:noFill/>
        </p:spPr>
        <p:txBody>
          <a:bodyPr wrap="square" lIns="0" tIns="0" rIns="0" bIns="0" anchor="ctr">
            <a:spAutoFit/>
          </a:bodyPr>
          <a:lstStyle/>
          <a:p>
            <a:pPr algn="r"/>
            <a:r>
              <a:rPr sz="1100" b="0">
                <a:solidFill>
                  <a:schemeClr val="dk2"/>
                </a:solidFill>
                <a:latin typeface="Arial"/>
              </a:rPr>
              <a:t>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0618D-2374-23B7-9E27-AB2C76250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FD6D2-FDEC-406C-47D6-7D97490A5632}"/>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Latency is (still) a cliff though</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859EC98-C70D-169F-BF79-3A37E7B4A055}"/>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7" name="Chart 0">
            <a:extLst>
              <a:ext uri="{FF2B5EF4-FFF2-40B4-BE49-F238E27FC236}">
                <a16:creationId xmlns:a16="http://schemas.microsoft.com/office/drawing/2014/main" id="{A914499E-27BD-81CE-16A0-045CE916B4EA}"/>
              </a:ext>
            </a:extLst>
          </p:cNvPr>
          <p:cNvGraphicFramePr/>
          <p:nvPr/>
        </p:nvGraphicFramePr>
        <p:xfrm>
          <a:off x="1478280" y="1171448"/>
          <a:ext cx="9235440" cy="4515104"/>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609600" y="5943597"/>
            <a:ext cx="11062800" cy="300000"/>
          </a:xfrm>
          <a:prstGeom prst="rect">
            <a:avLst/>
          </a:prstGeom>
          <a:noFill/>
        </p:spPr>
        <p:txBody>
          <a:bodyPr wrap="square" lIns="0" tIns="0" rIns="0" bIns="0" anchor="t">
            <a:spAutoFit/>
          </a:bodyPr>
          <a:lstStyle/>
          <a:p>
            <a:pPr algn="l"/>
            <a:r>
              <a:rPr sz="1200" b="0">
                <a:solidFill>
                  <a:schemeClr val="dk2"/>
                </a:solidFill>
                <a:latin typeface="Arial"/>
              </a:rPr>
              <a:t>* Latency capped at 5ms</a:t>
            </a:r>
          </a:p>
        </p:txBody>
      </p:sp>
    </p:spTree>
    <p:extLst>
      <p:ext uri="{BB962C8B-B14F-4D97-AF65-F5344CB8AC3E}">
        <p14:creationId xmlns:p14="http://schemas.microsoft.com/office/powerpoint/2010/main" val="92017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071D-27CA-5192-6F8B-1C118DAD8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FA69B-6E15-B8BC-A8D0-1A474CCE8FD7}"/>
              </a:ext>
            </a:extLst>
          </p:cNvPr>
          <p:cNvSpPr>
            <a:spLocks noGrp="1"/>
          </p:cNvSpPr>
          <p:nvPr>
            <p:ph type="title"/>
          </p:nvPr>
        </p:nvSpPr>
        <p:spPr>
          <a:xfrm>
            <a:off x="609600" y="400019"/>
            <a:ext cx="11062800" cy="443198"/>
          </a:xfrm>
        </p:spPr>
        <p:txBody>
          <a:bodyPr/>
          <a:lstStyle/>
          <a:p>
            <a:r>
              <a:rPr lang="en-US" dirty="0">
                <a:latin typeface="Arial"/>
              </a:rPr>
              <a:t>Adapt the requirements to the workload</a:t>
            </a:r>
            <a:endParaRPr dirty="0"/>
          </a:p>
        </p:txBody>
      </p:sp>
      <p:sp>
        <p:nvSpPr>
          <p:cNvPr id="5" name="TextBox 4">
            <a:extLst>
              <a:ext uri="{FF2B5EF4-FFF2-40B4-BE49-F238E27FC236}">
                <a16:creationId xmlns:a16="http://schemas.microsoft.com/office/drawing/2014/main" id="{EDC8496E-8723-8E9E-A62D-DBF15B6D16ED}"/>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114F82E9-1D20-961A-E217-B1EE8E9280F8}"/>
              </a:ext>
            </a:extLst>
          </p:cNvPr>
          <p:cNvGraphicFramePr>
            <a:graphicFrameLocks noGrp="1"/>
          </p:cNvGraphicFramePr>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5554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72F2E-376C-7709-530D-B45C6E417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AEE63-0150-6443-01EE-6633A11C3C2E}"/>
              </a:ext>
            </a:extLst>
          </p:cNvPr>
          <p:cNvSpPr>
            <a:spLocks noGrp="1"/>
          </p:cNvSpPr>
          <p:nvPr>
            <p:ph type="title"/>
          </p:nvPr>
        </p:nvSpPr>
        <p:spPr/>
        <p:txBody>
          <a:bodyPr/>
          <a:lstStyle/>
          <a:p>
            <a:r>
              <a:rPr dirty="0">
                <a:latin typeface="Arial"/>
              </a:rPr>
              <a:t>Up: about 8x, and then it stops</a:t>
            </a:r>
          </a:p>
        </p:txBody>
      </p:sp>
      <p:sp>
        <p:nvSpPr>
          <p:cNvPr id="3" name="Rectangle 2">
            <a:extLst>
              <a:ext uri="{FF2B5EF4-FFF2-40B4-BE49-F238E27FC236}">
                <a16:creationId xmlns:a16="http://schemas.microsoft.com/office/drawing/2014/main" id="{F6148A59-280B-CFD9-ABB6-3D42C1E90C0F}"/>
              </a:ext>
            </a:extLst>
          </p:cNvPr>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5FF6E3-6377-A1D1-37D5-833AAF7FCC75}"/>
              </a:ext>
            </a:extLst>
          </p:cNvPr>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a:extLst>
              <a:ext uri="{FF2B5EF4-FFF2-40B4-BE49-F238E27FC236}">
                <a16:creationId xmlns:a16="http://schemas.microsoft.com/office/drawing/2014/main" id="{3717E9D1-4E4F-61A3-88B3-F90F1C684F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a:extLst>
              <a:ext uri="{FF2B5EF4-FFF2-40B4-BE49-F238E27FC236}">
                <a16:creationId xmlns:a16="http://schemas.microsoft.com/office/drawing/2014/main" id="{A2CF31EE-97D2-08A4-CBEB-93F2ED38F256}"/>
              </a:ext>
            </a:extLst>
          </p:cNvPr>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Vertical Scaling</a:t>
            </a:r>
            <a:endParaRPr sz="2600" b="1" dirty="0">
              <a:solidFill>
                <a:schemeClr val="dk1"/>
              </a:solidFill>
            </a:endParaRPr>
          </a:p>
        </p:txBody>
      </p:sp>
      <p:sp>
        <p:nvSpPr>
          <p:cNvPr id="1012" name="TextBox 1011">
            <a:extLst>
              <a:ext uri="{FF2B5EF4-FFF2-40B4-BE49-F238E27FC236}">
                <a16:creationId xmlns:a16="http://schemas.microsoft.com/office/drawing/2014/main" id="{77C2FD6B-1EA9-563B-1F62-7F8474FA215D}"/>
              </a:ext>
            </a:extLst>
          </p:cNvPr>
          <p:cNvSpPr txBox="1"/>
          <p:nvPr/>
        </p:nvSpPr>
        <p:spPr>
          <a:xfrm>
            <a:off x="792480" y="3382233"/>
            <a:ext cx="4649315" cy="1443344"/>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latin typeface="Arial"/>
              </a:rPr>
              <a:t>Add more cores to handle incoming requests</a:t>
            </a:r>
          </a:p>
          <a:p>
            <a:pPr marL="285750" indent="-285750" algn="l">
              <a:lnSpc>
                <a:spcPct val="120000"/>
              </a:lnSpc>
              <a:buFont typeface="Arial" panose="020B0604020202020204" pitchFamily="34" charset="0"/>
              <a:buChar char="•"/>
            </a:pPr>
            <a:r>
              <a:rPr lang="en-US" sz="2000" b="0" strike="sngStrike" dirty="0">
                <a:solidFill>
                  <a:schemeClr val="dk2"/>
                </a:solidFill>
                <a:latin typeface="Arial"/>
              </a:rPr>
              <a:t>Limited with IO threading </a:t>
            </a:r>
            <a:r>
              <a:rPr lang="en-US" sz="2000" b="0" dirty="0">
                <a:solidFill>
                  <a:schemeClr val="dk2"/>
                </a:solidFill>
                <a:latin typeface="Arial"/>
              </a:rPr>
              <a:t>Provides about 8x throughput scaling</a:t>
            </a:r>
            <a:endParaRPr lang="en-US" sz="2000" b="0" strike="sngStrike" dirty="0">
              <a:solidFill>
                <a:schemeClr val="dk2"/>
              </a:solidFill>
            </a:endParaRPr>
          </a:p>
        </p:txBody>
      </p:sp>
      <p:sp>
        <p:nvSpPr>
          <p:cNvPr id="1013" name="Rectangle 1012">
            <a:extLst>
              <a:ext uri="{FF2B5EF4-FFF2-40B4-BE49-F238E27FC236}">
                <a16:creationId xmlns:a16="http://schemas.microsoft.com/office/drawing/2014/main" id="{312160D9-2552-72C1-ED01-EB003D96848F}"/>
              </a:ext>
            </a:extLst>
          </p:cNvPr>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Rectangle 1013">
            <a:extLst>
              <a:ext uri="{FF2B5EF4-FFF2-40B4-BE49-F238E27FC236}">
                <a16:creationId xmlns:a16="http://schemas.microsoft.com/office/drawing/2014/main" id="{7684EC5B-49D8-DE01-433F-D000B71E3B15}"/>
              </a:ext>
            </a:extLst>
          </p:cNvPr>
          <p:cNvSpPr/>
          <p:nvPr/>
        </p:nvSpPr>
        <p:spPr>
          <a:xfrm>
            <a:off x="6241000" y="1445931"/>
            <a:ext cx="5431400" cy="73152"/>
          </a:xfrm>
          <a:prstGeom prst="rect">
            <a:avLst/>
          </a:prstGeom>
          <a:solidFill>
            <a:srgbClr val="69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a:extLst>
              <a:ext uri="{FF2B5EF4-FFF2-40B4-BE49-F238E27FC236}">
                <a16:creationId xmlns:a16="http://schemas.microsoft.com/office/drawing/2014/main" id="{03A7B612-0E66-4742-5FCF-5728EB7133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a:extLst>
              <a:ext uri="{FF2B5EF4-FFF2-40B4-BE49-F238E27FC236}">
                <a16:creationId xmlns:a16="http://schemas.microsoft.com/office/drawing/2014/main" id="{A8539C6D-792D-9A32-913B-6AF3E203D7EA}"/>
              </a:ext>
            </a:extLst>
          </p:cNvPr>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Horizontal Scaling</a:t>
            </a:r>
            <a:endParaRPr sz="2600" b="1" dirty="0">
              <a:solidFill>
                <a:schemeClr val="dk1"/>
              </a:solidFill>
            </a:endParaRPr>
          </a:p>
        </p:txBody>
      </p:sp>
      <p:sp>
        <p:nvSpPr>
          <p:cNvPr id="1016" name="TextBox 1015">
            <a:extLst>
              <a:ext uri="{FF2B5EF4-FFF2-40B4-BE49-F238E27FC236}">
                <a16:creationId xmlns:a16="http://schemas.microsoft.com/office/drawing/2014/main" id="{9993FAA2-A568-E9A5-22E0-383B7CD5218A}"/>
              </a:ext>
            </a:extLst>
          </p:cNvPr>
          <p:cNvSpPr txBox="1"/>
          <p:nvPr/>
        </p:nvSpPr>
        <p:spPr>
          <a:xfrm>
            <a:off x="6423880" y="3382233"/>
            <a:ext cx="5065640" cy="1074012"/>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latin typeface="Arial"/>
              </a:rPr>
              <a:t>Add more hosts to parallelize requests</a:t>
            </a:r>
          </a:p>
          <a:p>
            <a:pPr marL="285750" indent="-285750">
              <a:lnSpc>
                <a:spcPct val="120000"/>
              </a:lnSpc>
              <a:buFont typeface="Arial" panose="020B0604020202020204" pitchFamily="34" charset="0"/>
              <a:buChar char="•"/>
            </a:pPr>
            <a:r>
              <a:rPr lang="en-US" sz="2000" dirty="0">
                <a:solidFill>
                  <a:schemeClr val="dk2"/>
                </a:solidFill>
                <a:latin typeface="Arial"/>
              </a:rPr>
              <a:t>No cross-shard transactions</a:t>
            </a:r>
          </a:p>
          <a:p>
            <a:pPr marL="285750" indent="-285750">
              <a:lnSpc>
                <a:spcPct val="120000"/>
              </a:lnSpc>
              <a:buFont typeface="Arial" panose="020B0604020202020204" pitchFamily="34" charset="0"/>
              <a:buChar char="•"/>
            </a:pPr>
            <a:r>
              <a:rPr lang="en-US" sz="2000" dirty="0">
                <a:solidFill>
                  <a:schemeClr val="dk2"/>
                </a:solidFill>
                <a:latin typeface="Arial"/>
              </a:rPr>
              <a:t>Slow and dangerous to scale</a:t>
            </a:r>
            <a:endParaRPr lang="en-US" sz="2000" strike="sngStrike" dirty="0">
              <a:solidFill>
                <a:schemeClr val="dk2"/>
              </a:solidFill>
            </a:endParaRPr>
          </a:p>
        </p:txBody>
      </p:sp>
    </p:spTree>
    <p:extLst>
      <p:ext uri="{BB962C8B-B14F-4D97-AF65-F5344CB8AC3E}">
        <p14:creationId xmlns:p14="http://schemas.microsoft.com/office/powerpoint/2010/main" val="909730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Clustering</a:t>
            </a:r>
          </a:p>
        </p:txBody>
      </p:sp>
      <p:sp>
        <p:nvSpPr>
          <p:cNvPr id="3" name="TextBox 2"/>
          <p:cNvSpPr txBox="1"/>
          <p:nvPr/>
        </p:nvSpPr>
        <p:spPr>
          <a:xfrm>
            <a:off x="609600" y="1450000"/>
            <a:ext cx="3390933" cy="320000"/>
          </a:xfrm>
          <a:prstGeom prst="rect">
            <a:avLst/>
          </a:prstGeom>
          <a:noFill/>
        </p:spPr>
        <p:txBody>
          <a:bodyPr wrap="square" lIns="0" tIns="0" rIns="0" bIns="0" anchor="t">
            <a:spAutoFit/>
          </a:bodyPr>
          <a:lstStyle/>
          <a:p>
            <a:pPr algn="ctr"/>
            <a:r>
              <a:rPr sz="1200" b="1">
                <a:solidFill>
                  <a:schemeClr val="dk2"/>
                </a:solidFill>
                <a:latin typeface="Arial"/>
              </a:rPr>
              <a:t>slots 0 – 5460</a:t>
            </a:r>
          </a:p>
        </p:txBody>
      </p:sp>
      <p:sp>
        <p:nvSpPr>
          <p:cNvPr id="4" name="Rectangle 3"/>
          <p:cNvSpPr/>
          <p:nvPr/>
        </p:nvSpPr>
        <p:spPr>
          <a:xfrm>
            <a:off x="609600"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609600"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09600" y="2170000"/>
            <a:ext cx="3390933" cy="300000"/>
          </a:xfrm>
          <a:prstGeom prst="rect">
            <a:avLst/>
          </a:prstGeom>
          <a:noFill/>
        </p:spPr>
        <p:txBody>
          <a:bodyPr wrap="square" lIns="0" tIns="0" rIns="0" bIns="0" anchor="t">
            <a:spAutoFit/>
          </a:bodyPr>
          <a:lstStyle/>
          <a:p>
            <a:pPr algn="ctr"/>
            <a:r>
              <a:rPr sz="1600" b="1">
                <a:solidFill>
                  <a:schemeClr val="dk1"/>
                </a:solidFill>
                <a:latin typeface="Arial"/>
              </a:rPr>
              <a:t>Primary</a:t>
            </a:r>
          </a:p>
        </p:txBody>
      </p:sp>
      <p:sp>
        <p:nvSpPr>
          <p:cNvPr id="7" name="TextBox 6"/>
          <p:cNvSpPr txBox="1"/>
          <p:nvPr/>
        </p:nvSpPr>
        <p:spPr>
          <a:xfrm>
            <a:off x="609600" y="2490000"/>
            <a:ext cx="3390933" cy="260000"/>
          </a:xfrm>
          <a:prstGeom prst="rect">
            <a:avLst/>
          </a:prstGeom>
          <a:noFill/>
        </p:spPr>
        <p:txBody>
          <a:bodyPr wrap="square" lIns="0" tIns="0" rIns="0" bIns="0" anchor="t">
            <a:spAutoFit/>
          </a:bodyPr>
          <a:lstStyle/>
          <a:p>
            <a:pPr algn="ctr"/>
            <a:r>
              <a:rPr sz="1100" b="0">
                <a:solidFill>
                  <a:schemeClr val="dk2"/>
                </a:solidFill>
                <a:latin typeface="Arial"/>
              </a:rPr>
              <a:t>shard 1</a:t>
            </a:r>
          </a:p>
        </p:txBody>
      </p:sp>
      <p:sp>
        <p:nvSpPr>
          <p:cNvPr id="8" name="Rectangle 7"/>
          <p:cNvSpPr/>
          <p:nvPr/>
        </p:nvSpPr>
        <p:spPr>
          <a:xfrm>
            <a:off x="609600"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609600"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09600" y="3670000"/>
            <a:ext cx="3390933" cy="300000"/>
          </a:xfrm>
          <a:prstGeom prst="rect">
            <a:avLst/>
          </a:prstGeom>
          <a:noFill/>
        </p:spPr>
        <p:txBody>
          <a:bodyPr wrap="square" lIns="0" tIns="0" rIns="0" bIns="0" anchor="t">
            <a:spAutoFit/>
          </a:bodyPr>
          <a:lstStyle/>
          <a:p>
            <a:pPr algn="ctr"/>
            <a:r>
              <a:rPr sz="1600" b="1">
                <a:solidFill>
                  <a:schemeClr val="dk1"/>
                </a:solidFill>
                <a:latin typeface="Arial"/>
              </a:rPr>
              <a:t>Replica</a:t>
            </a:r>
          </a:p>
        </p:txBody>
      </p:sp>
      <p:sp>
        <p:nvSpPr>
          <p:cNvPr id="11" name="TextBox 10"/>
          <p:cNvSpPr txBox="1"/>
          <p:nvPr/>
        </p:nvSpPr>
        <p:spPr>
          <a:xfrm>
            <a:off x="609600" y="3990000"/>
            <a:ext cx="3390933" cy="260000"/>
          </a:xfrm>
          <a:prstGeom prst="rect">
            <a:avLst/>
          </a:prstGeom>
          <a:noFill/>
        </p:spPr>
        <p:txBody>
          <a:bodyPr wrap="square" lIns="0" tIns="0" rIns="0" bIns="0" anchor="t">
            <a:spAutoFit/>
          </a:bodyPr>
          <a:lstStyle/>
          <a:p>
            <a:pPr algn="ctr"/>
            <a:r>
              <a:rPr sz="1100" b="0">
                <a:solidFill>
                  <a:schemeClr val="dk2"/>
                </a:solidFill>
                <a:latin typeface="Arial"/>
              </a:rPr>
              <a:t>read + failover</a:t>
            </a:r>
          </a:p>
        </p:txBody>
      </p:sp>
      <p:cxnSp>
        <p:nvCxnSpPr>
          <p:cNvPr id="12" name="Connector 11"/>
          <p:cNvCxnSpPr/>
          <p:nvPr/>
        </p:nvCxnSpPr>
        <p:spPr>
          <a:xfrm>
            <a:off x="2305066"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60533" y="2470000"/>
            <a:ext cx="280000" cy="0"/>
          </a:xfrm>
          <a:prstGeom prst="line">
            <a:avLst/>
          </a:prstGeom>
          <a:ln w="15875">
            <a:solidFill>
              <a:schemeClr val="dk2"/>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00533" y="1450000"/>
            <a:ext cx="3390933" cy="320000"/>
          </a:xfrm>
          <a:prstGeom prst="rect">
            <a:avLst/>
          </a:prstGeom>
          <a:noFill/>
        </p:spPr>
        <p:txBody>
          <a:bodyPr wrap="square" lIns="0" tIns="0" rIns="0" bIns="0" anchor="t">
            <a:spAutoFit/>
          </a:bodyPr>
          <a:lstStyle/>
          <a:p>
            <a:pPr algn="ctr"/>
            <a:r>
              <a:rPr sz="1200" b="1">
                <a:solidFill>
                  <a:schemeClr val="dk2"/>
                </a:solidFill>
                <a:latin typeface="Arial"/>
              </a:rPr>
              <a:t>slots 5461 – 10922</a:t>
            </a:r>
          </a:p>
        </p:txBody>
      </p:sp>
      <p:sp>
        <p:nvSpPr>
          <p:cNvPr id="15" name="Rectangle 14"/>
          <p:cNvSpPr/>
          <p:nvPr/>
        </p:nvSpPr>
        <p:spPr>
          <a:xfrm>
            <a:off x="4400533"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400533"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00533" y="2170000"/>
            <a:ext cx="3390933" cy="300000"/>
          </a:xfrm>
          <a:prstGeom prst="rect">
            <a:avLst/>
          </a:prstGeom>
          <a:noFill/>
        </p:spPr>
        <p:txBody>
          <a:bodyPr wrap="square" lIns="0" tIns="0" rIns="0" bIns="0" anchor="t">
            <a:spAutoFit/>
          </a:bodyPr>
          <a:lstStyle/>
          <a:p>
            <a:pPr algn="ctr"/>
            <a:r>
              <a:rPr sz="1600" b="1">
                <a:solidFill>
                  <a:schemeClr val="dk1"/>
                </a:solidFill>
                <a:latin typeface="Arial"/>
              </a:rPr>
              <a:t>Primary</a:t>
            </a:r>
          </a:p>
        </p:txBody>
      </p:sp>
      <p:sp>
        <p:nvSpPr>
          <p:cNvPr id="18" name="TextBox 17"/>
          <p:cNvSpPr txBox="1"/>
          <p:nvPr/>
        </p:nvSpPr>
        <p:spPr>
          <a:xfrm>
            <a:off x="4400533" y="2490000"/>
            <a:ext cx="3390933" cy="260000"/>
          </a:xfrm>
          <a:prstGeom prst="rect">
            <a:avLst/>
          </a:prstGeom>
          <a:noFill/>
        </p:spPr>
        <p:txBody>
          <a:bodyPr wrap="square" lIns="0" tIns="0" rIns="0" bIns="0" anchor="t">
            <a:spAutoFit/>
          </a:bodyPr>
          <a:lstStyle/>
          <a:p>
            <a:pPr algn="ctr"/>
            <a:r>
              <a:rPr sz="1100" b="0">
                <a:solidFill>
                  <a:schemeClr val="dk2"/>
                </a:solidFill>
                <a:latin typeface="Arial"/>
              </a:rPr>
              <a:t>shard 2</a:t>
            </a:r>
          </a:p>
        </p:txBody>
      </p:sp>
      <p:sp>
        <p:nvSpPr>
          <p:cNvPr id="19" name="Rectangle 18"/>
          <p:cNvSpPr/>
          <p:nvPr/>
        </p:nvSpPr>
        <p:spPr>
          <a:xfrm>
            <a:off x="4400533"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4400533"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00533" y="3670000"/>
            <a:ext cx="3390933" cy="300000"/>
          </a:xfrm>
          <a:prstGeom prst="rect">
            <a:avLst/>
          </a:prstGeom>
          <a:noFill/>
        </p:spPr>
        <p:txBody>
          <a:bodyPr wrap="square" lIns="0" tIns="0" rIns="0" bIns="0" anchor="t">
            <a:spAutoFit/>
          </a:bodyPr>
          <a:lstStyle/>
          <a:p>
            <a:pPr algn="ctr"/>
            <a:r>
              <a:rPr sz="1600" b="1">
                <a:solidFill>
                  <a:schemeClr val="dk1"/>
                </a:solidFill>
                <a:latin typeface="Arial"/>
              </a:rPr>
              <a:t>Replica</a:t>
            </a:r>
          </a:p>
        </p:txBody>
      </p:sp>
      <p:sp>
        <p:nvSpPr>
          <p:cNvPr id="22" name="TextBox 21"/>
          <p:cNvSpPr txBox="1"/>
          <p:nvPr/>
        </p:nvSpPr>
        <p:spPr>
          <a:xfrm>
            <a:off x="4400533" y="3990000"/>
            <a:ext cx="3390933" cy="260000"/>
          </a:xfrm>
          <a:prstGeom prst="rect">
            <a:avLst/>
          </a:prstGeom>
          <a:noFill/>
        </p:spPr>
        <p:txBody>
          <a:bodyPr wrap="square" lIns="0" tIns="0" rIns="0" bIns="0" anchor="t">
            <a:spAutoFit/>
          </a:bodyPr>
          <a:lstStyle/>
          <a:p>
            <a:pPr algn="ctr"/>
            <a:r>
              <a:rPr sz="1100" b="0">
                <a:solidFill>
                  <a:schemeClr val="dk2"/>
                </a:solidFill>
                <a:latin typeface="Arial"/>
              </a:rPr>
              <a:t>read + failover</a:t>
            </a:r>
          </a:p>
        </p:txBody>
      </p:sp>
      <p:cxnSp>
        <p:nvCxnSpPr>
          <p:cNvPr id="23" name="Connector 22"/>
          <p:cNvCxnSpPr/>
          <p:nvPr/>
        </p:nvCxnSpPr>
        <p:spPr>
          <a:xfrm>
            <a:off x="6095999"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51466" y="2470000"/>
            <a:ext cx="280000" cy="0"/>
          </a:xfrm>
          <a:prstGeom prst="line">
            <a:avLst/>
          </a:prstGeom>
          <a:ln w="15875">
            <a:solidFill>
              <a:schemeClr val="dk2"/>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191466" y="1450000"/>
            <a:ext cx="3390933" cy="320000"/>
          </a:xfrm>
          <a:prstGeom prst="rect">
            <a:avLst/>
          </a:prstGeom>
          <a:noFill/>
        </p:spPr>
        <p:txBody>
          <a:bodyPr wrap="square" lIns="0" tIns="0" rIns="0" bIns="0" anchor="t">
            <a:spAutoFit/>
          </a:bodyPr>
          <a:lstStyle/>
          <a:p>
            <a:pPr algn="ctr"/>
            <a:r>
              <a:rPr sz="1200" b="1">
                <a:solidFill>
                  <a:schemeClr val="dk2"/>
                </a:solidFill>
                <a:latin typeface="Arial"/>
              </a:rPr>
              <a:t>slots 10923 – 16383</a:t>
            </a:r>
          </a:p>
        </p:txBody>
      </p:sp>
      <p:sp>
        <p:nvSpPr>
          <p:cNvPr id="26" name="Rectangle 25"/>
          <p:cNvSpPr/>
          <p:nvPr/>
        </p:nvSpPr>
        <p:spPr>
          <a:xfrm>
            <a:off x="8191466"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191466"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191466" y="2170000"/>
            <a:ext cx="3390933" cy="300000"/>
          </a:xfrm>
          <a:prstGeom prst="rect">
            <a:avLst/>
          </a:prstGeom>
          <a:noFill/>
        </p:spPr>
        <p:txBody>
          <a:bodyPr wrap="square" lIns="0" tIns="0" rIns="0" bIns="0" anchor="t">
            <a:spAutoFit/>
          </a:bodyPr>
          <a:lstStyle/>
          <a:p>
            <a:pPr algn="ctr"/>
            <a:r>
              <a:rPr sz="1600" b="1">
                <a:solidFill>
                  <a:schemeClr val="dk1"/>
                </a:solidFill>
                <a:latin typeface="Arial"/>
              </a:rPr>
              <a:t>Primary</a:t>
            </a:r>
          </a:p>
        </p:txBody>
      </p:sp>
      <p:sp>
        <p:nvSpPr>
          <p:cNvPr id="29" name="TextBox 28"/>
          <p:cNvSpPr txBox="1"/>
          <p:nvPr/>
        </p:nvSpPr>
        <p:spPr>
          <a:xfrm>
            <a:off x="8191466" y="2490000"/>
            <a:ext cx="3390933" cy="260000"/>
          </a:xfrm>
          <a:prstGeom prst="rect">
            <a:avLst/>
          </a:prstGeom>
          <a:noFill/>
        </p:spPr>
        <p:txBody>
          <a:bodyPr wrap="square" lIns="0" tIns="0" rIns="0" bIns="0" anchor="t">
            <a:spAutoFit/>
          </a:bodyPr>
          <a:lstStyle/>
          <a:p>
            <a:pPr algn="ctr"/>
            <a:r>
              <a:rPr sz="1100" b="0">
                <a:solidFill>
                  <a:schemeClr val="dk2"/>
                </a:solidFill>
                <a:latin typeface="Arial"/>
              </a:rPr>
              <a:t>shard 3</a:t>
            </a:r>
          </a:p>
        </p:txBody>
      </p:sp>
      <p:sp>
        <p:nvSpPr>
          <p:cNvPr id="30" name="Rectangle 29"/>
          <p:cNvSpPr/>
          <p:nvPr/>
        </p:nvSpPr>
        <p:spPr>
          <a:xfrm>
            <a:off x="8191466"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191466"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191466" y="3670000"/>
            <a:ext cx="3390933" cy="300000"/>
          </a:xfrm>
          <a:prstGeom prst="rect">
            <a:avLst/>
          </a:prstGeom>
          <a:noFill/>
        </p:spPr>
        <p:txBody>
          <a:bodyPr wrap="square" lIns="0" tIns="0" rIns="0" bIns="0" anchor="t">
            <a:spAutoFit/>
          </a:bodyPr>
          <a:lstStyle/>
          <a:p>
            <a:pPr algn="ctr"/>
            <a:r>
              <a:rPr sz="1600" b="1">
                <a:solidFill>
                  <a:schemeClr val="dk1"/>
                </a:solidFill>
                <a:latin typeface="Arial"/>
              </a:rPr>
              <a:t>Replica</a:t>
            </a:r>
          </a:p>
        </p:txBody>
      </p:sp>
      <p:sp>
        <p:nvSpPr>
          <p:cNvPr id="33" name="TextBox 32"/>
          <p:cNvSpPr txBox="1"/>
          <p:nvPr/>
        </p:nvSpPr>
        <p:spPr>
          <a:xfrm>
            <a:off x="8191466" y="3990000"/>
            <a:ext cx="3390933" cy="260000"/>
          </a:xfrm>
          <a:prstGeom prst="rect">
            <a:avLst/>
          </a:prstGeom>
          <a:noFill/>
        </p:spPr>
        <p:txBody>
          <a:bodyPr wrap="square" lIns="0" tIns="0" rIns="0" bIns="0" anchor="t">
            <a:spAutoFit/>
          </a:bodyPr>
          <a:lstStyle/>
          <a:p>
            <a:pPr algn="ctr"/>
            <a:r>
              <a:rPr sz="1100" b="0">
                <a:solidFill>
                  <a:schemeClr val="dk2"/>
                </a:solidFill>
                <a:latin typeface="Arial"/>
              </a:rPr>
              <a:t>read + failover</a:t>
            </a:r>
          </a:p>
        </p:txBody>
      </p:sp>
      <p:cxnSp>
        <p:nvCxnSpPr>
          <p:cNvPr id="34" name="Connector 33"/>
          <p:cNvCxnSpPr/>
          <p:nvPr/>
        </p:nvCxnSpPr>
        <p:spPr>
          <a:xfrm>
            <a:off x="9886932"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Every key belongs to exactly one slot</a:t>
            </a:r>
          </a:p>
        </p:txBody>
      </p:sp>
      <p:sp>
        <p:nvSpPr>
          <p:cNvPr id="3" name="Rectangle 2"/>
          <p:cNvSpPr/>
          <p:nvPr/>
        </p:nvSpPr>
        <p:spPr>
          <a:xfrm>
            <a:off x="621000" y="2250000"/>
            <a:ext cx="2400000" cy="8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681000" y="2250000"/>
            <a:ext cx="2280000" cy="800000"/>
          </a:xfrm>
          <a:prstGeom prst="rect">
            <a:avLst/>
          </a:prstGeom>
          <a:noFill/>
        </p:spPr>
        <p:txBody>
          <a:bodyPr wrap="square" lIns="0" tIns="0" rIns="0" bIns="0" anchor="ctr">
            <a:spAutoFit/>
          </a:bodyPr>
          <a:lstStyle/>
          <a:p>
            <a:pPr algn="ctr"/>
            <a:r>
              <a:rPr sz="1400" b="1">
                <a:solidFill>
                  <a:schemeClr val="dk1"/>
                </a:solidFill>
                <a:latin typeface="Arial"/>
              </a:rPr>
              <a:t>GET "user:42"</a:t>
            </a:r>
          </a:p>
        </p:txBody>
      </p:sp>
      <p:sp>
        <p:nvSpPr>
          <p:cNvPr id="5" name="Rectangle 4"/>
          <p:cNvSpPr/>
          <p:nvPr/>
        </p:nvSpPr>
        <p:spPr>
          <a:xfrm>
            <a:off x="3471000" y="2250000"/>
            <a:ext cx="2400000" cy="8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531000" y="2250000"/>
            <a:ext cx="2280000" cy="800000"/>
          </a:xfrm>
          <a:prstGeom prst="rect">
            <a:avLst/>
          </a:prstGeom>
          <a:noFill/>
        </p:spPr>
        <p:txBody>
          <a:bodyPr wrap="square" lIns="0" tIns="0" rIns="0" bIns="0" anchor="ctr">
            <a:spAutoFit/>
          </a:bodyPr>
          <a:lstStyle/>
          <a:p>
            <a:pPr algn="ctr"/>
            <a:r>
              <a:rPr sz="1400" b="1">
                <a:solidFill>
                  <a:schemeClr val="dk1"/>
                </a:solidFill>
                <a:latin typeface="Arial"/>
              </a:rPr>
              <a:t>CRC16(key) mod 16384</a:t>
            </a:r>
          </a:p>
        </p:txBody>
      </p:sp>
      <p:cxnSp>
        <p:nvCxnSpPr>
          <p:cNvPr id="7" name="Connector 6"/>
          <p:cNvCxnSpPr/>
          <p:nvPr/>
        </p:nvCxnSpPr>
        <p:spPr>
          <a:xfrm>
            <a:off x="3021000" y="2650000"/>
            <a:ext cx="450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321000" y="2250000"/>
            <a:ext cx="2400000" cy="8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381000" y="2250000"/>
            <a:ext cx="2280000" cy="800000"/>
          </a:xfrm>
          <a:prstGeom prst="rect">
            <a:avLst/>
          </a:prstGeom>
          <a:noFill/>
        </p:spPr>
        <p:txBody>
          <a:bodyPr wrap="square" lIns="0" tIns="0" rIns="0" bIns="0" anchor="ctr">
            <a:spAutoFit/>
          </a:bodyPr>
          <a:lstStyle/>
          <a:p>
            <a:pPr algn="ctr"/>
            <a:r>
              <a:rPr sz="1400" b="1">
                <a:solidFill>
                  <a:schemeClr val="lt1"/>
                </a:solidFill>
                <a:latin typeface="Arial"/>
              </a:rPr>
              <a:t>slot 9158</a:t>
            </a:r>
          </a:p>
        </p:txBody>
      </p:sp>
      <p:cxnSp>
        <p:nvCxnSpPr>
          <p:cNvPr id="10" name="Connector 9"/>
          <p:cNvCxnSpPr/>
          <p:nvPr/>
        </p:nvCxnSpPr>
        <p:spPr>
          <a:xfrm>
            <a:off x="5871000" y="2650000"/>
            <a:ext cx="450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71000" y="2250000"/>
            <a:ext cx="2400000" cy="8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231000" y="2250000"/>
            <a:ext cx="2280000" cy="800000"/>
          </a:xfrm>
          <a:prstGeom prst="rect">
            <a:avLst/>
          </a:prstGeom>
          <a:noFill/>
        </p:spPr>
        <p:txBody>
          <a:bodyPr wrap="square" lIns="0" tIns="0" rIns="0" bIns="0" anchor="ctr">
            <a:spAutoFit/>
          </a:bodyPr>
          <a:lstStyle/>
          <a:p>
            <a:pPr algn="ctr"/>
            <a:r>
              <a:rPr sz="1400" b="1">
                <a:solidFill>
                  <a:schemeClr val="lt1"/>
                </a:solidFill>
                <a:latin typeface="Arial"/>
              </a:rPr>
              <a:t>shard 2</a:t>
            </a:r>
          </a:p>
        </p:txBody>
      </p:sp>
      <p:cxnSp>
        <p:nvCxnSpPr>
          <p:cNvPr id="13" name="Connector 12"/>
          <p:cNvCxnSpPr/>
          <p:nvPr/>
        </p:nvCxnSpPr>
        <p:spPr>
          <a:xfrm>
            <a:off x="8721000" y="2650000"/>
            <a:ext cx="450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09600" y="4300000"/>
            <a:ext cx="11062800" cy="62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09600" y="4300000"/>
            <a:ext cx="73152" cy="6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5632" y="4300000"/>
            <a:ext cx="10623888" cy="620000"/>
          </a:xfrm>
          <a:prstGeom prst="rect">
            <a:avLst/>
          </a:prstGeom>
          <a:noFill/>
        </p:spPr>
        <p:txBody>
          <a:bodyPr wrap="square" lIns="0" tIns="0" rIns="0" bIns="0" anchor="ctr">
            <a:spAutoFit/>
          </a:bodyPr>
          <a:lstStyle/>
          <a:p>
            <a:pPr algn="l"/>
            <a:r>
              <a:rPr sz="1800" b="1">
                <a:solidFill>
                  <a:schemeClr val="dk1"/>
                </a:solidFill>
                <a:latin typeface="Arial"/>
              </a:rPr>
              <a:t>Scaling out moves slots, not keys. </a:t>
            </a:r>
            <a:r>
              <a:rPr sz="1800" b="0">
                <a:solidFill>
                  <a:schemeClr val="dk1"/>
                </a:solidFill>
                <a:latin typeface="Arial"/>
              </a:rPr>
              <a:t>A client that asks the wrong shard gets </a:t>
            </a:r>
            <a:r>
              <a:rPr sz="1800" b="1">
                <a:solidFill>
                  <a:schemeClr val="accent1"/>
                </a:solidFill>
                <a:latin typeface="Arial"/>
              </a:rPr>
              <a:t>MOVED</a:t>
            </a:r>
            <a:r>
              <a:rPr sz="1800" b="0">
                <a:solidFill>
                  <a:schemeClr val="dk1"/>
                </a:solidFill>
                <a:latin typeface="Arial"/>
              </a:rPr>
              <a:t> and retries.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GETKEYSINSLOT</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 5461</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MIGRATING</a:t>
            </a:r>
          </a:p>
        </p:txBody>
      </p:sp>
      <p:sp>
        <p:nvSpPr>
          <p:cNvPr id="14" name="Rectangle 13"/>
          <p:cNvSpPr/>
          <p:nvPr/>
        </p:nvSpPr>
        <p:spPr>
          <a:xfrm>
            <a:off x="7692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IMPORTING</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list every key in the slot</a:t>
            </a:r>
          </a:p>
        </p:txBody>
      </p:sp>
      <p:sp>
        <p:nvSpPr>
          <p:cNvPr id="18" name="Rectangle 17"/>
          <p:cNvSpPr/>
          <p:nvPr/>
        </p:nvSpPr>
        <p:spPr>
          <a:xfrm>
            <a:off x="34878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878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GETKEYSINSLOT</a:t>
            </a:r>
          </a:p>
        </p:txBody>
      </p:sp>
      <p:sp>
        <p:nvSpPr>
          <p:cNvPr id="20" name="Rectangle 19"/>
          <p:cNvSpPr/>
          <p:nvPr/>
        </p:nvSpPr>
        <p:spPr>
          <a:xfrm>
            <a:off x="618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86000" y="5000000"/>
            <a:ext cx="2518200" cy="400000"/>
          </a:xfrm>
          <a:prstGeom prst="rect">
            <a:avLst/>
          </a:prstGeom>
          <a:noFill/>
        </p:spPr>
        <p:txBody>
          <a:bodyPr wrap="square" lIns="0" tIns="0" rIns="0" bIns="0" anchor="ctr">
            <a:spAutoFit/>
          </a:bodyPr>
          <a:lstStyle/>
          <a:p>
            <a:pPr algn="ctr"/>
            <a:r>
              <a:rPr sz="1100" b="1">
                <a:solidFill>
                  <a:schemeClr val="dk2"/>
                </a:solidFill>
                <a:latin typeface="Arial"/>
              </a:rPr>
              <a:t>MIGRATE</a:t>
            </a:r>
          </a:p>
        </p:txBody>
      </p:sp>
      <p:cxnSp>
        <p:nvCxnSpPr>
          <p:cNvPr id="22" name="Connector 21"/>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MIGRATE</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 5461</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MIGRATING</a:t>
            </a:r>
          </a:p>
        </p:txBody>
      </p:sp>
      <p:sp>
        <p:nvSpPr>
          <p:cNvPr id="14" name="Rectangle 13"/>
          <p:cNvSpPr/>
          <p:nvPr/>
        </p:nvSpPr>
        <p:spPr>
          <a:xfrm>
            <a:off x="7692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IMPORTING</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one key per MIGRATE, clients follow -ASK</a:t>
            </a:r>
          </a:p>
        </p:txBody>
      </p:sp>
      <p:sp>
        <p:nvSpPr>
          <p:cNvPr id="18" name="Rectangle 17"/>
          <p:cNvSpPr/>
          <p:nvPr/>
        </p:nvSpPr>
        <p:spPr>
          <a:xfrm>
            <a:off x="348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87800" y="5000000"/>
            <a:ext cx="2518200" cy="400000"/>
          </a:xfrm>
          <a:prstGeom prst="rect">
            <a:avLst/>
          </a:prstGeom>
          <a:noFill/>
        </p:spPr>
        <p:txBody>
          <a:bodyPr wrap="square" lIns="0" tIns="0" rIns="0" bIns="0" anchor="ctr">
            <a:spAutoFit/>
          </a:bodyPr>
          <a:lstStyle/>
          <a:p>
            <a:pPr algn="ctr"/>
            <a:r>
              <a:rPr sz="1100" b="1">
                <a:solidFill>
                  <a:schemeClr val="dk2"/>
                </a:solidFill>
                <a:latin typeface="Arial"/>
              </a:rPr>
              <a:t>GETKEYSINSLOT</a:t>
            </a:r>
          </a:p>
        </p:txBody>
      </p:sp>
      <p:sp>
        <p:nvSpPr>
          <p:cNvPr id="20" name="Rectangle 19"/>
          <p:cNvSpPr/>
          <p:nvPr/>
        </p:nvSpPr>
        <p:spPr>
          <a:xfrm>
            <a:off x="61860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860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MIGRATE</a:t>
            </a:r>
          </a:p>
        </p:txBody>
      </p:sp>
      <p:cxnSp>
        <p:nvCxnSpPr>
          <p:cNvPr id="22" name="Connector 21"/>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SETSLOT STABLE</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 5461</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still owns the slot</a:t>
            </a:r>
          </a:p>
        </p:txBody>
      </p:sp>
      <p:sp>
        <p:nvSpPr>
          <p:cNvPr id="14" name="Rectangle 13"/>
          <p:cNvSpPr/>
          <p:nvPr/>
        </p:nvSpPr>
        <p:spPr>
          <a:xfrm>
            <a:off x="7692000" y="3460000"/>
            <a:ext cx="32000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holds keys it does not own</a:t>
            </a:r>
          </a:p>
        </p:txBody>
      </p:sp>
      <p:cxnSp>
        <p:nvCxnSpPr>
          <p:cNvPr id="16" name="Connector 15"/>
          <p:cNvCxnSpPr/>
          <p:nvPr/>
        </p:nvCxnSpPr>
        <p:spPr>
          <a:xfrm flipH="1">
            <a:off x="4640000" y="2725000"/>
            <a:ext cx="2912000" cy="0"/>
          </a:xfrm>
          <a:prstGeom prst="line">
            <a:avLst/>
          </a:prstGeom>
          <a:ln w="19050">
            <a:solidFill>
              <a:schemeClr val="accent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keys must be moved back by hand</a:t>
            </a:r>
          </a:p>
        </p:txBody>
      </p:sp>
      <p:sp>
        <p:nvSpPr>
          <p:cNvPr id="18" name="Rectangle 17"/>
          <p:cNvSpPr/>
          <p:nvPr/>
        </p:nvSpPr>
        <p:spPr>
          <a:xfrm>
            <a:off x="348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87800" y="5000000"/>
            <a:ext cx="2518200" cy="400000"/>
          </a:xfrm>
          <a:prstGeom prst="rect">
            <a:avLst/>
          </a:prstGeom>
          <a:noFill/>
        </p:spPr>
        <p:txBody>
          <a:bodyPr wrap="square" lIns="0" tIns="0" rIns="0" bIns="0" anchor="ctr">
            <a:spAutoFit/>
          </a:bodyPr>
          <a:lstStyle/>
          <a:p>
            <a:pPr algn="ctr"/>
            <a:r>
              <a:rPr sz="1100" b="1">
                <a:solidFill>
                  <a:schemeClr val="dk2"/>
                </a:solidFill>
                <a:latin typeface="Arial"/>
              </a:rPr>
              <a:t>GETKEYSINSLOT</a:t>
            </a:r>
          </a:p>
        </p:txBody>
      </p:sp>
      <p:sp>
        <p:nvSpPr>
          <p:cNvPr id="20" name="Rectangle 19"/>
          <p:cNvSpPr/>
          <p:nvPr/>
        </p:nvSpPr>
        <p:spPr>
          <a:xfrm>
            <a:off x="61860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860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MIGRATE</a:t>
            </a:r>
          </a:p>
        </p:txBody>
      </p:sp>
      <p:cxnSp>
        <p:nvCxnSpPr>
          <p:cNvPr id="22" name="Connector 21"/>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MIGRATESLOTS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still owns the slots</a:t>
            </a:r>
          </a:p>
        </p:txBody>
      </p:sp>
      <p:sp>
        <p:nvSpPr>
          <p:cNvPr id="14" name="Rectangle 13"/>
          <p:cNvSpPr/>
          <p:nvPr/>
        </p:nvSpPr>
        <p:spPr>
          <a:xfrm>
            <a:off x="7692000" y="3460000"/>
            <a:ext cx="3200000" cy="4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dk1"/>
                </a:solidFill>
                <a:latin typeface="Arial"/>
              </a:rPr>
              <a:t>staging area created</a:t>
            </a:r>
          </a:p>
        </p:txBody>
      </p:sp>
      <p:cxnSp>
        <p:nvCxnSpPr>
          <p:cNvPr id="16" name="Connector 15"/>
          <p:cNvCxnSpPr/>
          <p:nvPr/>
        </p:nvCxnSpPr>
        <p:spPr>
          <a:xfrm>
            <a:off x="4640000" y="2725000"/>
            <a:ext cx="2912000" cy="0"/>
          </a:xfrm>
          <a:prstGeom prst="line">
            <a:avLst/>
          </a:prstGeom>
          <a:ln w="19050">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slot migration link established</a:t>
            </a:r>
          </a:p>
        </p:txBody>
      </p:sp>
      <p:sp>
        <p:nvSpPr>
          <p:cNvPr id="18" name="Rectangle 17"/>
          <p:cNvSpPr/>
          <p:nvPr/>
        </p:nvSpPr>
        <p:spPr>
          <a:xfrm>
            <a:off x="6096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Finalized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SYNCSLOTS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still owns the slots</a:t>
            </a:r>
          </a:p>
        </p:txBody>
      </p:sp>
      <p:sp>
        <p:nvSpPr>
          <p:cNvPr id="14" name="Rectangle 13"/>
          <p:cNvSpPr/>
          <p:nvPr/>
        </p:nvSpPr>
        <p:spPr>
          <a:xfrm>
            <a:off x="7692000" y="3460000"/>
            <a:ext cx="3200000" cy="4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dk1"/>
                </a:solidFill>
                <a:latin typeface="Arial"/>
              </a:rPr>
              <a:t>staging area</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snapshot, then live stream of mutations</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Finalized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SYNCSLOTS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dk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paused, then drops its copy</a:t>
            </a:r>
          </a:p>
        </p:txBody>
      </p:sp>
      <p:sp>
        <p:nvSpPr>
          <p:cNvPr id="14" name="Rectangle 13"/>
          <p:cNvSpPr/>
          <p:nvPr/>
        </p:nvSpPr>
        <p:spPr>
          <a:xfrm>
            <a:off x="7692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owns the slots</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caught up, ownership handed over</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Finalized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CLUSTER CANCELSLOTMIGRATIONS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latin typeface="Aria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latin typeface="Aria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latin typeface="Arial"/>
              </a:rPr>
              <a:t>target</a:t>
            </a:r>
          </a:p>
        </p:txBody>
      </p:sp>
      <p:sp>
        <p:nvSpPr>
          <p:cNvPr id="12" name="Rectangle 11"/>
          <p:cNvSpPr/>
          <p:nvPr/>
        </p:nvSpPr>
        <p:spPr>
          <a:xfrm>
            <a:off x="1300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never stopped owning them</a:t>
            </a:r>
          </a:p>
        </p:txBody>
      </p:sp>
      <p:sp>
        <p:nvSpPr>
          <p:cNvPr id="14" name="Rectangle 13"/>
          <p:cNvSpPr/>
          <p:nvPr/>
        </p:nvSpPr>
        <p:spPr>
          <a:xfrm>
            <a:off x="7692000" y="3460000"/>
            <a:ext cx="32000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latin typeface="Arial"/>
              </a:rPr>
              <a:t>staging area discarded</a:t>
            </a:r>
          </a:p>
        </p:txBody>
      </p:sp>
      <p:cxnSp>
        <p:nvCxnSpPr>
          <p:cNvPr id="16" name="Connector 15"/>
          <p:cNvCxnSpPr/>
          <p:nvPr/>
        </p:nvCxnSpPr>
        <p:spPr>
          <a:xfrm>
            <a:off x="4640000" y="2725000"/>
            <a:ext cx="2912000" cy="0"/>
          </a:xfrm>
          <a:prstGeom prst="line">
            <a:avLst/>
          </a:prstGeom>
          <a:ln w="19050">
            <a:solidFill>
              <a:schemeClr val="accent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latin typeface="Arial"/>
              </a:rPr>
              <a:t>transfer abandoned</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latin typeface="Aria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1">
                <a:solidFill>
                  <a:schemeClr val="lt1"/>
                </a:solidFill>
                <a:latin typeface="Arial"/>
              </a:rPr>
              <a:t>Failed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Legacy vs atomic slot migration</a:t>
            </a:r>
          </a:p>
        </p:txBody>
      </p:sp>
      <p:sp>
        <p:nvSpPr>
          <p:cNvPr id="3" name="Rectangle 2"/>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92480" y="1628811"/>
            <a:ext cx="5065640" cy="460000"/>
          </a:xfrm>
          <a:prstGeom prst="rect">
            <a:avLst/>
          </a:prstGeom>
          <a:noFill/>
        </p:spPr>
        <p:txBody>
          <a:bodyPr wrap="square" lIns="0" tIns="0" rIns="0" bIns="0" anchor="t">
            <a:spAutoFit/>
          </a:bodyPr>
          <a:lstStyle/>
          <a:p>
            <a:pPr algn="l"/>
            <a:r>
              <a:rPr sz="2400" b="1">
                <a:solidFill>
                  <a:schemeClr val="accent2"/>
                </a:solidFill>
                <a:latin typeface="Arial"/>
              </a:rPr>
              <a:t>No load</a:t>
            </a:r>
          </a:p>
        </p:txBody>
      </p:sp>
      <p:sp>
        <p:nvSpPr>
          <p:cNvPr id="5" name="TextBox 4"/>
          <p:cNvSpPr txBox="1"/>
          <p:nvPr/>
        </p:nvSpPr>
        <p:spPr>
          <a:xfrm>
            <a:off x="792480" y="2345931"/>
            <a:ext cx="5065640" cy="300000"/>
          </a:xfrm>
          <a:prstGeom prst="rect">
            <a:avLst/>
          </a:prstGeom>
          <a:noFill/>
        </p:spPr>
        <p:txBody>
          <a:bodyPr wrap="square" lIns="0" tIns="0" rIns="0" bIns="0" anchor="t">
            <a:spAutoFit/>
          </a:bodyPr>
          <a:lstStyle/>
          <a:p>
            <a:pPr algn="l"/>
            <a:r>
              <a:rPr sz="1600" b="1">
                <a:solidFill>
                  <a:schemeClr val="dk1"/>
                </a:solidFill>
                <a:latin typeface="Arial"/>
              </a:rPr>
              <a:t>3 → 4 shards</a:t>
            </a:r>
          </a:p>
        </p:txBody>
      </p:sp>
      <p:sp>
        <p:nvSpPr>
          <p:cNvPr id="6" name="TextBox 5"/>
          <p:cNvSpPr txBox="1"/>
          <p:nvPr/>
        </p:nvSpPr>
        <p:spPr>
          <a:xfrm>
            <a:off x="792480" y="2705931"/>
            <a:ext cx="900000" cy="340000"/>
          </a:xfrm>
          <a:prstGeom prst="rect">
            <a:avLst/>
          </a:prstGeom>
          <a:noFill/>
        </p:spPr>
        <p:txBody>
          <a:bodyPr wrap="square" lIns="0" tIns="0" rIns="0" bIns="0" anchor="ctr">
            <a:spAutoFit/>
          </a:bodyPr>
          <a:lstStyle/>
          <a:p>
            <a:pPr algn="l"/>
            <a:r>
              <a:rPr sz="1200" b="0">
                <a:solidFill>
                  <a:schemeClr val="dk2"/>
                </a:solidFill>
                <a:latin typeface="Arial"/>
              </a:rPr>
              <a:t>legacy</a:t>
            </a:r>
          </a:p>
        </p:txBody>
      </p:sp>
      <p:sp>
        <p:nvSpPr>
          <p:cNvPr id="7" name="Rectangle 6"/>
          <p:cNvSpPr/>
          <p:nvPr/>
        </p:nvSpPr>
        <p:spPr>
          <a:xfrm>
            <a:off x="1742480" y="27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742480" y="2745931"/>
            <a:ext cx="1814933" cy="26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18120" y="2705931"/>
            <a:ext cx="1400000" cy="340000"/>
          </a:xfrm>
          <a:prstGeom prst="rect">
            <a:avLst/>
          </a:prstGeom>
          <a:noFill/>
        </p:spPr>
        <p:txBody>
          <a:bodyPr wrap="square" lIns="0" tIns="0" rIns="0" bIns="0" anchor="ctr">
            <a:spAutoFit/>
          </a:bodyPr>
          <a:lstStyle/>
          <a:p>
            <a:pPr algn="l"/>
            <a:r>
              <a:rPr sz="1200" b="0">
                <a:solidFill>
                  <a:schemeClr val="dk1"/>
                </a:solidFill>
                <a:latin typeface="Arial"/>
              </a:rPr>
              <a:t>1m 42s</a:t>
            </a:r>
          </a:p>
        </p:txBody>
      </p:sp>
      <p:sp>
        <p:nvSpPr>
          <p:cNvPr id="10" name="TextBox 9"/>
          <p:cNvSpPr txBox="1"/>
          <p:nvPr/>
        </p:nvSpPr>
        <p:spPr>
          <a:xfrm>
            <a:off x="792480" y="3105931"/>
            <a:ext cx="900000" cy="340000"/>
          </a:xfrm>
          <a:prstGeom prst="rect">
            <a:avLst/>
          </a:prstGeom>
          <a:noFill/>
        </p:spPr>
        <p:txBody>
          <a:bodyPr wrap="square" lIns="0" tIns="0" rIns="0" bIns="0" anchor="ctr">
            <a:spAutoFit/>
          </a:bodyPr>
          <a:lstStyle/>
          <a:p>
            <a:pPr algn="l"/>
            <a:r>
              <a:rPr sz="1200" b="0">
                <a:solidFill>
                  <a:schemeClr val="dk2"/>
                </a:solidFill>
                <a:latin typeface="Arial"/>
              </a:rPr>
              <a:t>atomic</a:t>
            </a:r>
          </a:p>
        </p:txBody>
      </p:sp>
      <p:sp>
        <p:nvSpPr>
          <p:cNvPr id="11" name="Rectangle 10"/>
          <p:cNvSpPr/>
          <p:nvPr/>
        </p:nvSpPr>
        <p:spPr>
          <a:xfrm>
            <a:off x="1742480" y="31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742480" y="3145931"/>
            <a:ext cx="195728"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18120" y="3105931"/>
            <a:ext cx="1400000" cy="340000"/>
          </a:xfrm>
          <a:prstGeom prst="rect">
            <a:avLst/>
          </a:prstGeom>
          <a:noFill/>
        </p:spPr>
        <p:txBody>
          <a:bodyPr wrap="square" lIns="0" tIns="0" rIns="0" bIns="0" anchor="ctr">
            <a:spAutoFit/>
          </a:bodyPr>
          <a:lstStyle/>
          <a:p>
            <a:pPr algn="l"/>
            <a:r>
              <a:rPr sz="1200" b="1">
                <a:solidFill>
                  <a:schemeClr val="dk1"/>
                </a:solidFill>
                <a:latin typeface="Arial"/>
              </a:rPr>
              <a:t>11s</a:t>
            </a:r>
            <a:r>
              <a:rPr sz="1200" b="1">
                <a:solidFill>
                  <a:schemeClr val="accent1"/>
                </a:solidFill>
                <a:latin typeface="Arial"/>
              </a:rPr>
              <a:t>   9.5x faster</a:t>
            </a:r>
          </a:p>
        </p:txBody>
      </p:sp>
      <p:sp>
        <p:nvSpPr>
          <p:cNvPr id="14" name="TextBox 13"/>
          <p:cNvSpPr txBox="1"/>
          <p:nvPr/>
        </p:nvSpPr>
        <p:spPr>
          <a:xfrm>
            <a:off x="792480" y="3845931"/>
            <a:ext cx="5065640" cy="300000"/>
          </a:xfrm>
          <a:prstGeom prst="rect">
            <a:avLst/>
          </a:prstGeom>
          <a:noFill/>
        </p:spPr>
        <p:txBody>
          <a:bodyPr wrap="square" lIns="0" tIns="0" rIns="0" bIns="0" anchor="t">
            <a:spAutoFit/>
          </a:bodyPr>
          <a:lstStyle/>
          <a:p>
            <a:pPr algn="l"/>
            <a:r>
              <a:rPr sz="1600" b="1">
                <a:solidFill>
                  <a:schemeClr val="dk1"/>
                </a:solidFill>
                <a:latin typeface="Arial"/>
              </a:rPr>
              <a:t>4 → 3 shards</a:t>
            </a:r>
          </a:p>
        </p:txBody>
      </p:sp>
      <p:sp>
        <p:nvSpPr>
          <p:cNvPr id="15" name="TextBox 14"/>
          <p:cNvSpPr txBox="1"/>
          <p:nvPr/>
        </p:nvSpPr>
        <p:spPr>
          <a:xfrm>
            <a:off x="792480" y="4205931"/>
            <a:ext cx="900000" cy="340000"/>
          </a:xfrm>
          <a:prstGeom prst="rect">
            <a:avLst/>
          </a:prstGeom>
          <a:noFill/>
        </p:spPr>
        <p:txBody>
          <a:bodyPr wrap="square" lIns="0" tIns="0" rIns="0" bIns="0" anchor="ctr">
            <a:spAutoFit/>
          </a:bodyPr>
          <a:lstStyle/>
          <a:p>
            <a:pPr algn="l"/>
            <a:r>
              <a:rPr sz="1200" b="0">
                <a:solidFill>
                  <a:schemeClr val="dk2"/>
                </a:solidFill>
                <a:latin typeface="Arial"/>
              </a:rPr>
              <a:t>legacy</a:t>
            </a:r>
          </a:p>
        </p:txBody>
      </p:sp>
      <p:sp>
        <p:nvSpPr>
          <p:cNvPr id="16" name="Rectangle 15"/>
          <p:cNvSpPr/>
          <p:nvPr/>
        </p:nvSpPr>
        <p:spPr>
          <a:xfrm>
            <a:off x="1742480" y="42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742480" y="4245931"/>
            <a:ext cx="1423477" cy="26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18120" y="4205931"/>
            <a:ext cx="1400000" cy="340000"/>
          </a:xfrm>
          <a:prstGeom prst="rect">
            <a:avLst/>
          </a:prstGeom>
          <a:noFill/>
        </p:spPr>
        <p:txBody>
          <a:bodyPr wrap="square" lIns="0" tIns="0" rIns="0" bIns="0" anchor="ctr">
            <a:spAutoFit/>
          </a:bodyPr>
          <a:lstStyle/>
          <a:p>
            <a:pPr algn="l"/>
            <a:r>
              <a:rPr sz="1200" b="0">
                <a:solidFill>
                  <a:schemeClr val="dk1"/>
                </a:solidFill>
                <a:latin typeface="Arial"/>
              </a:rPr>
              <a:t>1m 20s</a:t>
            </a:r>
          </a:p>
        </p:txBody>
      </p:sp>
      <p:sp>
        <p:nvSpPr>
          <p:cNvPr id="19" name="TextBox 18"/>
          <p:cNvSpPr txBox="1"/>
          <p:nvPr/>
        </p:nvSpPr>
        <p:spPr>
          <a:xfrm>
            <a:off x="792480" y="4605931"/>
            <a:ext cx="900000" cy="340000"/>
          </a:xfrm>
          <a:prstGeom prst="rect">
            <a:avLst/>
          </a:prstGeom>
          <a:noFill/>
        </p:spPr>
        <p:txBody>
          <a:bodyPr wrap="square" lIns="0" tIns="0" rIns="0" bIns="0" anchor="ctr">
            <a:spAutoFit/>
          </a:bodyPr>
          <a:lstStyle/>
          <a:p>
            <a:pPr algn="l"/>
            <a:r>
              <a:rPr sz="1200" b="0">
                <a:solidFill>
                  <a:schemeClr val="dk2"/>
                </a:solidFill>
                <a:latin typeface="Arial"/>
              </a:rPr>
              <a:t>atomic</a:t>
            </a:r>
          </a:p>
        </p:txBody>
      </p:sp>
      <p:sp>
        <p:nvSpPr>
          <p:cNvPr id="20" name="Rectangle 19"/>
          <p:cNvSpPr/>
          <p:nvPr/>
        </p:nvSpPr>
        <p:spPr>
          <a:xfrm>
            <a:off x="1742480" y="46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742480" y="4645931"/>
            <a:ext cx="177934"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518120" y="4605931"/>
            <a:ext cx="1400000" cy="340000"/>
          </a:xfrm>
          <a:prstGeom prst="rect">
            <a:avLst/>
          </a:prstGeom>
          <a:noFill/>
        </p:spPr>
        <p:txBody>
          <a:bodyPr wrap="square" lIns="0" tIns="0" rIns="0" bIns="0" anchor="ctr">
            <a:spAutoFit/>
          </a:bodyPr>
          <a:lstStyle/>
          <a:p>
            <a:pPr algn="l"/>
            <a:r>
              <a:rPr sz="1200" b="1">
                <a:solidFill>
                  <a:schemeClr val="dk1"/>
                </a:solidFill>
                <a:latin typeface="Arial"/>
              </a:rPr>
              <a:t>10s</a:t>
            </a:r>
            <a:r>
              <a:rPr sz="1200" b="1">
                <a:solidFill>
                  <a:schemeClr val="accent1"/>
                </a:solidFill>
                <a:latin typeface="Arial"/>
              </a:rPr>
              <a:t>   8.4x faster</a:t>
            </a:r>
          </a:p>
        </p:txBody>
      </p:sp>
      <p:sp>
        <p:nvSpPr>
          <p:cNvPr id="23" name="Rectangle 22"/>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23880" y="1628811"/>
            <a:ext cx="5065640" cy="460000"/>
          </a:xfrm>
          <a:prstGeom prst="rect">
            <a:avLst/>
          </a:prstGeom>
          <a:noFill/>
        </p:spPr>
        <p:txBody>
          <a:bodyPr wrap="square" lIns="0" tIns="0" rIns="0" bIns="0" anchor="t">
            <a:spAutoFit/>
          </a:bodyPr>
          <a:lstStyle/>
          <a:p>
            <a:pPr algn="l"/>
            <a:r>
              <a:rPr sz="2400" b="1">
                <a:solidFill>
                  <a:schemeClr val="accent2"/>
                </a:solidFill>
                <a:latin typeface="Arial"/>
              </a:rPr>
              <a:t>Heavy load</a:t>
            </a:r>
          </a:p>
        </p:txBody>
      </p:sp>
      <p:sp>
        <p:nvSpPr>
          <p:cNvPr id="25" name="TextBox 24"/>
          <p:cNvSpPr txBox="1"/>
          <p:nvPr/>
        </p:nvSpPr>
        <p:spPr>
          <a:xfrm>
            <a:off x="6423880" y="2345931"/>
            <a:ext cx="5065640" cy="300000"/>
          </a:xfrm>
          <a:prstGeom prst="rect">
            <a:avLst/>
          </a:prstGeom>
          <a:noFill/>
        </p:spPr>
        <p:txBody>
          <a:bodyPr wrap="square" lIns="0" tIns="0" rIns="0" bIns="0" anchor="t">
            <a:spAutoFit/>
          </a:bodyPr>
          <a:lstStyle/>
          <a:p>
            <a:pPr algn="l"/>
            <a:r>
              <a:rPr sz="1600" b="1">
                <a:solidFill>
                  <a:schemeClr val="dk1"/>
                </a:solidFill>
                <a:latin typeface="Arial"/>
              </a:rPr>
              <a:t>3 → 4 shards</a:t>
            </a:r>
          </a:p>
        </p:txBody>
      </p:sp>
      <p:sp>
        <p:nvSpPr>
          <p:cNvPr id="26" name="TextBox 25"/>
          <p:cNvSpPr txBox="1"/>
          <p:nvPr/>
        </p:nvSpPr>
        <p:spPr>
          <a:xfrm>
            <a:off x="6423880" y="2705931"/>
            <a:ext cx="900000" cy="340000"/>
          </a:xfrm>
          <a:prstGeom prst="rect">
            <a:avLst/>
          </a:prstGeom>
          <a:noFill/>
        </p:spPr>
        <p:txBody>
          <a:bodyPr wrap="square" lIns="0" tIns="0" rIns="0" bIns="0" anchor="ctr">
            <a:spAutoFit/>
          </a:bodyPr>
          <a:lstStyle/>
          <a:p>
            <a:pPr algn="l"/>
            <a:r>
              <a:rPr sz="1200" b="0">
                <a:solidFill>
                  <a:schemeClr val="dk2"/>
                </a:solidFill>
                <a:latin typeface="Arial"/>
              </a:rPr>
              <a:t>legacy</a:t>
            </a:r>
          </a:p>
        </p:txBody>
      </p:sp>
      <p:sp>
        <p:nvSpPr>
          <p:cNvPr id="27" name="Rectangle 26"/>
          <p:cNvSpPr/>
          <p:nvPr/>
        </p:nvSpPr>
        <p:spPr>
          <a:xfrm>
            <a:off x="7373880" y="27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373880" y="2745931"/>
            <a:ext cx="2615640" cy="26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149520" y="2705931"/>
            <a:ext cx="1400000" cy="340000"/>
          </a:xfrm>
          <a:prstGeom prst="rect">
            <a:avLst/>
          </a:prstGeom>
          <a:noFill/>
        </p:spPr>
        <p:txBody>
          <a:bodyPr wrap="square" lIns="0" tIns="0" rIns="0" bIns="0" anchor="ctr">
            <a:spAutoFit/>
          </a:bodyPr>
          <a:lstStyle/>
          <a:p>
            <a:pPr algn="l"/>
            <a:r>
              <a:rPr sz="1200" b="0">
                <a:solidFill>
                  <a:schemeClr val="dk1"/>
                </a:solidFill>
                <a:latin typeface="Arial"/>
              </a:rPr>
              <a:t>2m 27s</a:t>
            </a:r>
          </a:p>
        </p:txBody>
      </p:sp>
      <p:sp>
        <p:nvSpPr>
          <p:cNvPr id="30" name="TextBox 29"/>
          <p:cNvSpPr txBox="1"/>
          <p:nvPr/>
        </p:nvSpPr>
        <p:spPr>
          <a:xfrm>
            <a:off x="6423880" y="3105931"/>
            <a:ext cx="900000" cy="340000"/>
          </a:xfrm>
          <a:prstGeom prst="rect">
            <a:avLst/>
          </a:prstGeom>
          <a:noFill/>
        </p:spPr>
        <p:txBody>
          <a:bodyPr wrap="square" lIns="0" tIns="0" rIns="0" bIns="0" anchor="ctr">
            <a:spAutoFit/>
          </a:bodyPr>
          <a:lstStyle/>
          <a:p>
            <a:pPr algn="l"/>
            <a:r>
              <a:rPr sz="1200" b="0">
                <a:solidFill>
                  <a:schemeClr val="dk2"/>
                </a:solidFill>
                <a:latin typeface="Arial"/>
              </a:rPr>
              <a:t>atomic</a:t>
            </a:r>
          </a:p>
        </p:txBody>
      </p:sp>
      <p:sp>
        <p:nvSpPr>
          <p:cNvPr id="31" name="Rectangle 30"/>
          <p:cNvSpPr/>
          <p:nvPr/>
        </p:nvSpPr>
        <p:spPr>
          <a:xfrm>
            <a:off x="7373880" y="31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373880" y="3145931"/>
            <a:ext cx="551597"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149520" y="3105931"/>
            <a:ext cx="1400000" cy="340000"/>
          </a:xfrm>
          <a:prstGeom prst="rect">
            <a:avLst/>
          </a:prstGeom>
          <a:noFill/>
        </p:spPr>
        <p:txBody>
          <a:bodyPr wrap="square" lIns="0" tIns="0" rIns="0" bIns="0" anchor="ctr">
            <a:spAutoFit/>
          </a:bodyPr>
          <a:lstStyle/>
          <a:p>
            <a:pPr algn="l"/>
            <a:r>
              <a:rPr sz="1200" b="1">
                <a:solidFill>
                  <a:schemeClr val="dk1"/>
                </a:solidFill>
                <a:latin typeface="Arial"/>
              </a:rPr>
              <a:t>31s</a:t>
            </a:r>
            <a:r>
              <a:rPr sz="1200" b="1">
                <a:solidFill>
                  <a:schemeClr val="accent1"/>
                </a:solidFill>
                <a:latin typeface="Arial"/>
              </a:rPr>
              <a:t>   4.8x faster</a:t>
            </a:r>
          </a:p>
        </p:txBody>
      </p:sp>
      <p:sp>
        <p:nvSpPr>
          <p:cNvPr id="34" name="TextBox 33"/>
          <p:cNvSpPr txBox="1"/>
          <p:nvPr/>
        </p:nvSpPr>
        <p:spPr>
          <a:xfrm>
            <a:off x="6423880" y="3845931"/>
            <a:ext cx="5065640" cy="300000"/>
          </a:xfrm>
          <a:prstGeom prst="rect">
            <a:avLst/>
          </a:prstGeom>
          <a:noFill/>
        </p:spPr>
        <p:txBody>
          <a:bodyPr wrap="square" lIns="0" tIns="0" rIns="0" bIns="0" anchor="t">
            <a:spAutoFit/>
          </a:bodyPr>
          <a:lstStyle/>
          <a:p>
            <a:pPr algn="l"/>
            <a:r>
              <a:rPr sz="1600" b="1">
                <a:solidFill>
                  <a:schemeClr val="dk1"/>
                </a:solidFill>
                <a:latin typeface="Arial"/>
              </a:rPr>
              <a:t>4 → 3 shards</a:t>
            </a:r>
          </a:p>
        </p:txBody>
      </p:sp>
      <p:sp>
        <p:nvSpPr>
          <p:cNvPr id="35" name="TextBox 34"/>
          <p:cNvSpPr txBox="1"/>
          <p:nvPr/>
        </p:nvSpPr>
        <p:spPr>
          <a:xfrm>
            <a:off x="6423880" y="4205931"/>
            <a:ext cx="900000" cy="340000"/>
          </a:xfrm>
          <a:prstGeom prst="rect">
            <a:avLst/>
          </a:prstGeom>
          <a:noFill/>
        </p:spPr>
        <p:txBody>
          <a:bodyPr wrap="square" lIns="0" tIns="0" rIns="0" bIns="0" anchor="ctr">
            <a:spAutoFit/>
          </a:bodyPr>
          <a:lstStyle/>
          <a:p>
            <a:pPr algn="l"/>
            <a:r>
              <a:rPr sz="1200" b="0">
                <a:solidFill>
                  <a:schemeClr val="dk2"/>
                </a:solidFill>
                <a:latin typeface="Arial"/>
              </a:rPr>
              <a:t>legacy</a:t>
            </a:r>
          </a:p>
        </p:txBody>
      </p:sp>
      <p:sp>
        <p:nvSpPr>
          <p:cNvPr id="36" name="Rectangle 35"/>
          <p:cNvSpPr/>
          <p:nvPr/>
        </p:nvSpPr>
        <p:spPr>
          <a:xfrm>
            <a:off x="7373880" y="42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373880" y="4245931"/>
            <a:ext cx="2224183" cy="26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0149520" y="4205931"/>
            <a:ext cx="1400000" cy="340000"/>
          </a:xfrm>
          <a:prstGeom prst="rect">
            <a:avLst/>
          </a:prstGeom>
          <a:noFill/>
        </p:spPr>
        <p:txBody>
          <a:bodyPr wrap="square" lIns="0" tIns="0" rIns="0" bIns="0" anchor="ctr">
            <a:spAutoFit/>
          </a:bodyPr>
          <a:lstStyle/>
          <a:p>
            <a:pPr algn="l"/>
            <a:r>
              <a:rPr sz="1200" b="0">
                <a:solidFill>
                  <a:schemeClr val="dk1"/>
                </a:solidFill>
                <a:latin typeface="Arial"/>
              </a:rPr>
              <a:t>2m 05s</a:t>
            </a:r>
          </a:p>
        </p:txBody>
      </p:sp>
      <p:sp>
        <p:nvSpPr>
          <p:cNvPr id="39" name="TextBox 38"/>
          <p:cNvSpPr txBox="1"/>
          <p:nvPr/>
        </p:nvSpPr>
        <p:spPr>
          <a:xfrm>
            <a:off x="6423880" y="4605931"/>
            <a:ext cx="900000" cy="340000"/>
          </a:xfrm>
          <a:prstGeom prst="rect">
            <a:avLst/>
          </a:prstGeom>
          <a:noFill/>
        </p:spPr>
        <p:txBody>
          <a:bodyPr wrap="square" lIns="0" tIns="0" rIns="0" bIns="0" anchor="ctr">
            <a:spAutoFit/>
          </a:bodyPr>
          <a:lstStyle/>
          <a:p>
            <a:pPr algn="l"/>
            <a:r>
              <a:rPr sz="1200" b="0">
                <a:solidFill>
                  <a:schemeClr val="dk2"/>
                </a:solidFill>
                <a:latin typeface="Arial"/>
              </a:rPr>
              <a:t>atomic</a:t>
            </a:r>
          </a:p>
        </p:txBody>
      </p:sp>
      <p:sp>
        <p:nvSpPr>
          <p:cNvPr id="40" name="Rectangle 39"/>
          <p:cNvSpPr/>
          <p:nvPr/>
        </p:nvSpPr>
        <p:spPr>
          <a:xfrm>
            <a:off x="7373880" y="4645931"/>
            <a:ext cx="261564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7373880" y="4645931"/>
            <a:ext cx="480423"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0149520" y="4605931"/>
            <a:ext cx="1400000" cy="340000"/>
          </a:xfrm>
          <a:prstGeom prst="rect">
            <a:avLst/>
          </a:prstGeom>
          <a:noFill/>
        </p:spPr>
        <p:txBody>
          <a:bodyPr wrap="square" lIns="0" tIns="0" rIns="0" bIns="0" anchor="ctr">
            <a:spAutoFit/>
          </a:bodyPr>
          <a:lstStyle/>
          <a:p>
            <a:pPr algn="l"/>
            <a:r>
              <a:rPr sz="1200" b="1">
                <a:solidFill>
                  <a:schemeClr val="dk1"/>
                </a:solidFill>
                <a:latin typeface="Arial"/>
              </a:rPr>
              <a:t>27s</a:t>
            </a:r>
            <a:r>
              <a:rPr sz="1200" b="1">
                <a:solidFill>
                  <a:schemeClr val="accent1"/>
                </a:solidFill>
                <a:latin typeface="Arial"/>
              </a:rPr>
              <a:t>   4.6x faster</a:t>
            </a:r>
          </a:p>
        </p:txBody>
      </p:sp>
      <p:sp>
        <p:nvSpPr>
          <p:cNvPr id="43" name="TextBox 42"/>
          <p:cNvSpPr txBox="1"/>
          <p:nvPr/>
        </p:nvSpPr>
        <p:spPr>
          <a:xfrm>
            <a:off x="609600" y="5943597"/>
            <a:ext cx="11062800" cy="300000"/>
          </a:xfrm>
          <a:prstGeom prst="rect">
            <a:avLst/>
          </a:prstGeom>
          <a:noFill/>
        </p:spPr>
        <p:txBody>
          <a:bodyPr wrap="square" lIns="0" tIns="0" rIns="0" bIns="0" anchor="t">
            <a:spAutoFit/>
          </a:bodyPr>
          <a:lstStyle/>
          <a:p>
            <a:pPr algn="l"/>
            <a:r>
              <a:rPr sz="1000" b="0" i="1">
                <a:solidFill>
                  <a:schemeClr val="dk1"/>
                </a:solidFill>
                <a:latin typeface="Arial"/>
              </a:rPr>
              <a:t>Valkey 9.0, c4-standard-8, 40 GB of 16 KB values, valkey-cli --cluster rebalance defaults. Source: valkey.io/blog/atomic-slot-migration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574F-8C7B-F3EB-8D25-54034BC23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885DD-E337-7F98-DAF1-A8987A34FB17}"/>
              </a:ext>
            </a:extLst>
          </p:cNvPr>
          <p:cNvSpPr>
            <a:spLocks noGrp="1"/>
          </p:cNvSpPr>
          <p:nvPr>
            <p:ph type="title"/>
          </p:nvPr>
        </p:nvSpPr>
        <p:spPr/>
        <p:txBody>
          <a:bodyPr/>
          <a:lstStyle/>
          <a:p>
            <a:r>
              <a:rPr dirty="0">
                <a:latin typeface="Arial"/>
              </a:rPr>
              <a:t>Horizontal scaling, in and out: now fast and safe</a:t>
            </a:r>
          </a:p>
        </p:txBody>
      </p:sp>
      <p:sp>
        <p:nvSpPr>
          <p:cNvPr id="3" name="Rectangle 2">
            <a:extLst>
              <a:ext uri="{FF2B5EF4-FFF2-40B4-BE49-F238E27FC236}">
                <a16:creationId xmlns:a16="http://schemas.microsoft.com/office/drawing/2014/main" id="{737E6581-8146-6612-5BF9-4A98C79466C5}"/>
              </a:ext>
            </a:extLst>
          </p:cNvPr>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a:extLst>
              <a:ext uri="{FF2B5EF4-FFF2-40B4-BE49-F238E27FC236}">
                <a16:creationId xmlns:a16="http://schemas.microsoft.com/office/drawing/2014/main" id="{7394C79A-8DAC-599C-422F-4627512A5E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a:extLst>
              <a:ext uri="{FF2B5EF4-FFF2-40B4-BE49-F238E27FC236}">
                <a16:creationId xmlns:a16="http://schemas.microsoft.com/office/drawing/2014/main" id="{159E4C28-2848-B4C1-B24A-462F4CA0E514}"/>
              </a:ext>
            </a:extLst>
          </p:cNvPr>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Vertical Scaling</a:t>
            </a:r>
            <a:endParaRPr sz="2600" b="1" dirty="0">
              <a:solidFill>
                <a:schemeClr val="dk1"/>
              </a:solidFill>
            </a:endParaRPr>
          </a:p>
        </p:txBody>
      </p:sp>
      <p:sp>
        <p:nvSpPr>
          <p:cNvPr id="1012" name="TextBox 1011">
            <a:extLst>
              <a:ext uri="{FF2B5EF4-FFF2-40B4-BE49-F238E27FC236}">
                <a16:creationId xmlns:a16="http://schemas.microsoft.com/office/drawing/2014/main" id="{F12DC8C8-E64B-BB9A-EECD-F3079F8B7922}"/>
              </a:ext>
            </a:extLst>
          </p:cNvPr>
          <p:cNvSpPr txBox="1"/>
          <p:nvPr/>
        </p:nvSpPr>
        <p:spPr>
          <a:xfrm>
            <a:off x="792480" y="3382233"/>
            <a:ext cx="4649315" cy="1443344"/>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latin typeface="Arial"/>
              </a:rPr>
              <a:t>Add more cores to handle incoming requests</a:t>
            </a:r>
          </a:p>
          <a:p>
            <a:pPr marL="285750" indent="-285750" algn="l">
              <a:lnSpc>
                <a:spcPct val="120000"/>
              </a:lnSpc>
              <a:buFont typeface="Arial" panose="020B0604020202020204" pitchFamily="34" charset="0"/>
              <a:buChar char="•"/>
            </a:pPr>
            <a:r>
              <a:rPr lang="en-US" sz="2000" b="0" strike="sngStrike" dirty="0">
                <a:solidFill>
                  <a:schemeClr val="dk2"/>
                </a:solidFill>
                <a:latin typeface="Arial"/>
              </a:rPr>
              <a:t>Limited with IO threading </a:t>
            </a:r>
            <a:r>
              <a:rPr lang="en-US" sz="2000" b="0" dirty="0">
                <a:solidFill>
                  <a:schemeClr val="dk2"/>
                </a:solidFill>
                <a:latin typeface="Arial"/>
              </a:rPr>
              <a:t>Provides about 8x throughput scaling</a:t>
            </a:r>
            <a:endParaRPr lang="en-US" sz="2000" b="0" strike="sngStrike" dirty="0">
              <a:solidFill>
                <a:schemeClr val="dk2"/>
              </a:solidFill>
            </a:endParaRPr>
          </a:p>
        </p:txBody>
      </p:sp>
      <p:sp>
        <p:nvSpPr>
          <p:cNvPr id="1013" name="Rectangle 1012">
            <a:extLst>
              <a:ext uri="{FF2B5EF4-FFF2-40B4-BE49-F238E27FC236}">
                <a16:creationId xmlns:a16="http://schemas.microsoft.com/office/drawing/2014/main" id="{948C7809-2012-2C1D-870F-941C060D2171}"/>
              </a:ext>
            </a:extLst>
          </p:cNvPr>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a:extLst>
              <a:ext uri="{FF2B5EF4-FFF2-40B4-BE49-F238E27FC236}">
                <a16:creationId xmlns:a16="http://schemas.microsoft.com/office/drawing/2014/main" id="{6581DBBA-2CF0-3EE4-DD14-4C43B53C8D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a:extLst>
              <a:ext uri="{FF2B5EF4-FFF2-40B4-BE49-F238E27FC236}">
                <a16:creationId xmlns:a16="http://schemas.microsoft.com/office/drawing/2014/main" id="{E00DEBB1-C7EA-828F-93EE-8768C8123684}"/>
              </a:ext>
            </a:extLst>
          </p:cNvPr>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latin typeface="Arial"/>
              </a:rPr>
              <a:t>Horizontal Scaling</a:t>
            </a:r>
            <a:endParaRPr sz="2600" b="1" dirty="0">
              <a:solidFill>
                <a:schemeClr val="dk1"/>
              </a:solidFill>
            </a:endParaRPr>
          </a:p>
        </p:txBody>
      </p:sp>
      <p:sp>
        <p:nvSpPr>
          <p:cNvPr id="1016" name="TextBox 1015">
            <a:extLst>
              <a:ext uri="{FF2B5EF4-FFF2-40B4-BE49-F238E27FC236}">
                <a16:creationId xmlns:a16="http://schemas.microsoft.com/office/drawing/2014/main" id="{C14DD7D8-6103-412C-C151-F967E4768230}"/>
              </a:ext>
            </a:extLst>
          </p:cNvPr>
          <p:cNvSpPr txBox="1"/>
          <p:nvPr/>
        </p:nvSpPr>
        <p:spPr>
          <a:xfrm>
            <a:off x="6423880" y="3382233"/>
            <a:ext cx="5065640" cy="1443344"/>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latin typeface="Arial"/>
              </a:rPr>
              <a:t>Add more hosts to parallelize requests</a:t>
            </a:r>
          </a:p>
          <a:p>
            <a:pPr marL="285750" indent="-285750">
              <a:lnSpc>
                <a:spcPct val="120000"/>
              </a:lnSpc>
              <a:buFont typeface="Arial" panose="020B0604020202020204" pitchFamily="34" charset="0"/>
              <a:buChar char="•"/>
            </a:pPr>
            <a:r>
              <a:rPr lang="en-US" sz="2000" dirty="0">
                <a:solidFill>
                  <a:schemeClr val="dk2"/>
                </a:solidFill>
                <a:latin typeface="Arial"/>
              </a:rPr>
              <a:t>No cross-shard transactions</a:t>
            </a:r>
          </a:p>
          <a:p>
            <a:pPr marL="285750" indent="-285750">
              <a:lnSpc>
                <a:spcPct val="120000"/>
              </a:lnSpc>
              <a:buFont typeface="Arial" panose="020B0604020202020204" pitchFamily="34" charset="0"/>
              <a:buChar char="•"/>
            </a:pPr>
            <a:r>
              <a:rPr lang="en-US" sz="2000" strike="sngStrike" dirty="0">
                <a:solidFill>
                  <a:schemeClr val="dk2"/>
                </a:solidFill>
                <a:latin typeface="Arial"/>
              </a:rPr>
              <a:t>Slow and dangerous to scale</a:t>
            </a:r>
            <a:r>
              <a:rPr lang="en-US" sz="2000" dirty="0">
                <a:solidFill>
                  <a:schemeClr val="dk2"/>
                </a:solidFill>
                <a:latin typeface="Arial"/>
              </a:rPr>
              <a:t> Fast and safe operation</a:t>
            </a:r>
            <a:endParaRPr lang="en-US" sz="2000" strike="sngStrike" dirty="0">
              <a:solidFill>
                <a:schemeClr val="dk2"/>
              </a:solidFill>
            </a:endParaRPr>
          </a:p>
        </p:txBody>
      </p:sp>
      <p:sp>
        <p:nvSpPr>
          <p:cNvPr id="6" name="Rectangle 5">
            <a:extLst>
              <a:ext uri="{FF2B5EF4-FFF2-40B4-BE49-F238E27FC236}">
                <a16:creationId xmlns:a16="http://schemas.microsoft.com/office/drawing/2014/main" id="{10FB29A6-DB6D-44EB-9D29-BE05026C72AA}"/>
              </a:ext>
            </a:extLst>
          </p:cNvPr>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a:extLst>
              <a:ext uri="{FF2B5EF4-FFF2-40B4-BE49-F238E27FC236}">
                <a16:creationId xmlns:a16="http://schemas.microsoft.com/office/drawing/2014/main" id="{E0B553EC-2094-A3C8-C962-3BC01DB6FD51}"/>
              </a:ext>
            </a:extLst>
          </p:cNvPr>
          <p:cNvSpPr/>
          <p:nvPr/>
        </p:nvSpPr>
        <p:spPr>
          <a:xfrm>
            <a:off x="6241000" y="1445931"/>
            <a:ext cx="5431400" cy="73152"/>
          </a:xfrm>
          <a:prstGeom prst="rect">
            <a:avLst/>
          </a:prstGeom>
          <a:solidFill>
            <a:srgbClr val="69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37440529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rial"/>
              </a:rPr>
              <a:t>CLUSTER SLOT-STATS</a:t>
            </a:r>
          </a:p>
        </p:txBody>
      </p:sp>
      <p:sp>
        <p:nvSpPr>
          <p:cNvPr id="3" name="Rectangle 2"/>
          <p:cNvSpPr/>
          <p:nvPr/>
        </p:nvSpPr>
        <p:spPr>
          <a:xfrm>
            <a:off x="609600" y="1650000"/>
            <a:ext cx="5286400" cy="38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09600" y="1910000"/>
            <a:ext cx="4686400" cy="460000"/>
          </a:xfrm>
          <a:prstGeom prst="rect">
            <a:avLst/>
          </a:prstGeom>
          <a:noFill/>
        </p:spPr>
        <p:txBody>
          <a:bodyPr wrap="square" lIns="0" tIns="0" rIns="0" bIns="0" anchor="t">
            <a:spAutoFit/>
          </a:bodyPr>
          <a:lstStyle/>
          <a:p>
            <a:pPr algn="l"/>
            <a:r>
              <a:rPr sz="2400" b="1">
                <a:solidFill>
                  <a:schemeClr val="dk2"/>
                </a:solidFill>
                <a:latin typeface="Arial"/>
              </a:rPr>
              <a:t>key-count</a:t>
            </a:r>
          </a:p>
        </p:txBody>
      </p:sp>
      <p:sp>
        <p:nvSpPr>
          <p:cNvPr id="5" name="TextBox 4"/>
          <p:cNvSpPr txBox="1"/>
          <p:nvPr/>
        </p:nvSpPr>
        <p:spPr>
          <a:xfrm>
            <a:off x="9096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12703</a:t>
            </a:r>
          </a:p>
        </p:txBody>
      </p:sp>
      <p:sp>
        <p:nvSpPr>
          <p:cNvPr id="6" name="Rectangle 5"/>
          <p:cNvSpPr/>
          <p:nvPr/>
        </p:nvSpPr>
        <p:spPr>
          <a:xfrm>
            <a:off x="1859600" y="255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859600" y="2550000"/>
            <a:ext cx="267640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96000" y="2510000"/>
            <a:ext cx="900000" cy="340000"/>
          </a:xfrm>
          <a:prstGeom prst="rect">
            <a:avLst/>
          </a:prstGeom>
          <a:noFill/>
        </p:spPr>
        <p:txBody>
          <a:bodyPr wrap="square" lIns="0" tIns="0" rIns="0" bIns="0" anchor="ctr">
            <a:spAutoFit/>
          </a:bodyPr>
          <a:lstStyle/>
          <a:p>
            <a:pPr algn="r"/>
            <a:r>
              <a:rPr sz="1100" b="0">
                <a:solidFill>
                  <a:schemeClr val="dk2"/>
                </a:solidFill>
                <a:latin typeface="Arial"/>
              </a:rPr>
              <a:t>20,450</a:t>
            </a:r>
          </a:p>
        </p:txBody>
      </p:sp>
      <p:sp>
        <p:nvSpPr>
          <p:cNvPr id="9" name="TextBox 8"/>
          <p:cNvSpPr txBox="1"/>
          <p:nvPr/>
        </p:nvSpPr>
        <p:spPr>
          <a:xfrm>
            <a:off x="9096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slot 4488</a:t>
            </a:r>
          </a:p>
        </p:txBody>
      </p:sp>
      <p:sp>
        <p:nvSpPr>
          <p:cNvPr id="10" name="Rectangle 9"/>
          <p:cNvSpPr/>
          <p:nvPr/>
        </p:nvSpPr>
        <p:spPr>
          <a:xfrm>
            <a:off x="1859600" y="306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859600" y="3060000"/>
            <a:ext cx="2614888"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96000" y="3020000"/>
            <a:ext cx="900000" cy="340000"/>
          </a:xfrm>
          <a:prstGeom prst="rect">
            <a:avLst/>
          </a:prstGeom>
          <a:noFill/>
        </p:spPr>
        <p:txBody>
          <a:bodyPr wrap="square" lIns="0" tIns="0" rIns="0" bIns="0" anchor="ctr">
            <a:spAutoFit/>
          </a:bodyPr>
          <a:lstStyle/>
          <a:p>
            <a:pPr algn="r"/>
            <a:r>
              <a:rPr sz="1100" b="0">
                <a:solidFill>
                  <a:schemeClr val="dk2"/>
                </a:solidFill>
                <a:latin typeface="Arial"/>
              </a:rPr>
              <a:t>19,980</a:t>
            </a:r>
          </a:p>
        </p:txBody>
      </p:sp>
      <p:sp>
        <p:nvSpPr>
          <p:cNvPr id="13" name="TextBox 12"/>
          <p:cNvSpPr txBox="1"/>
          <p:nvPr/>
        </p:nvSpPr>
        <p:spPr>
          <a:xfrm>
            <a:off x="9096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slot 9021</a:t>
            </a:r>
          </a:p>
        </p:txBody>
      </p:sp>
      <p:sp>
        <p:nvSpPr>
          <p:cNvPr id="14" name="Rectangle 13"/>
          <p:cNvSpPr/>
          <p:nvPr/>
        </p:nvSpPr>
        <p:spPr>
          <a:xfrm>
            <a:off x="1859600" y="357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1859600" y="3570000"/>
            <a:ext cx="2658077"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96000" y="3530000"/>
            <a:ext cx="900000" cy="340000"/>
          </a:xfrm>
          <a:prstGeom prst="rect">
            <a:avLst/>
          </a:prstGeom>
          <a:noFill/>
        </p:spPr>
        <p:txBody>
          <a:bodyPr wrap="square" lIns="0" tIns="0" rIns="0" bIns="0" anchor="ctr">
            <a:spAutoFit/>
          </a:bodyPr>
          <a:lstStyle/>
          <a:p>
            <a:pPr algn="r"/>
            <a:r>
              <a:rPr sz="1100" b="0">
                <a:solidFill>
                  <a:schemeClr val="dk2"/>
                </a:solidFill>
                <a:latin typeface="Arial"/>
              </a:rPr>
              <a:t>20,310</a:t>
            </a:r>
          </a:p>
        </p:txBody>
      </p:sp>
      <p:sp>
        <p:nvSpPr>
          <p:cNvPr id="17" name="TextBox 16"/>
          <p:cNvSpPr txBox="1"/>
          <p:nvPr/>
        </p:nvSpPr>
        <p:spPr>
          <a:xfrm>
            <a:off x="9096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15330</a:t>
            </a:r>
          </a:p>
        </p:txBody>
      </p:sp>
      <p:sp>
        <p:nvSpPr>
          <p:cNvPr id="18" name="Rectangle 17"/>
          <p:cNvSpPr/>
          <p:nvPr/>
        </p:nvSpPr>
        <p:spPr>
          <a:xfrm>
            <a:off x="1859600" y="408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859600" y="4080000"/>
            <a:ext cx="2583478"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696000" y="4040000"/>
            <a:ext cx="900000" cy="340000"/>
          </a:xfrm>
          <a:prstGeom prst="rect">
            <a:avLst/>
          </a:prstGeom>
          <a:noFill/>
        </p:spPr>
        <p:txBody>
          <a:bodyPr wrap="square" lIns="0" tIns="0" rIns="0" bIns="0" anchor="ctr">
            <a:spAutoFit/>
          </a:bodyPr>
          <a:lstStyle/>
          <a:p>
            <a:pPr algn="r"/>
            <a:r>
              <a:rPr sz="1100" b="0">
                <a:solidFill>
                  <a:schemeClr val="dk2"/>
                </a:solidFill>
                <a:latin typeface="Arial"/>
              </a:rPr>
              <a:t>19,740</a:t>
            </a:r>
          </a:p>
        </p:txBody>
      </p:sp>
      <p:sp>
        <p:nvSpPr>
          <p:cNvPr id="21" name="TextBox 20"/>
          <p:cNvSpPr txBox="1"/>
          <p:nvPr/>
        </p:nvSpPr>
        <p:spPr>
          <a:xfrm>
            <a:off x="909600" y="4550000"/>
            <a:ext cx="850000" cy="340000"/>
          </a:xfrm>
          <a:prstGeom prst="rect">
            <a:avLst/>
          </a:prstGeom>
          <a:noFill/>
        </p:spPr>
        <p:txBody>
          <a:bodyPr wrap="square" lIns="0" tIns="0" rIns="0" bIns="0" anchor="ctr">
            <a:spAutoFit/>
          </a:bodyPr>
          <a:lstStyle/>
          <a:p>
            <a:pPr algn="l"/>
            <a:r>
              <a:rPr sz="1100" b="0">
                <a:solidFill>
                  <a:schemeClr val="dk2"/>
                </a:solidFill>
                <a:latin typeface="Arial"/>
              </a:rPr>
              <a:t>slot 702</a:t>
            </a:r>
          </a:p>
        </p:txBody>
      </p:sp>
      <p:sp>
        <p:nvSpPr>
          <p:cNvPr id="22" name="Rectangle 21"/>
          <p:cNvSpPr/>
          <p:nvPr/>
        </p:nvSpPr>
        <p:spPr>
          <a:xfrm>
            <a:off x="1859600" y="459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1859600" y="4590000"/>
            <a:ext cx="2633211"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96000" y="4550000"/>
            <a:ext cx="900000" cy="340000"/>
          </a:xfrm>
          <a:prstGeom prst="rect">
            <a:avLst/>
          </a:prstGeom>
          <a:noFill/>
        </p:spPr>
        <p:txBody>
          <a:bodyPr wrap="square" lIns="0" tIns="0" rIns="0" bIns="0" anchor="ctr">
            <a:spAutoFit/>
          </a:bodyPr>
          <a:lstStyle/>
          <a:p>
            <a:pPr algn="r"/>
            <a:r>
              <a:rPr sz="1100" b="0">
                <a:solidFill>
                  <a:schemeClr val="dk2"/>
                </a:solidFill>
                <a:latin typeface="Arial"/>
              </a:rPr>
              <a:t>20,120</a:t>
            </a:r>
          </a:p>
        </p:txBody>
      </p:sp>
      <p:sp>
        <p:nvSpPr>
          <p:cNvPr id="26" name="Rectangle 25"/>
          <p:cNvSpPr/>
          <p:nvPr/>
        </p:nvSpPr>
        <p:spPr>
          <a:xfrm>
            <a:off x="6296000" y="1650000"/>
            <a:ext cx="5286400" cy="3800000"/>
          </a:xfrm>
          <a:prstGeom prst="rect">
            <a:avLst/>
          </a:prstGeom>
          <a:noFill/>
          <a:ln w="9525">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96000" y="1910000"/>
            <a:ext cx="4686400" cy="460000"/>
          </a:xfrm>
          <a:prstGeom prst="rect">
            <a:avLst/>
          </a:prstGeom>
          <a:noFill/>
        </p:spPr>
        <p:txBody>
          <a:bodyPr wrap="square" lIns="0" tIns="0" rIns="0" bIns="0" anchor="t">
            <a:spAutoFit/>
          </a:bodyPr>
          <a:lstStyle/>
          <a:p>
            <a:pPr algn="l"/>
            <a:r>
              <a:rPr sz="2400" b="1">
                <a:solidFill>
                  <a:schemeClr val="accent1"/>
                </a:solidFill>
                <a:latin typeface="Arial"/>
              </a:rPr>
              <a:t>cpu-usec</a:t>
            </a:r>
          </a:p>
        </p:txBody>
      </p:sp>
      <p:sp>
        <p:nvSpPr>
          <p:cNvPr id="28" name="TextBox 27"/>
          <p:cNvSpPr txBox="1"/>
          <p:nvPr/>
        </p:nvSpPr>
        <p:spPr>
          <a:xfrm>
            <a:off x="65960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12703</a:t>
            </a:r>
          </a:p>
        </p:txBody>
      </p:sp>
      <p:sp>
        <p:nvSpPr>
          <p:cNvPr id="29" name="Rectangle 28"/>
          <p:cNvSpPr/>
          <p:nvPr/>
        </p:nvSpPr>
        <p:spPr>
          <a:xfrm>
            <a:off x="7546000" y="255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546000" y="2550000"/>
            <a:ext cx="2676400"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382400" y="2510000"/>
            <a:ext cx="900000" cy="340000"/>
          </a:xfrm>
          <a:prstGeom prst="rect">
            <a:avLst/>
          </a:prstGeom>
          <a:noFill/>
        </p:spPr>
        <p:txBody>
          <a:bodyPr wrap="square" lIns="0" tIns="0" rIns="0" bIns="0" anchor="ctr">
            <a:spAutoFit/>
          </a:bodyPr>
          <a:lstStyle/>
          <a:p>
            <a:pPr algn="r"/>
            <a:r>
              <a:rPr sz="1100" b="1">
                <a:solidFill>
                  <a:schemeClr val="dk1"/>
                </a:solidFill>
                <a:latin typeface="Arial"/>
              </a:rPr>
              <a:t>41,200 us</a:t>
            </a:r>
          </a:p>
        </p:txBody>
      </p:sp>
      <p:sp>
        <p:nvSpPr>
          <p:cNvPr id="32" name="TextBox 31"/>
          <p:cNvSpPr txBox="1"/>
          <p:nvPr/>
        </p:nvSpPr>
        <p:spPr>
          <a:xfrm>
            <a:off x="65960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slot 4488</a:t>
            </a:r>
          </a:p>
        </p:txBody>
      </p:sp>
      <p:sp>
        <p:nvSpPr>
          <p:cNvPr id="33" name="Rectangle 32"/>
          <p:cNvSpPr/>
          <p:nvPr/>
        </p:nvSpPr>
        <p:spPr>
          <a:xfrm>
            <a:off x="7546000" y="306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546000" y="3060000"/>
            <a:ext cx="636619"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382400" y="3020000"/>
            <a:ext cx="900000" cy="340000"/>
          </a:xfrm>
          <a:prstGeom prst="rect">
            <a:avLst/>
          </a:prstGeom>
          <a:noFill/>
        </p:spPr>
        <p:txBody>
          <a:bodyPr wrap="square" lIns="0" tIns="0" rIns="0" bIns="0" anchor="ctr">
            <a:spAutoFit/>
          </a:bodyPr>
          <a:lstStyle/>
          <a:p>
            <a:pPr algn="r"/>
            <a:r>
              <a:rPr sz="1100" b="0">
                <a:solidFill>
                  <a:schemeClr val="dk2"/>
                </a:solidFill>
                <a:latin typeface="Arial"/>
              </a:rPr>
              <a:t>9,800 us</a:t>
            </a:r>
          </a:p>
        </p:txBody>
      </p:sp>
      <p:sp>
        <p:nvSpPr>
          <p:cNvPr id="36" name="TextBox 35"/>
          <p:cNvSpPr txBox="1"/>
          <p:nvPr/>
        </p:nvSpPr>
        <p:spPr>
          <a:xfrm>
            <a:off x="65960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slot 9021</a:t>
            </a:r>
          </a:p>
        </p:txBody>
      </p:sp>
      <p:sp>
        <p:nvSpPr>
          <p:cNvPr id="37" name="Rectangle 36"/>
          <p:cNvSpPr/>
          <p:nvPr/>
        </p:nvSpPr>
        <p:spPr>
          <a:xfrm>
            <a:off x="7546000" y="357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7546000" y="3570000"/>
            <a:ext cx="526185"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382400" y="3530000"/>
            <a:ext cx="900000" cy="340000"/>
          </a:xfrm>
          <a:prstGeom prst="rect">
            <a:avLst/>
          </a:prstGeom>
          <a:noFill/>
        </p:spPr>
        <p:txBody>
          <a:bodyPr wrap="square" lIns="0" tIns="0" rIns="0" bIns="0" anchor="ctr">
            <a:spAutoFit/>
          </a:bodyPr>
          <a:lstStyle/>
          <a:p>
            <a:pPr algn="r"/>
            <a:r>
              <a:rPr sz="1100" b="0">
                <a:solidFill>
                  <a:schemeClr val="dk2"/>
                </a:solidFill>
                <a:latin typeface="Arial"/>
              </a:rPr>
              <a:t>8,100 us</a:t>
            </a:r>
          </a:p>
        </p:txBody>
      </p:sp>
      <p:sp>
        <p:nvSpPr>
          <p:cNvPr id="40" name="TextBox 39"/>
          <p:cNvSpPr txBox="1"/>
          <p:nvPr/>
        </p:nvSpPr>
        <p:spPr>
          <a:xfrm>
            <a:off x="65960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15330</a:t>
            </a:r>
          </a:p>
        </p:txBody>
      </p:sp>
      <p:sp>
        <p:nvSpPr>
          <p:cNvPr id="41" name="Rectangle 40"/>
          <p:cNvSpPr/>
          <p:nvPr/>
        </p:nvSpPr>
        <p:spPr>
          <a:xfrm>
            <a:off x="7546000" y="408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7546000" y="4080000"/>
            <a:ext cx="480712"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382400" y="4040000"/>
            <a:ext cx="900000" cy="340000"/>
          </a:xfrm>
          <a:prstGeom prst="rect">
            <a:avLst/>
          </a:prstGeom>
          <a:noFill/>
        </p:spPr>
        <p:txBody>
          <a:bodyPr wrap="square" lIns="0" tIns="0" rIns="0" bIns="0" anchor="ctr">
            <a:spAutoFit/>
          </a:bodyPr>
          <a:lstStyle/>
          <a:p>
            <a:pPr algn="r"/>
            <a:r>
              <a:rPr sz="1100" b="0">
                <a:solidFill>
                  <a:schemeClr val="dk2"/>
                </a:solidFill>
                <a:latin typeface="Arial"/>
              </a:rPr>
              <a:t>7,400 us</a:t>
            </a:r>
          </a:p>
        </p:txBody>
      </p:sp>
      <p:sp>
        <p:nvSpPr>
          <p:cNvPr id="44" name="TextBox 43"/>
          <p:cNvSpPr txBox="1"/>
          <p:nvPr/>
        </p:nvSpPr>
        <p:spPr>
          <a:xfrm>
            <a:off x="6596000" y="4550000"/>
            <a:ext cx="850000" cy="340000"/>
          </a:xfrm>
          <a:prstGeom prst="rect">
            <a:avLst/>
          </a:prstGeom>
          <a:noFill/>
        </p:spPr>
        <p:txBody>
          <a:bodyPr wrap="square" lIns="0" tIns="0" rIns="0" bIns="0" anchor="ctr">
            <a:spAutoFit/>
          </a:bodyPr>
          <a:lstStyle/>
          <a:p>
            <a:pPr algn="l"/>
            <a:r>
              <a:rPr sz="1100" b="0">
                <a:solidFill>
                  <a:schemeClr val="dk2"/>
                </a:solidFill>
                <a:latin typeface="Arial"/>
              </a:rPr>
              <a:t>slot 702</a:t>
            </a:r>
          </a:p>
        </p:txBody>
      </p:sp>
      <p:sp>
        <p:nvSpPr>
          <p:cNvPr id="45" name="Rectangle 44"/>
          <p:cNvSpPr/>
          <p:nvPr/>
        </p:nvSpPr>
        <p:spPr>
          <a:xfrm>
            <a:off x="7546000" y="459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7546000" y="4590000"/>
            <a:ext cx="448232"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382400" y="4550000"/>
            <a:ext cx="900000" cy="340000"/>
          </a:xfrm>
          <a:prstGeom prst="rect">
            <a:avLst/>
          </a:prstGeom>
          <a:noFill/>
        </p:spPr>
        <p:txBody>
          <a:bodyPr wrap="square" lIns="0" tIns="0" rIns="0" bIns="0" anchor="ctr">
            <a:spAutoFit/>
          </a:bodyPr>
          <a:lstStyle/>
          <a:p>
            <a:pPr algn="r"/>
            <a:r>
              <a:rPr sz="1100" b="0">
                <a:solidFill>
                  <a:schemeClr val="dk2"/>
                </a:solidFill>
                <a:latin typeface="Arial"/>
              </a:rPr>
              <a:t>6,900 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Introducing the Valkey Operator</a:t>
            </a:r>
          </a:p>
        </p:txBody>
      </p:sp>
      <p:sp>
        <p:nvSpPr>
          <p:cNvPr id="3" name="Rectangle 2"/>
          <p:cNvSpPr/>
          <p:nvPr/>
        </p:nvSpPr>
        <p:spPr>
          <a:xfrm>
            <a:off x="609600"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horizontal-scal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2480" y="2276287"/>
            <a:ext cx="1097280" cy="1097280"/>
          </a:xfrm>
          <a:prstGeom prst="rect">
            <a:avLst/>
          </a:prstGeom>
        </p:spPr>
      </p:pic>
      <p:sp>
        <p:nvSpPr>
          <p:cNvPr id="5" name="TextBox 4"/>
          <p:cNvSpPr txBox="1"/>
          <p:nvPr/>
        </p:nvSpPr>
        <p:spPr>
          <a:xfrm>
            <a:off x="792480"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Scaling</a:t>
            </a:r>
          </a:p>
        </p:txBody>
      </p:sp>
      <p:sp>
        <p:nvSpPr>
          <p:cNvPr id="6" name="TextBox 5"/>
          <p:cNvSpPr txBox="1"/>
          <p:nvPr/>
        </p:nvSpPr>
        <p:spPr>
          <a:xfrm>
            <a:off x="792480"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Set spec.shards. The operator rebalances slots on the way out and drains them on the way in.</a:t>
            </a:r>
          </a:p>
        </p:txBody>
      </p:sp>
      <p:sp>
        <p:nvSpPr>
          <p:cNvPr id="7" name="Rectangle 6"/>
          <p:cNvSpPr/>
          <p:nvPr/>
        </p:nvSpPr>
        <p:spPr>
          <a:xfrm>
            <a:off x="4363866"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reliability"/>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6746" y="2276287"/>
            <a:ext cx="1097280" cy="1097280"/>
          </a:xfrm>
          <a:prstGeom prst="rect">
            <a:avLst/>
          </a:prstGeom>
        </p:spPr>
      </p:pic>
      <p:sp>
        <p:nvSpPr>
          <p:cNvPr id="9" name="TextBox 8"/>
          <p:cNvSpPr txBox="1"/>
          <p:nvPr/>
        </p:nvSpPr>
        <p:spPr>
          <a:xfrm>
            <a:off x="4546746"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Upgrades and failover</a:t>
            </a:r>
          </a:p>
        </p:txBody>
      </p:sp>
      <p:sp>
        <p:nvSpPr>
          <p:cNvPr id="10" name="TextBox 9"/>
          <p:cNvSpPr txBox="1"/>
          <p:nvPr/>
        </p:nvSpPr>
        <p:spPr>
          <a:xfrm>
            <a:off x="4546746"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Replicas roll before primaries, with a proactive failover before the primary goes.</a:t>
            </a:r>
          </a:p>
        </p:txBody>
      </p:sp>
      <p:sp>
        <p:nvSpPr>
          <p:cNvPr id="11" name="Rectangle 10"/>
          <p:cNvSpPr/>
          <p:nvPr/>
        </p:nvSpPr>
        <p:spPr>
          <a:xfrm>
            <a:off x="8118132" y="2093407"/>
            <a:ext cx="3554266" cy="26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securit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01012" y="2276287"/>
            <a:ext cx="1097280" cy="1097280"/>
          </a:xfrm>
          <a:prstGeom prst="rect">
            <a:avLst/>
          </a:prstGeom>
        </p:spPr>
      </p:pic>
      <p:sp>
        <p:nvSpPr>
          <p:cNvPr id="13" name="TextBox 12"/>
          <p:cNvSpPr txBox="1"/>
          <p:nvPr/>
        </p:nvSpPr>
        <p:spPr>
          <a:xfrm>
            <a:off x="8301012" y="3510727"/>
            <a:ext cx="3188506" cy="400110"/>
          </a:xfrm>
          <a:prstGeom prst="rect">
            <a:avLst/>
          </a:prstGeom>
          <a:noFill/>
        </p:spPr>
        <p:txBody>
          <a:bodyPr wrap="square" lIns="0" tIns="0" rIns="0" bIns="0" anchor="t">
            <a:spAutoFit/>
          </a:bodyPr>
          <a:lstStyle/>
          <a:p>
            <a:pPr algn="l"/>
            <a:r>
              <a:rPr sz="1800" b="1">
                <a:solidFill>
                  <a:schemeClr val="accent2"/>
                </a:solidFill>
                <a:latin typeface="Arial"/>
              </a:rPr>
              <a:t>TLS and ACLs, declared</a:t>
            </a:r>
          </a:p>
        </p:txBody>
      </p:sp>
      <p:sp>
        <p:nvSpPr>
          <p:cNvPr id="14" name="TextBox 13"/>
          <p:cNvSpPr txBox="1"/>
          <p:nvPr/>
        </p:nvSpPr>
        <p:spPr>
          <a:xfrm>
            <a:off x="8301012" y="3956557"/>
            <a:ext cx="3188506" cy="553970"/>
          </a:xfrm>
          <a:prstGeom prst="rect">
            <a:avLst/>
          </a:prstGeom>
          <a:noFill/>
        </p:spPr>
        <p:txBody>
          <a:bodyPr wrap="square" lIns="0" tIns="0" rIns="0" bIns="0" anchor="t">
            <a:spAutoFit/>
          </a:bodyPr>
          <a:lstStyle/>
          <a:p>
            <a:pPr algn="l">
              <a:lnSpc>
                <a:spcPct val="120000"/>
              </a:lnSpc>
            </a:pPr>
            <a:r>
              <a:rPr sz="1300" b="0">
                <a:solidFill>
                  <a:schemeClr val="accent2"/>
                </a:solidFill>
                <a:latin typeface="Arial"/>
              </a:rPr>
              <a:t>Certificates and users live in the spec. ACL changes apply without a restart.</a:t>
            </a:r>
          </a:p>
        </p:txBody>
      </p:sp>
      <p:sp>
        <p:nvSpPr>
          <p:cNvPr id="15" name="TextBox 14"/>
          <p:cNvSpPr txBox="1"/>
          <p:nvPr/>
        </p:nvSpPr>
        <p:spPr>
          <a:xfrm>
            <a:off x="609600" y="900000"/>
            <a:ext cx="11062800" cy="340000"/>
          </a:xfrm>
          <a:prstGeom prst="rect">
            <a:avLst/>
          </a:prstGeom>
          <a:noFill/>
        </p:spPr>
        <p:txBody>
          <a:bodyPr wrap="square" lIns="0" tIns="0" rIns="0" bIns="0">
            <a:spAutoFit/>
          </a:bodyPr>
          <a:lstStyle/>
          <a:p>
            <a:r>
              <a:rPr sz="1600">
                <a:latin typeface="Arial"/>
                <a:hlinkClick r:id="rId6"/>
              </a:rPr>
              <a:t>github.com/valkey-io/valkey-operator</a:t>
            </a:r>
          </a:p>
        </p:txBody>
      </p:sp>
      <p:sp>
        <p:nvSpPr>
          <p:cNvPr id="16" name="TextBox 15"/>
          <p:cNvSpPr txBox="1"/>
          <p:nvPr/>
        </p:nvSpPr>
        <p:spPr>
          <a:xfrm>
            <a:off x="609600" y="5943597"/>
            <a:ext cx="11062800" cy="300000"/>
          </a:xfrm>
          <a:prstGeom prst="rect">
            <a:avLst/>
          </a:prstGeom>
          <a:noFill/>
        </p:spPr>
        <p:txBody>
          <a:bodyPr wrap="square" lIns="0" tIns="0" rIns="0" bIns="0" anchor="t">
            <a:spAutoFit/>
          </a:bodyPr>
          <a:lstStyle/>
          <a:p>
            <a:pPr algn="l"/>
            <a:r>
              <a:rPr sz="1000" b="0" i="1">
                <a:solidFill>
                  <a:schemeClr val="dk1"/>
                </a:solidFill>
                <a:latin typeface="Arial"/>
              </a:rPr>
              <a:t>v0.6.0, alpha and not production ready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Valkey’s architectural goals</a:t>
            </a:r>
          </a:p>
        </p:txBody>
      </p:sp>
      <p:sp>
        <p:nvSpPr>
          <p:cNvPr id="3" name="Text Placeholder 2"/>
          <p:cNvSpPr>
            <a:spLocks noGrp="1"/>
          </p:cNvSpPr>
          <p:nvPr>
            <p:ph type="body" idx="1"/>
          </p:nvPr>
        </p:nvSpPr>
        <p:spPr/>
        <p:txBody>
          <a:bodyPr/>
          <a:lstStyle/>
          <a:p>
            <a:r>
              <a:rPr>
                <a:latin typeface="Arial"/>
              </a:rPr>
              <a:t>Efficiency trumps headline numbers</a:t>
            </a:r>
          </a:p>
        </p:txBody>
      </p:sp>
      <p:sp>
        <p:nvSpPr>
          <p:cNvPr id="4" name="Text Placeholder 3"/>
          <p:cNvSpPr>
            <a:spLocks noGrp="1"/>
          </p:cNvSpPr>
          <p:nvPr>
            <p:ph type="body" idx="2"/>
          </p:nvPr>
        </p:nvSpPr>
        <p:spPr/>
        <p:txBody>
          <a:bodyPr/>
          <a:lstStyle/>
          <a:p>
            <a:r>
              <a:rPr>
                <a:latin typeface="Arial"/>
              </a:rPr>
              <a:t>Make scaling operations seamless</a:t>
            </a:r>
          </a:p>
        </p:txBody>
      </p:sp>
      <p:sp>
        <p:nvSpPr>
          <p:cNvPr id="5" name="Text Placeholder 4"/>
          <p:cNvSpPr>
            <a:spLocks noGrp="1"/>
          </p:cNvSpPr>
          <p:nvPr>
            <p:ph type="body" idx="3"/>
          </p:nvPr>
        </p:nvSpPr>
        <p:spPr/>
        <p:txBody>
          <a:bodyPr/>
          <a:lstStyle/>
          <a:p>
            <a:r>
              <a:rPr>
                <a:latin typeface="Arial"/>
              </a:rPr>
              <a:t>Keep the command execution simple</a:t>
            </a:r>
          </a:p>
        </p:txBody>
      </p:sp>
      <p:sp>
        <p:nvSpPr>
          <p:cNvPr id="8" name="Rectangle 7"/>
          <p:cNvSpPr/>
          <p:nvPr/>
        </p:nvSpPr>
        <p:spPr>
          <a:xfrm>
            <a:off x="609600" y="14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609600" y="209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09600" y="27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Getting involved</a:t>
            </a:r>
          </a:p>
        </p:txBody>
      </p:sp>
      <p:sp>
        <p:nvSpPr>
          <p:cNvPr id="3" name="Text Placeholder 2"/>
          <p:cNvSpPr>
            <a:spLocks noGrp="1"/>
          </p:cNvSpPr>
          <p:nvPr>
            <p:ph type="body" idx="1"/>
          </p:nvPr>
        </p:nvSpPr>
        <p:spPr/>
        <p:txBody>
          <a:bodyPr/>
          <a:lstStyle/>
          <a:p>
            <a:r>
              <a:rPr>
                <a:latin typeface="Arial"/>
              </a:rPr>
              <a:t>Start at valkey.io</a:t>
            </a:r>
          </a:p>
        </p:txBody>
      </p:sp>
      <p:sp>
        <p:nvSpPr>
          <p:cNvPr id="4" name="Text Placeholder 3"/>
          <p:cNvSpPr>
            <a:spLocks noGrp="1"/>
          </p:cNvSpPr>
          <p:nvPr>
            <p:ph type="body" idx="2"/>
          </p:nvPr>
        </p:nvSpPr>
        <p:spPr/>
        <p:txBody>
          <a:bodyPr/>
          <a:lstStyle/>
          <a:p>
            <a:r>
              <a:rPr>
                <a:latin typeface="Arial"/>
              </a:rPr>
              <a:t>Talk to contributors on Slack: valkey.io/slack</a:t>
            </a:r>
          </a:p>
        </p:txBody>
      </p:sp>
      <p:sp>
        <p:nvSpPr>
          <p:cNvPr id="5" name="Text Placeholder 4"/>
          <p:cNvSpPr>
            <a:spLocks noGrp="1"/>
          </p:cNvSpPr>
          <p:nvPr>
            <p:ph type="body" idx="3"/>
          </p:nvPr>
        </p:nvSpPr>
        <p:spPr/>
        <p:txBody>
          <a:bodyPr/>
          <a:lstStyle/>
          <a:p>
            <a:r>
              <a:rPr>
                <a:latin typeface="Arial"/>
              </a:rPr>
              <a:t>ValkeyConf 2026, 5 October, Prague</a:t>
            </a:r>
          </a:p>
        </p:txBody>
      </p:sp>
      <p:pic>
        <p:nvPicPr>
          <p:cNvPr id="8" name="Picture Placeholder 7" descr="valkey-qr.png"/>
          <p:cNvPicPr>
            <a:picLocks noGrp="1" noChangeAspect="1"/>
          </p:cNvPicPr>
          <p:nvPr>
            <p:ph type="pic" idx="6"/>
          </p:nvPr>
        </p:nvPicPr>
        <p:blipFill>
          <a:blip r:embed="rId3"/>
          <a:srcRect/>
          <a:stretch>
            <a:fillRect/>
          </a:stretch>
        </p:blipFill>
        <p:spPr/>
      </p:pic>
      <p:sp>
        <p:nvSpPr>
          <p:cNvPr id="9" name="Rectangle 8"/>
          <p:cNvSpPr/>
          <p:nvPr/>
        </p:nvSpPr>
        <p:spPr>
          <a:xfrm>
            <a:off x="609600" y="14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09600" y="209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609600" y="27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9600" y="5943597"/>
            <a:ext cx="11062800" cy="300000"/>
          </a:xfrm>
          <a:prstGeom prst="rect">
            <a:avLst/>
          </a:prstGeom>
          <a:noFill/>
        </p:spPr>
        <p:txBody>
          <a:bodyPr wrap="square" lIns="0" tIns="0" rIns="0" bIns="0" anchor="t">
            <a:spAutoFit/>
          </a:bodyPr>
          <a:lstStyle/>
          <a:p>
            <a:pPr algn="l"/>
            <a:r>
              <a:rPr sz="1000" b="0" i="1">
                <a:solidFill>
                  <a:schemeClr val="dk1"/>
                </a:solidFill>
                <a:latin typeface="Arial"/>
              </a:rPr>
              <a:t>valkey.io/connect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a:latin typeface="Arial"/>
              </a:rPr>
              <a:t>Thank you! Let’s connect.</a:t>
            </a:r>
          </a:p>
        </p:txBody>
      </p:sp>
      <p:sp>
        <p:nvSpPr>
          <p:cNvPr id="3" name="Text Placeholder 2"/>
          <p:cNvSpPr>
            <a:spLocks noGrp="1"/>
          </p:cNvSpPr>
          <p:nvPr>
            <p:ph type="body" idx="2"/>
          </p:nvPr>
        </p:nvSpPr>
        <p:spPr/>
        <p:txBody>
          <a:bodyPr/>
          <a:lstStyle/>
          <a:p>
            <a:r>
              <a:rPr>
                <a:latin typeface="Arial"/>
              </a:rPr>
              <a:t>Madelyn Olson</a:t>
            </a:r>
          </a:p>
        </p:txBody>
      </p:sp>
      <p:sp>
        <p:nvSpPr>
          <p:cNvPr id="4" name="Text Placeholder 3"/>
          <p:cNvSpPr>
            <a:spLocks noGrp="1"/>
          </p:cNvSpPr>
          <p:nvPr>
            <p:ph type="body" idx="3"/>
          </p:nvPr>
        </p:nvSpPr>
        <p:spPr/>
        <p:txBody>
          <a:bodyPr/>
          <a:lstStyle/>
          <a:p>
            <a:r>
              <a:rPr>
                <a:latin typeface="Arial"/>
              </a:rPr>
              <a:t>@reconditerose (X and Bluesky)</a:t>
            </a:r>
          </a:p>
        </p:txBody>
      </p:sp>
      <p:sp>
        <p:nvSpPr>
          <p:cNvPr id="5" name="Text Placeholder 4"/>
          <p:cNvSpPr>
            <a:spLocks noGrp="1"/>
          </p:cNvSpPr>
          <p:nvPr>
            <p:ph type="body" idx="4"/>
          </p:nvPr>
        </p:nvSpPr>
        <p:spPr/>
        <p:txBody>
          <a:bodyPr/>
          <a:lstStyle/>
          <a:p>
            <a:r>
              <a:rPr>
                <a:latin typeface="Arial"/>
              </a:rPr>
              <a:t>madelynolson.com</a:t>
            </a:r>
          </a:p>
        </p:txBody>
      </p:sp>
    </p:spTree>
  </p:cSld>
  <p:clrMapOvr>
    <a:masterClrMapping/>
  </p:clrMapOvr>
</p:sld>
</file>

<file path=ppt/theme/theme1.xml><?xml version="1.0" encoding="utf-8"?>
<a:theme xmlns:a="http://schemas.openxmlformats.org/drawingml/2006/main" name="AWS AI Holdings">
  <a:themeElements>
    <a:clrScheme name="Valkey">
      <a:dk1>
        <a:srgbClr val="000000"/>
      </a:dk1>
      <a:lt1>
        <a:srgbClr val="FFFFFF"/>
      </a:lt1>
      <a:dk2>
        <a:srgbClr val="232F3E"/>
      </a:dk2>
      <a:lt2>
        <a:srgbClr val="F1F3F3"/>
      </a:lt2>
      <a:accent1>
        <a:srgbClr val="6983FF"/>
      </a:accent1>
      <a:accent2>
        <a:srgbClr val="1A2026"/>
      </a:accent2>
      <a:accent3>
        <a:srgbClr val="632637"/>
      </a:accent3>
      <a:accent4>
        <a:srgbClr val="30176E"/>
      </a:accent4>
      <a:accent5>
        <a:srgbClr val="BCB5E7"/>
      </a:accent5>
      <a:accent6>
        <a:srgbClr val="E0A2AF"/>
      </a:accent6>
      <a:hlink>
        <a:srgbClr val="6983FF"/>
      </a:hlink>
      <a:folHlink>
        <a:srgbClr val="698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a:spAutoFit/>
      </a:bodyPr>
      <a:lstStyle>
        <a:defPPr algn="l">
          <a:defRPr sz="1000" i="1" dirty="0" smtClean="0">
            <a:solidFill>
              <a:schemeClr val="dk1"/>
            </a:solidFill>
          </a:defRPr>
        </a:defPPr>
      </a:lstStyle>
    </a:txDef>
  </a:objectDefaults>
  <a:extraClrSchemeLst/>
</a:theme>
</file>

<file path=ppt/theme/theme2.xml><?xml version="1.0" encoding="utf-8"?>
<a:theme xmlns:a="http://schemas.openxmlformats.org/drawingml/2006/main" name="Office Theme">
  <a:themeElements>
    <a:clrScheme name="One Brand 2022 Dark">
      <a:dk1>
        <a:srgbClr val="000000"/>
      </a:dk1>
      <a:lt1>
        <a:srgbClr val="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34CC08-B840-594D-987B-8270AC79754B}">
  <we:reference id="3d2b7d21-fda6-4380-b3d4-39ac6c78a05c" version="1.0.1.6"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28375</TotalTime>
  <Words>1485</Words>
  <Application>Microsoft Macintosh PowerPoint</Application>
  <PresentationFormat>Widescreen</PresentationFormat>
  <Paragraphs>367</Paragraphs>
  <Slides>36</Slides>
  <Notes>16</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36</vt:i4>
      </vt:variant>
    </vt:vector>
  </HeadingPairs>
  <TitlesOfParts>
    <vt:vector size="38" baseType="lpstr">
      <vt:lpstr>Arial</vt:lpstr>
      <vt:lpstr>AWS AI Holdings</vt:lpstr>
      <vt:lpstr>Scaling up and out, and how Valkey does both</vt:lpstr>
      <vt:lpstr>Madelyn Olson (she/her)</vt:lpstr>
      <vt:lpstr>Introducing the Valkey project</vt:lpstr>
      <vt:lpstr>A customer latency story</vt:lpstr>
      <vt:lpstr>Latency is a cliff</vt:lpstr>
      <vt:lpstr>Steady state is a lie</vt:lpstr>
      <vt:lpstr>You could overprovision</vt:lpstr>
      <vt:lpstr>Two axes, and neither one is optional</vt:lpstr>
      <vt:lpstr>PowerPoint Presentation</vt:lpstr>
      <vt:lpstr>Thread scalable command processing</vt:lpstr>
      <vt:lpstr>Thread scalable command processing</vt:lpstr>
      <vt:lpstr>Thread scalable command processing</vt:lpstr>
      <vt:lpstr>Thread scalable command processing</vt:lpstr>
      <vt:lpstr>Thread scalable command processing</vt:lpstr>
      <vt:lpstr>Thread scalable command processing</vt:lpstr>
      <vt:lpstr>Thread scalable command processing</vt:lpstr>
      <vt:lpstr>The host looks idle. The main thread is full.</vt:lpstr>
      <vt:lpstr>Latency is (still) a cliff though</vt:lpstr>
      <vt:lpstr>Adapt the requirements to the workload</vt:lpstr>
      <vt:lpstr>Up: about 8x, and then it stops</vt:lpstr>
      <vt:lpstr>Clustering</vt:lpstr>
      <vt:lpstr>Every key belongs to exactly one slot</vt:lpstr>
      <vt:lpstr>CLUSTER GETKEYSINSLOT</vt:lpstr>
      <vt:lpstr>MIGRATE</vt:lpstr>
      <vt:lpstr>CLUSTER SETSLOT STABLE</vt:lpstr>
      <vt:lpstr>CLUSTER MIGRATESLOTS</vt:lpstr>
      <vt:lpstr>CLUSTER SYNCSLOTS</vt:lpstr>
      <vt:lpstr>CLUSTER SYNCSLOTS</vt:lpstr>
      <vt:lpstr>CLUSTER CANCELSLOTMIGRATIONS</vt:lpstr>
      <vt:lpstr>Legacy vs atomic slot migration</vt:lpstr>
      <vt:lpstr>Horizontal scaling, in and out: now fast and safe</vt:lpstr>
      <vt:lpstr>CLUSTER SLOT-STATS</vt:lpstr>
      <vt:lpstr>Introducing the Valkey Operator</vt:lpstr>
      <vt:lpstr>Valkey’s architectural goals</vt:lpstr>
      <vt:lpstr>Getting involved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Olson, Madelyn</dc:creator>
  <cp:lastModifiedBy>Olson, Madelyn</cp:lastModifiedBy>
  <cp:revision>118</cp:revision>
  <dcterms:created xsi:type="dcterms:W3CDTF">2025-04-15T18:05:46Z</dcterms:created>
  <dcterms:modified xsi:type="dcterms:W3CDTF">2026-10-01T04:15:51Z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2025-10-13T18:50:11Z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b81c3afb-3afe-4c07-b9bf-69177ff0e214</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