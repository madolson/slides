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6" r:id="rId1"/>
    <p:sldMasterId id="2147483676" r:id="rId2"/>
  </p:sldMasterIdLst>
  <p:notesMasterIdLst>
    <p:notesMasterId r:id="rId25"/>
  </p:notesMasterIdLst>
  <p:handoutMasterIdLst>
    <p:handoutMasterId r:id="rId26"/>
  </p:handoutMasterIdLst>
  <p:sldIdLst>
    <p:sldId id="322" r:id="rId3"/>
    <p:sldId id="352" r:id="rId4"/>
    <p:sldId id="353" r:id="rId5"/>
    <p:sldId id="351" r:id="rId6"/>
    <p:sldId id="332" r:id="rId7"/>
    <p:sldId id="333" r:id="rId8"/>
    <p:sldId id="323" r:id="rId9"/>
    <p:sldId id="327" r:id="rId10"/>
    <p:sldId id="326" r:id="rId11"/>
    <p:sldId id="349" r:id="rId12"/>
    <p:sldId id="325" r:id="rId13"/>
    <p:sldId id="330" r:id="rId14"/>
    <p:sldId id="334" r:id="rId15"/>
    <p:sldId id="335" r:id="rId16"/>
    <p:sldId id="336" r:id="rId17"/>
    <p:sldId id="337" r:id="rId18"/>
    <p:sldId id="347" r:id="rId19"/>
    <p:sldId id="348" r:id="rId20"/>
    <p:sldId id="307" r:id="rId21"/>
    <p:sldId id="340" r:id="rId22"/>
    <p:sldId id="341" r:id="rId23"/>
    <p:sldId id="342" r:id="rId24"/>
  </p:sldIdLst>
  <p:sldSz cx="12192000" cy="6858000"/>
  <p:notesSz cx="6858000" cy="9144000"/>
  <p:embeddedFontLst>
    <p:embeddedFont>
      <p:font typeface="Century Gothic" panose="020B0502020202020204" pitchFamily="34" charset="0"/>
      <p:regular r:id="rId27"/>
      <p:bold r:id="rId28"/>
      <p:italic r:id="rId29"/>
      <p:boldItalic r:id="rId30"/>
    </p:embeddedFont>
    <p:embeddedFont>
      <p:font typeface="Play"/>
      <p:regular r:id="rId31"/>
      <p:bold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General" id="{955B2512-A0E9-004C-A974-F37B9108860F}">
          <p14:sldIdLst>
            <p14:sldId id="322"/>
            <p14:sldId id="352"/>
            <p14:sldId id="353"/>
            <p14:sldId id="351"/>
            <p14:sldId id="332"/>
            <p14:sldId id="333"/>
            <p14:sldId id="323"/>
            <p14:sldId id="327"/>
            <p14:sldId id="326"/>
            <p14:sldId id="349"/>
            <p14:sldId id="325"/>
            <p14:sldId id="330"/>
            <p14:sldId id="334"/>
            <p14:sldId id="335"/>
            <p14:sldId id="336"/>
            <p14:sldId id="337"/>
            <p14:sldId id="347"/>
            <p14:sldId id="348"/>
            <p14:sldId id="307"/>
            <p14:sldId id="340"/>
            <p14:sldId id="341"/>
            <p14:sldId id="342"/>
          </p14:sldIdLst>
        </p14:section>
        <p14:section name="Features" id="{B6C2DFD3-F7BC-E445-8136-6E30FB47F7B9}">
          <p14:sldIdLst/>
        </p14:section>
        <p14:section name="Template examples" id="{899405CC-6E1E-4C49-BD4C-AAB5EBF02875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6" roundtripDataSignature="AMtx7mgBjwdw4Z9xz+EjAItyouivSXpb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77"/>
    <p:restoredTop sz="87203"/>
  </p:normalViewPr>
  <p:slideViewPr>
    <p:cSldViewPr snapToGrid="0">
      <p:cViewPr varScale="1">
        <p:scale>
          <a:sx n="115" d="100"/>
          <a:sy n="115" d="100"/>
        </p:scale>
        <p:origin x="5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3688" y="1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handoutMaster" Target="handoutMasters/handoutMaster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59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6.fntdata"/><Relationship Id="rId58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font" Target="fonts/font2.fntdata"/><Relationship Id="rId57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5.fntdata"/><Relationship Id="rId6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56" Type="http://customschemas.google.com/relationships/presentationmetadata" Target="metadata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Healthy State</c:v>
                </c:pt>
              </c:strCache>
            </c:strRef>
          </c:tx>
          <c:spPr>
            <a:ln w="38100" cap="flat">
              <a:solidFill>
                <a:srgbClr val="10B981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Sheet1!$A$2:$A$20</c:f>
              <c:numCache>
                <c:formatCode>General</c:formatCode>
                <c:ptCount val="19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75</c:v>
                </c:pt>
                <c:pt idx="9">
                  <c:v>80</c:v>
                </c:pt>
                <c:pt idx="10">
                  <c:v>82</c:v>
                </c:pt>
                <c:pt idx="11">
                  <c:v>84</c:v>
                </c:pt>
                <c:pt idx="12">
                  <c:v>85</c:v>
                </c:pt>
                <c:pt idx="13">
                  <c:v>86</c:v>
                </c:pt>
                <c:pt idx="14">
                  <c:v>87</c:v>
                </c:pt>
                <c:pt idx="15">
                  <c:v>88</c:v>
                </c:pt>
                <c:pt idx="16">
                  <c:v>90</c:v>
                </c:pt>
                <c:pt idx="17">
                  <c:v>95</c:v>
                </c:pt>
                <c:pt idx="18">
                  <c:v>100</c:v>
                </c:pt>
              </c:numCache>
            </c:numRef>
          </c:xVal>
          <c:yVal>
            <c:numRef>
              <c:f>Sheet1!$B$2:$B$20</c:f>
              <c:numCache>
                <c:formatCode>General</c:formatCode>
                <c:ptCount val="19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73</c:v>
                </c:pt>
                <c:pt idx="9">
                  <c:v>75</c:v>
                </c:pt>
                <c:pt idx="10">
                  <c:v>75</c:v>
                </c:pt>
                <c:pt idx="11">
                  <c:v>75</c:v>
                </c:pt>
                <c:pt idx="12">
                  <c:v>75</c:v>
                </c:pt>
                <c:pt idx="13">
                  <c:v>60</c:v>
                </c:pt>
                <c:pt idx="14">
                  <c:v>40</c:v>
                </c:pt>
                <c:pt idx="15">
                  <c:v>15</c:v>
                </c:pt>
                <c:pt idx="16">
                  <c:v>5</c:v>
                </c:pt>
                <c:pt idx="17">
                  <c:v>3</c:v>
                </c:pt>
                <c:pt idx="18">
                  <c:v>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13AA-1143-B57F-10A4D408BE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1"/>
        <c:axPos val="b"/>
        <c:title>
          <c:tx>
            <c:rich>
              <a:bodyPr/>
              <a:lstStyle/>
              <a:p>
                <a:pPr>
                  <a:defRPr sz="2000" b="0" i="0" u="none" strike="noStrike">
                    <a:solidFill>
                      <a:schemeClr val="tx1"/>
                    </a:solidFill>
                    <a:latin typeface="Arial"/>
                  </a:defRPr>
                </a:pPr>
                <a:r>
                  <a:rPr lang="en-US" sz="2000" b="0" i="0" u="none" strike="noStrike">
                    <a:solidFill>
                      <a:schemeClr val="tx1"/>
                    </a:solidFill>
                    <a:latin typeface="Arial"/>
                  </a:rPr>
                  <a:t>Offered Load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2094734552"/>
        <c:crosses val="autoZero"/>
        <c:crossBetween val="midCat"/>
      </c:valAx>
      <c:valAx>
        <c:axId val="2094734552"/>
        <c:scaling>
          <c:orientation val="minMax"/>
          <c:max val="80"/>
          <c:min val="0"/>
        </c:scaling>
        <c:delete val="1"/>
        <c:axPos val="l"/>
        <c:majorGridlines>
          <c:spPr>
            <a:ln w="6350" cap="flat">
              <a:solidFill>
                <a:srgbClr val="2A3A5E">
                  <a:alpha val="20847"/>
                </a:srgbClr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2000" b="0" i="0" u="none" strike="noStrike">
                    <a:solidFill>
                      <a:schemeClr val="tx1"/>
                    </a:solidFill>
                    <a:latin typeface="Arial"/>
                  </a:defRPr>
                </a:pPr>
                <a:r>
                  <a:rPr lang="en-US" sz="2000" b="0" i="0" u="none" strike="noStrike">
                    <a:solidFill>
                      <a:schemeClr val="tx1"/>
                    </a:solidFill>
                    <a:latin typeface="Arial"/>
                  </a:rPr>
                  <a:t>Goodput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p50 Latency</c:v>
                </c:pt>
              </c:strCache>
            </c:strRef>
          </c:tx>
          <c:spPr>
            <a:ln w="31750">
              <a:solidFill>
                <a:srgbClr val="10B981"/>
              </a:solidFill>
            </a:ln>
          </c:spPr>
          <c:marker>
            <c:symbol val="none"/>
          </c:marker>
          <c:xVal>
            <c:numRef>
              <c:f>Sheet1!$A$2:$A$27</c:f>
              <c:numCache>
                <c:formatCode>General</c:formatCode>
                <c:ptCount val="26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48</c:v>
                </c:pt>
                <c:pt idx="11">
                  <c:v>50</c:v>
                </c:pt>
                <c:pt idx="12">
                  <c:v>51</c:v>
                </c:pt>
                <c:pt idx="13">
                  <c:v>52</c:v>
                </c:pt>
                <c:pt idx="14">
                  <c:v>53</c:v>
                </c:pt>
                <c:pt idx="15">
                  <c:v>55</c:v>
                </c:pt>
                <c:pt idx="16">
                  <c:v>57</c:v>
                </c:pt>
                <c:pt idx="17">
                  <c:v>60</c:v>
                </c:pt>
                <c:pt idx="18">
                  <c:v>65</c:v>
                </c:pt>
                <c:pt idx="19">
                  <c:v>70</c:v>
                </c:pt>
                <c:pt idx="20">
                  <c:v>75</c:v>
                </c:pt>
                <c:pt idx="21">
                  <c:v>80</c:v>
                </c:pt>
                <c:pt idx="22">
                  <c:v>85</c:v>
                </c:pt>
                <c:pt idx="23">
                  <c:v>90</c:v>
                </c:pt>
                <c:pt idx="24">
                  <c:v>95</c:v>
                </c:pt>
                <c:pt idx="25">
                  <c:v>100</c:v>
                </c:pt>
              </c:numCache>
            </c:numRef>
          </c:xVal>
          <c:yVal>
            <c:numRef>
              <c:f>Sheet1!$B$2:$B$27</c:f>
              <c:numCache>
                <c:formatCode>General</c:formatCode>
                <c:ptCount val="26"/>
                <c:pt idx="0">
                  <c:v>5</c:v>
                </c:pt>
                <c:pt idx="1">
                  <c:v>5</c:v>
                </c:pt>
                <c:pt idx="2">
                  <c:v>6</c:v>
                </c:pt>
                <c:pt idx="3">
                  <c:v>5</c:v>
                </c:pt>
                <c:pt idx="4">
                  <c:v>5</c:v>
                </c:pt>
                <c:pt idx="5">
                  <c:v>6</c:v>
                </c:pt>
                <c:pt idx="6">
                  <c:v>5</c:v>
                </c:pt>
                <c:pt idx="7">
                  <c:v>5</c:v>
                </c:pt>
                <c:pt idx="8">
                  <c:v>6</c:v>
                </c:pt>
                <c:pt idx="9">
                  <c:v>5</c:v>
                </c:pt>
                <c:pt idx="10">
                  <c:v>5</c:v>
                </c:pt>
                <c:pt idx="11">
                  <c:v>8</c:v>
                </c:pt>
                <c:pt idx="12">
                  <c:v>40</c:v>
                </c:pt>
                <c:pt idx="13">
                  <c:v>120</c:v>
                </c:pt>
                <c:pt idx="14">
                  <c:v>180</c:v>
                </c:pt>
                <c:pt idx="15">
                  <c:v>200</c:v>
                </c:pt>
                <c:pt idx="16">
                  <c:v>195</c:v>
                </c:pt>
                <c:pt idx="17">
                  <c:v>200</c:v>
                </c:pt>
                <c:pt idx="18">
                  <c:v>210</c:v>
                </c:pt>
                <c:pt idx="19">
                  <c:v>200</c:v>
                </c:pt>
                <c:pt idx="20">
                  <c:v>195</c:v>
                </c:pt>
                <c:pt idx="21">
                  <c:v>200</c:v>
                </c:pt>
                <c:pt idx="22">
                  <c:v>205</c:v>
                </c:pt>
                <c:pt idx="23">
                  <c:v>200</c:v>
                </c:pt>
                <c:pt idx="24">
                  <c:v>195</c:v>
                </c:pt>
                <c:pt idx="25">
                  <c:v>200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D52E-E041-BA56-7E8DCA4D5F48}"/>
            </c:ext>
          </c:extLst>
        </c:ser>
        <c:ser>
          <c:idx val="1"/>
          <c:order val="1"/>
          <c:tx>
            <c:strRef>
              <c:f>Sheet1!$B$29</c:f>
              <c:strCache>
                <c:ptCount val="1"/>
                <c:pt idx="0">
                  <c:v>Engine CPU</c:v>
                </c:pt>
              </c:strCache>
            </c:strRef>
          </c:tx>
          <c:spPr>
            <a:ln w="31750">
              <a:solidFill>
                <a:srgbClr val="E94560"/>
              </a:solidFill>
            </a:ln>
          </c:spPr>
          <c:marker>
            <c:symbol val="none"/>
          </c:marker>
          <c:xVal>
            <c:numRef>
              <c:f>Sheet1!$A$30:$A$55</c:f>
              <c:numCache>
                <c:formatCode>General</c:formatCode>
                <c:ptCount val="26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48</c:v>
                </c:pt>
                <c:pt idx="11">
                  <c:v>50</c:v>
                </c:pt>
                <c:pt idx="12">
                  <c:v>51</c:v>
                </c:pt>
                <c:pt idx="13">
                  <c:v>52</c:v>
                </c:pt>
                <c:pt idx="14">
                  <c:v>53</c:v>
                </c:pt>
                <c:pt idx="15">
                  <c:v>55</c:v>
                </c:pt>
                <c:pt idx="16">
                  <c:v>57</c:v>
                </c:pt>
                <c:pt idx="17">
                  <c:v>60</c:v>
                </c:pt>
                <c:pt idx="18">
                  <c:v>65</c:v>
                </c:pt>
                <c:pt idx="19">
                  <c:v>70</c:v>
                </c:pt>
                <c:pt idx="20">
                  <c:v>75</c:v>
                </c:pt>
                <c:pt idx="21">
                  <c:v>80</c:v>
                </c:pt>
                <c:pt idx="22">
                  <c:v>85</c:v>
                </c:pt>
                <c:pt idx="23">
                  <c:v>90</c:v>
                </c:pt>
                <c:pt idx="24">
                  <c:v>95</c:v>
                </c:pt>
                <c:pt idx="25">
                  <c:v>100</c:v>
                </c:pt>
              </c:numCache>
            </c:numRef>
          </c:xVal>
          <c:yVal>
            <c:numRef>
              <c:f>Sheet1!$B$30:$B$55</c:f>
              <c:numCache>
                <c:formatCode>General</c:formatCode>
                <c:ptCount val="26"/>
                <c:pt idx="0">
                  <c:v>25</c:v>
                </c:pt>
                <c:pt idx="1">
                  <c:v>28</c:v>
                </c:pt>
                <c:pt idx="2">
                  <c:v>25</c:v>
                </c:pt>
                <c:pt idx="3">
                  <c:v>30</c:v>
                </c:pt>
                <c:pt idx="4">
                  <c:v>25</c:v>
                </c:pt>
                <c:pt idx="5">
                  <c:v>27</c:v>
                </c:pt>
                <c:pt idx="6">
                  <c:v>25</c:v>
                </c:pt>
                <c:pt idx="7">
                  <c:v>28</c:v>
                </c:pt>
                <c:pt idx="8">
                  <c:v>26</c:v>
                </c:pt>
                <c:pt idx="9">
                  <c:v>25</c:v>
                </c:pt>
                <c:pt idx="10">
                  <c:v>28</c:v>
                </c:pt>
                <c:pt idx="11">
                  <c:v>80</c:v>
                </c:pt>
                <c:pt idx="12">
                  <c:v>500</c:v>
                </c:pt>
                <c:pt idx="13">
                  <c:v>2000</c:v>
                </c:pt>
                <c:pt idx="14">
                  <c:v>4000</c:v>
                </c:pt>
                <c:pt idx="15">
                  <c:v>5000</c:v>
                </c:pt>
                <c:pt idx="16">
                  <c:v>4800</c:v>
                </c:pt>
                <c:pt idx="17">
                  <c:v>5000</c:v>
                </c:pt>
                <c:pt idx="18">
                  <c:v>5200</c:v>
                </c:pt>
                <c:pt idx="19">
                  <c:v>5000</c:v>
                </c:pt>
                <c:pt idx="20">
                  <c:v>4900</c:v>
                </c:pt>
                <c:pt idx="21">
                  <c:v>5100</c:v>
                </c:pt>
                <c:pt idx="22">
                  <c:v>5000</c:v>
                </c:pt>
                <c:pt idx="23">
                  <c:v>4800</c:v>
                </c:pt>
                <c:pt idx="24">
                  <c:v>5000</c:v>
                </c:pt>
                <c:pt idx="25">
                  <c:v>5100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D52E-E041-BA56-7E8DCA4D5F48}"/>
            </c:ext>
          </c:extLst>
        </c:ser>
        <c:ser>
          <c:idx val="2"/>
          <c:order val="2"/>
          <c:tx>
            <c:strRef>
              <c:f>Sheet1!$B$57</c:f>
              <c:strCache>
                <c:ptCount val="1"/>
                <c:pt idx="0">
                  <c:v>Throughput (constant)</c:v>
                </c:pt>
              </c:strCache>
            </c:strRef>
          </c:tx>
          <c:spPr>
            <a:ln w="31750">
              <a:solidFill>
                <a:srgbClr val="F59E0B"/>
              </a:solidFill>
            </a:ln>
          </c:spPr>
          <c:marker>
            <c:symbol val="none"/>
          </c:marker>
          <c:xVal>
            <c:numRef>
              <c:f>Sheet1!$A$58:$A$69</c:f>
              <c:numCache>
                <c:formatCode>General</c:formatCode>
                <c:ptCount val="12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55</c:v>
                </c:pt>
                <c:pt idx="7">
                  <c:v>60</c:v>
                </c:pt>
                <c:pt idx="8">
                  <c:v>70</c:v>
                </c:pt>
                <c:pt idx="9">
                  <c:v>80</c:v>
                </c:pt>
                <c:pt idx="10">
                  <c:v>90</c:v>
                </c:pt>
                <c:pt idx="11">
                  <c:v>100</c:v>
                </c:pt>
              </c:numCache>
            </c:numRef>
          </c:xVal>
          <c:yVal>
            <c:numRef>
              <c:f>Sheet1!$B$58:$B$69</c:f>
              <c:numCache>
                <c:formatCode>General</c:formatCode>
                <c:ptCount val="12"/>
                <c:pt idx="0">
                  <c:v>2500</c:v>
                </c:pt>
                <c:pt idx="1">
                  <c:v>2500</c:v>
                </c:pt>
                <c:pt idx="2">
                  <c:v>2500</c:v>
                </c:pt>
                <c:pt idx="3">
                  <c:v>2500</c:v>
                </c:pt>
                <c:pt idx="4">
                  <c:v>2500</c:v>
                </c:pt>
                <c:pt idx="5">
                  <c:v>2500</c:v>
                </c:pt>
                <c:pt idx="6">
                  <c:v>2500</c:v>
                </c:pt>
                <c:pt idx="7">
                  <c:v>2500</c:v>
                </c:pt>
                <c:pt idx="8">
                  <c:v>2500</c:v>
                </c:pt>
                <c:pt idx="9">
                  <c:v>2500</c:v>
                </c:pt>
                <c:pt idx="10">
                  <c:v>2500</c:v>
                </c:pt>
                <c:pt idx="11">
                  <c:v>2500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D52E-E041-BA56-7E8DCA4D5F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 sz="2000">
                    <a:solidFill>
                      <a:schemeClr val="tx1"/>
                    </a:solidFill>
                  </a:rPr>
                  <a:t>Time →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1"/>
        <c:axPos val="l"/>
        <c:majorGridlines/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legend>
      <c:legendPos val="r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60A7F18-A111-AB6A-97B8-B13BD21983D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721FC1-A360-DBB8-0D4E-F8382AEAEE4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A8BFF4-3DC3-D34C-B801-A1856919C1BB}" type="datetimeFigureOut">
              <a:rPr lang="en-US" smtClean="0"/>
              <a:t>8/19/26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CAE0C6-45D2-84B2-2F94-5D3078BB1B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69EAEC-8756-8E23-D948-BCAD92B39E9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A76D86-3DF6-9345-A4E1-DF218D723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3166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3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048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marL="1371600" marR="0" lvl="2" indent="-3048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marL="1828800" marR="0" lvl="3" indent="-3048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marL="2286000" marR="0" lvl="4" indent="-3048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marL="2743200" marR="0" lvl="5" indent="-228600" algn="l" rtl="0">
              <a:spcBef>
                <a:spcPts val="30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sldNum" idx="12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‹#›</a:t>
            </a:fld>
            <a:endParaRPr sz="1000" b="0" i="0" u="none" strike="noStrike" cap="non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  <p:extLst>
    <p:ext uri="{620B2872-D7B9-4A21-9093-7833F8D536E1}">
      <p15:sldGuideLst xmlns:p15="http://schemas.microsoft.com/office/powerpoint/2012/main">
        <p15:guide id="1" pos="2160">
          <p15:clr>
            <a:srgbClr val="F26B43"/>
          </p15:clr>
        </p15:guide>
        <p15:guide id="2" orient="horz" pos="2880">
          <p15:clr>
            <a:srgbClr val="F26B43"/>
          </p15:clr>
        </p15:guide>
        <p15:guide id="3" pos="264">
          <p15:clr>
            <a:srgbClr val="F26B43"/>
          </p15:clr>
        </p15:guide>
        <p15:guide id="4" pos="4056">
          <p15:clr>
            <a:srgbClr val="F26B43"/>
          </p15:clr>
        </p15:guide>
        <p15:guide id="5" orient="horz" pos="288">
          <p15:clr>
            <a:srgbClr val="F26B43"/>
          </p15:clr>
        </p15:guide>
        <p15:guide id="6" orient="horz" pos="2640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>
          <a:extLst>
            <a:ext uri="{FF2B5EF4-FFF2-40B4-BE49-F238E27FC236}">
              <a16:creationId xmlns:a16="http://schemas.microsoft.com/office/drawing/2014/main" id="{30283D06-8DC3-2E48-39FC-614B98F91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6:notes">
            <a:extLst>
              <a:ext uri="{FF2B5EF4-FFF2-40B4-BE49-F238E27FC236}">
                <a16:creationId xmlns:a16="http://schemas.microsoft.com/office/drawing/2014/main" id="{2B360E4F-CE5C-BB5B-06FA-74A8271890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300"/>
              </a:spcAft>
              <a:buNone/>
            </a:pPr>
            <a:endParaRPr/>
          </a:p>
        </p:txBody>
      </p:sp>
      <p:sp>
        <p:nvSpPr>
          <p:cNvPr id="422" name="Google Shape;422;p26:notes">
            <a:extLst>
              <a:ext uri="{FF2B5EF4-FFF2-40B4-BE49-F238E27FC236}">
                <a16:creationId xmlns:a16="http://schemas.microsoft.com/office/drawing/2014/main" id="{24372268-868F-CC98-96AA-7AE46F2DBE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3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537662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x Speaker" userDrawn="1">
  <p:cSld name="Title + 2x Speak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52251" y="-18140"/>
            <a:ext cx="12261669" cy="6897189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45"/>
          <p:cNvSpPr txBox="1">
            <a:spLocks noGrp="1"/>
          </p:cNvSpPr>
          <p:nvPr>
            <p:ph type="body" idx="1"/>
          </p:nvPr>
        </p:nvSpPr>
        <p:spPr>
          <a:xfrm>
            <a:off x="609597" y="1839354"/>
            <a:ext cx="6477003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80"/>
              <a:buNone/>
              <a:defRPr sz="1200" b="1" i="0" cap="none">
                <a:solidFill>
                  <a:schemeClr val="accent5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45"/>
          <p:cNvSpPr txBox="1">
            <a:spLocks noGrp="1"/>
          </p:cNvSpPr>
          <p:nvPr>
            <p:ph type="title"/>
          </p:nvPr>
        </p:nvSpPr>
        <p:spPr>
          <a:xfrm>
            <a:off x="609597" y="2200683"/>
            <a:ext cx="6477003" cy="1812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  <a:defRPr sz="4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45"/>
          <p:cNvSpPr txBox="1">
            <a:spLocks noGrp="1"/>
          </p:cNvSpPr>
          <p:nvPr>
            <p:ph type="body" idx="2"/>
          </p:nvPr>
        </p:nvSpPr>
        <p:spPr>
          <a:xfrm>
            <a:off x="609599" y="4312975"/>
            <a:ext cx="3154681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000" b="1" i="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45"/>
          <p:cNvSpPr txBox="1">
            <a:spLocks noGrp="1"/>
          </p:cNvSpPr>
          <p:nvPr>
            <p:ph type="body" idx="3"/>
          </p:nvPr>
        </p:nvSpPr>
        <p:spPr>
          <a:xfrm>
            <a:off x="609599" y="4962720"/>
            <a:ext cx="3154681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 sz="16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45"/>
          <p:cNvSpPr txBox="1">
            <a:spLocks noGrp="1"/>
          </p:cNvSpPr>
          <p:nvPr>
            <p:ph type="body" idx="4"/>
          </p:nvPr>
        </p:nvSpPr>
        <p:spPr>
          <a:xfrm>
            <a:off x="3931919" y="4312975"/>
            <a:ext cx="3154681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000" b="1" i="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45"/>
          <p:cNvSpPr txBox="1">
            <a:spLocks noGrp="1"/>
          </p:cNvSpPr>
          <p:nvPr>
            <p:ph type="body" idx="5"/>
          </p:nvPr>
        </p:nvSpPr>
        <p:spPr>
          <a:xfrm>
            <a:off x="3931919" y="4962720"/>
            <a:ext cx="3154681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 sz="16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45"/>
          <p:cNvSpPr txBox="1"/>
          <p:nvPr/>
        </p:nvSpPr>
        <p:spPr>
          <a:xfrm>
            <a:off x="609600" y="6389815"/>
            <a:ext cx="1122423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Play"/>
              <a:buNone/>
            </a:pPr>
            <a:r>
              <a:rPr lang="en-US" sz="600" b="0" i="0" u="none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© 2025 Valkey Community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464">
          <p15:clr>
            <a:srgbClr val="FBAE40"/>
          </p15:clr>
        </p15:guide>
        <p15:guide id="2" orient="horz" pos="2736">
          <p15:clr>
            <a:srgbClr val="FBAE40"/>
          </p15:clr>
        </p15:guide>
        <p15:guide id="3" orient="horz" pos="1272">
          <p15:clr>
            <a:srgbClr val="FBAE40"/>
          </p15:clr>
        </p15:guide>
        <p15:guide id="4" orient="horz" pos="17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Cont" userDrawn="1">
  <p:cSld name="Title + Con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0"/>
          <p:cNvSpPr txBox="1">
            <a:spLocks noGrp="1"/>
          </p:cNvSpPr>
          <p:nvPr>
            <p:ph type="title"/>
          </p:nvPr>
        </p:nvSpPr>
        <p:spPr>
          <a:xfrm>
            <a:off x="609600" y="400019"/>
            <a:ext cx="110628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9" name="Google Shape;19;p40"/>
          <p:cNvSpPr txBox="1">
            <a:spLocks noGrp="1"/>
          </p:cNvSpPr>
          <p:nvPr>
            <p:ph type="body" idx="1"/>
          </p:nvPr>
        </p:nvSpPr>
        <p:spPr>
          <a:xfrm>
            <a:off x="609600" y="1445931"/>
            <a:ext cx="11062800" cy="4565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">
  <p:cSld name="Divider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7420" y="-9799"/>
            <a:ext cx="12270380" cy="690209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1"/>
          <p:cNvSpPr txBox="1">
            <a:spLocks noGrp="1"/>
          </p:cNvSpPr>
          <p:nvPr>
            <p:ph type="title"/>
          </p:nvPr>
        </p:nvSpPr>
        <p:spPr>
          <a:xfrm>
            <a:off x="609600" y="2819603"/>
            <a:ext cx="9194800" cy="12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  <a:defRPr sz="4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 2x">
  <p:cSld name="Thank You 2x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5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27627" y="-31081"/>
            <a:ext cx="12298004" cy="6917627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52"/>
          <p:cNvSpPr txBox="1"/>
          <p:nvPr/>
        </p:nvSpPr>
        <p:spPr>
          <a:xfrm>
            <a:off x="609599" y="2461212"/>
            <a:ext cx="6867525" cy="923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Thank you!</a:t>
            </a:r>
            <a:endParaRPr/>
          </a:p>
        </p:txBody>
      </p:sp>
      <p:sp>
        <p:nvSpPr>
          <p:cNvPr id="74" name="Google Shape;74;p52"/>
          <p:cNvSpPr txBox="1">
            <a:spLocks noGrp="1"/>
          </p:cNvSpPr>
          <p:nvPr>
            <p:ph type="body" idx="1"/>
          </p:nvPr>
        </p:nvSpPr>
        <p:spPr>
          <a:xfrm>
            <a:off x="609600" y="4001508"/>
            <a:ext cx="316701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000" b="1" i="0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75" name="Google Shape;75;p52"/>
          <p:cNvSpPr txBox="1">
            <a:spLocks noGrp="1"/>
          </p:cNvSpPr>
          <p:nvPr>
            <p:ph type="body" idx="2"/>
          </p:nvPr>
        </p:nvSpPr>
        <p:spPr>
          <a:xfrm>
            <a:off x="609600" y="4372505"/>
            <a:ext cx="3167018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2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76" name="Google Shape;76;p52"/>
          <p:cNvSpPr txBox="1">
            <a:spLocks noGrp="1"/>
          </p:cNvSpPr>
          <p:nvPr>
            <p:ph type="body" idx="3"/>
          </p:nvPr>
        </p:nvSpPr>
        <p:spPr>
          <a:xfrm>
            <a:off x="3904342" y="4001508"/>
            <a:ext cx="316701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000" b="1" i="0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52"/>
          <p:cNvSpPr txBox="1">
            <a:spLocks noGrp="1"/>
          </p:cNvSpPr>
          <p:nvPr>
            <p:ph type="body" idx="4"/>
          </p:nvPr>
        </p:nvSpPr>
        <p:spPr>
          <a:xfrm>
            <a:off x="3904342" y="4372505"/>
            <a:ext cx="3167018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2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6"/>
          <p:cNvSpPr txBox="1">
            <a:spLocks noGrp="1"/>
          </p:cNvSpPr>
          <p:nvPr>
            <p:ph type="title"/>
          </p:nvPr>
        </p:nvSpPr>
        <p:spPr>
          <a:xfrm>
            <a:off x="609600" y="400019"/>
            <a:ext cx="110628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lay"/>
              <a:buNone/>
              <a:defRPr sz="3200" b="1" i="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x Cont with Headings">
  <p:cSld name="Title + 2x Cont with Headings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9"/>
          <p:cNvSpPr txBox="1">
            <a:spLocks noGrp="1"/>
          </p:cNvSpPr>
          <p:nvPr>
            <p:ph type="title"/>
          </p:nvPr>
        </p:nvSpPr>
        <p:spPr>
          <a:xfrm>
            <a:off x="609599" y="400019"/>
            <a:ext cx="11062801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9"/>
          <p:cNvSpPr txBox="1">
            <a:spLocks noGrp="1"/>
          </p:cNvSpPr>
          <p:nvPr>
            <p:ph type="body" idx="1"/>
          </p:nvPr>
        </p:nvSpPr>
        <p:spPr>
          <a:xfrm>
            <a:off x="609599" y="1662252"/>
            <a:ext cx="524865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2000" b="1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1" name="Google Shape;61;p49"/>
          <p:cNvSpPr txBox="1">
            <a:spLocks noGrp="1"/>
          </p:cNvSpPr>
          <p:nvPr>
            <p:ph type="body" idx="2"/>
          </p:nvPr>
        </p:nvSpPr>
        <p:spPr>
          <a:xfrm>
            <a:off x="609599" y="2072991"/>
            <a:ext cx="5248656" cy="3938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None/>
              <a:defRPr sz="180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None/>
              <a:defRPr sz="180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49"/>
          <p:cNvSpPr txBox="1">
            <a:spLocks noGrp="1"/>
          </p:cNvSpPr>
          <p:nvPr>
            <p:ph type="body" idx="3"/>
          </p:nvPr>
        </p:nvSpPr>
        <p:spPr>
          <a:xfrm>
            <a:off x="6423744" y="1662252"/>
            <a:ext cx="524865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2000" b="1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3" name="Google Shape;63;p49"/>
          <p:cNvSpPr txBox="1">
            <a:spLocks noGrp="1"/>
          </p:cNvSpPr>
          <p:nvPr>
            <p:ph type="body" idx="4"/>
          </p:nvPr>
        </p:nvSpPr>
        <p:spPr>
          <a:xfrm>
            <a:off x="6423744" y="2072991"/>
            <a:ext cx="5248656" cy="3938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None/>
              <a:defRPr sz="180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None/>
              <a:defRPr sz="180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0"/>
          <p:cNvSpPr txBox="1">
            <a:spLocks noGrp="1"/>
          </p:cNvSpPr>
          <p:nvPr>
            <p:ph type="title"/>
          </p:nvPr>
        </p:nvSpPr>
        <p:spPr>
          <a:xfrm>
            <a:off x="609599" y="2571622"/>
            <a:ext cx="10130971" cy="12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50"/>
          <p:cNvSpPr txBox="1">
            <a:spLocks noGrp="1"/>
          </p:cNvSpPr>
          <p:nvPr>
            <p:ph type="body" idx="1"/>
          </p:nvPr>
        </p:nvSpPr>
        <p:spPr>
          <a:xfrm>
            <a:off x="881063" y="4356013"/>
            <a:ext cx="54864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000" b="1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50"/>
          <p:cNvSpPr txBox="1">
            <a:spLocks noGrp="1"/>
          </p:cNvSpPr>
          <p:nvPr>
            <p:ph type="body" idx="2"/>
          </p:nvPr>
        </p:nvSpPr>
        <p:spPr>
          <a:xfrm>
            <a:off x="881063" y="4692818"/>
            <a:ext cx="5486400" cy="313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248">
          <p15:clr>
            <a:srgbClr val="FBAE40"/>
          </p15:clr>
        </p15:guide>
        <p15:guide id="2" orient="horz" pos="259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" userDrawn="1">
  <p:cSld name="Code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1"/>
          <p:cNvSpPr txBox="1">
            <a:spLocks noGrp="1"/>
          </p:cNvSpPr>
          <p:nvPr>
            <p:ph type="title"/>
          </p:nvPr>
        </p:nvSpPr>
        <p:spPr>
          <a:xfrm>
            <a:off x="609600" y="914403"/>
            <a:ext cx="109728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Full Image">
  <p:cSld name="Full Image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4"/>
          <p:cNvSpPr>
            <a:spLocks noGrp="1"/>
          </p:cNvSpPr>
          <p:nvPr>
            <p:ph type="pic" idx="2"/>
          </p:nvPr>
        </p:nvSpPr>
        <p:spPr>
          <a:xfrm>
            <a:off x="0" y="3"/>
            <a:ext cx="12192000" cy="6857999"/>
          </a:xfrm>
          <a:prstGeom prst="rect">
            <a:avLst/>
          </a:prstGeom>
          <a:solidFill>
            <a:schemeClr val="dk2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ideo">
  <p:cSld name="Video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5"/>
          <p:cNvSpPr>
            <a:spLocks noGrp="1"/>
          </p:cNvSpPr>
          <p:nvPr>
            <p:ph type="media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Century Gothic"/>
              <a:buNone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  <a:defRPr sz="20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  <a:defRPr sz="18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None/>
              <a:defRPr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None/>
              <a:defRPr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Char char="•"/>
              <a:defRPr sz="18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Char char="•"/>
              <a:defRPr sz="18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Char char="•"/>
              <a:defRPr sz="18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Char char="•"/>
              <a:defRPr sz="18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endParaRPr/>
          </a:p>
        </p:txBody>
      </p:sp>
      <p:pic>
        <p:nvPicPr>
          <p:cNvPr id="83" name="Google Shape;83;p5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994672" y="2327672"/>
            <a:ext cx="2202656" cy="22026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x Speaker" userDrawn="1">
  <p:cSld name="Title + 2x Speak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52251" y="-18140"/>
            <a:ext cx="12261669" cy="6897189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45"/>
          <p:cNvSpPr txBox="1">
            <a:spLocks noGrp="1"/>
          </p:cNvSpPr>
          <p:nvPr>
            <p:ph type="body" idx="1"/>
          </p:nvPr>
        </p:nvSpPr>
        <p:spPr>
          <a:xfrm>
            <a:off x="609597" y="1839354"/>
            <a:ext cx="6477003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80"/>
              <a:buNone/>
              <a:defRPr sz="1200" b="1" i="0" cap="none">
                <a:solidFill>
                  <a:schemeClr val="accent5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45"/>
          <p:cNvSpPr txBox="1">
            <a:spLocks noGrp="1"/>
          </p:cNvSpPr>
          <p:nvPr>
            <p:ph type="title"/>
          </p:nvPr>
        </p:nvSpPr>
        <p:spPr>
          <a:xfrm>
            <a:off x="609597" y="2200683"/>
            <a:ext cx="6477003" cy="1812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  <a:defRPr sz="4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45"/>
          <p:cNvSpPr txBox="1">
            <a:spLocks noGrp="1"/>
          </p:cNvSpPr>
          <p:nvPr>
            <p:ph type="body" idx="2"/>
          </p:nvPr>
        </p:nvSpPr>
        <p:spPr>
          <a:xfrm>
            <a:off x="609599" y="4312975"/>
            <a:ext cx="3154681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000" b="1" i="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45"/>
          <p:cNvSpPr txBox="1">
            <a:spLocks noGrp="1"/>
          </p:cNvSpPr>
          <p:nvPr>
            <p:ph type="body" idx="3"/>
          </p:nvPr>
        </p:nvSpPr>
        <p:spPr>
          <a:xfrm>
            <a:off x="609599" y="4962720"/>
            <a:ext cx="3154681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 sz="16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45"/>
          <p:cNvSpPr txBox="1">
            <a:spLocks noGrp="1"/>
          </p:cNvSpPr>
          <p:nvPr>
            <p:ph type="body" idx="4"/>
          </p:nvPr>
        </p:nvSpPr>
        <p:spPr>
          <a:xfrm>
            <a:off x="3931919" y="4312975"/>
            <a:ext cx="3154681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000" b="1" i="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45"/>
          <p:cNvSpPr txBox="1">
            <a:spLocks noGrp="1"/>
          </p:cNvSpPr>
          <p:nvPr>
            <p:ph type="body" idx="5"/>
          </p:nvPr>
        </p:nvSpPr>
        <p:spPr>
          <a:xfrm>
            <a:off x="3931919" y="4962720"/>
            <a:ext cx="3154681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 sz="16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45"/>
          <p:cNvSpPr txBox="1"/>
          <p:nvPr/>
        </p:nvSpPr>
        <p:spPr>
          <a:xfrm>
            <a:off x="609600" y="6389815"/>
            <a:ext cx="1122423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Play"/>
              <a:buNone/>
            </a:pPr>
            <a:r>
              <a:rPr lang="en-US" sz="600" b="0" i="0" u="none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© 2025 Valkey Community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Cont" userDrawn="1">
  <p:cSld name="Title + Con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0"/>
          <p:cNvSpPr txBox="1">
            <a:spLocks noGrp="1"/>
          </p:cNvSpPr>
          <p:nvPr>
            <p:ph type="title"/>
          </p:nvPr>
        </p:nvSpPr>
        <p:spPr>
          <a:xfrm>
            <a:off x="609600" y="400019"/>
            <a:ext cx="110628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9" name="Google Shape;19;p40"/>
          <p:cNvSpPr txBox="1">
            <a:spLocks noGrp="1"/>
          </p:cNvSpPr>
          <p:nvPr>
            <p:ph type="body" idx="1"/>
          </p:nvPr>
        </p:nvSpPr>
        <p:spPr>
          <a:xfrm>
            <a:off x="609600" y="1445931"/>
            <a:ext cx="11062800" cy="4565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">
  <p:cSld name="Divider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7420" y="-9799"/>
            <a:ext cx="12270380" cy="690209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1"/>
          <p:cNvSpPr txBox="1">
            <a:spLocks noGrp="1"/>
          </p:cNvSpPr>
          <p:nvPr>
            <p:ph type="title"/>
          </p:nvPr>
        </p:nvSpPr>
        <p:spPr>
          <a:xfrm>
            <a:off x="609600" y="2819603"/>
            <a:ext cx="9194800" cy="12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  <a:defRPr sz="4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x Cont with Headings">
  <p:cSld name="Title + 3x Cont with Heading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2"/>
          <p:cNvSpPr txBox="1">
            <a:spLocks noGrp="1"/>
          </p:cNvSpPr>
          <p:nvPr>
            <p:ph type="title"/>
          </p:nvPr>
        </p:nvSpPr>
        <p:spPr>
          <a:xfrm>
            <a:off x="609599" y="400019"/>
            <a:ext cx="11062801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5" name="Google Shape;25;p42"/>
          <p:cNvSpPr txBox="1">
            <a:spLocks noGrp="1"/>
          </p:cNvSpPr>
          <p:nvPr>
            <p:ph type="body" idx="1"/>
          </p:nvPr>
        </p:nvSpPr>
        <p:spPr>
          <a:xfrm>
            <a:off x="609599" y="1662252"/>
            <a:ext cx="348386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2000" b="1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6" name="Google Shape;26;p42"/>
          <p:cNvSpPr txBox="1">
            <a:spLocks noGrp="1"/>
          </p:cNvSpPr>
          <p:nvPr>
            <p:ph type="body" idx="2"/>
          </p:nvPr>
        </p:nvSpPr>
        <p:spPr>
          <a:xfrm>
            <a:off x="609599" y="2072991"/>
            <a:ext cx="3483864" cy="3947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None/>
              <a:defRPr sz="180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None/>
              <a:defRPr sz="180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7" name="Google Shape;27;p42"/>
          <p:cNvSpPr txBox="1">
            <a:spLocks noGrp="1"/>
          </p:cNvSpPr>
          <p:nvPr>
            <p:ph type="body" idx="3"/>
          </p:nvPr>
        </p:nvSpPr>
        <p:spPr>
          <a:xfrm>
            <a:off x="4399068" y="1662252"/>
            <a:ext cx="348386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2000" b="1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8" name="Google Shape;28;p42"/>
          <p:cNvSpPr txBox="1">
            <a:spLocks noGrp="1"/>
          </p:cNvSpPr>
          <p:nvPr>
            <p:ph type="body" idx="4"/>
          </p:nvPr>
        </p:nvSpPr>
        <p:spPr>
          <a:xfrm>
            <a:off x="4399067" y="2072991"/>
            <a:ext cx="3483864" cy="3947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None/>
              <a:defRPr sz="180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None/>
              <a:defRPr sz="180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42"/>
          <p:cNvSpPr txBox="1">
            <a:spLocks noGrp="1"/>
          </p:cNvSpPr>
          <p:nvPr>
            <p:ph type="body" idx="5"/>
          </p:nvPr>
        </p:nvSpPr>
        <p:spPr>
          <a:xfrm>
            <a:off x="8188536" y="1662252"/>
            <a:ext cx="348386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2000" b="1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0" name="Google Shape;30;p42"/>
          <p:cNvSpPr txBox="1">
            <a:spLocks noGrp="1"/>
          </p:cNvSpPr>
          <p:nvPr>
            <p:ph type="body" idx="6"/>
          </p:nvPr>
        </p:nvSpPr>
        <p:spPr>
          <a:xfrm>
            <a:off x="8188536" y="2072991"/>
            <a:ext cx="3483864" cy="3947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None/>
              <a:defRPr sz="180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None/>
              <a:defRPr sz="180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Sub + Cont">
  <p:cSld name="Title + Sub + Co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3"/>
          <p:cNvSpPr txBox="1">
            <a:spLocks noGrp="1"/>
          </p:cNvSpPr>
          <p:nvPr>
            <p:ph type="title"/>
          </p:nvPr>
        </p:nvSpPr>
        <p:spPr>
          <a:xfrm>
            <a:off x="609600" y="400019"/>
            <a:ext cx="110628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3"/>
          <p:cNvSpPr txBox="1">
            <a:spLocks noGrp="1"/>
          </p:cNvSpPr>
          <p:nvPr>
            <p:ph type="body" idx="1"/>
          </p:nvPr>
        </p:nvSpPr>
        <p:spPr>
          <a:xfrm>
            <a:off x="609600" y="1830787"/>
            <a:ext cx="11062800" cy="4180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43"/>
          <p:cNvSpPr txBox="1">
            <a:spLocks noGrp="1"/>
          </p:cNvSpPr>
          <p:nvPr>
            <p:ph type="body" idx="2"/>
          </p:nvPr>
        </p:nvSpPr>
        <p:spPr>
          <a:xfrm>
            <a:off x="619125" y="857063"/>
            <a:ext cx="11062800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None/>
              <a:defRPr sz="1100" b="1" i="0" cap="none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 2x">
  <p:cSld name="Thank You 2x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5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27627" y="-31081"/>
            <a:ext cx="12298004" cy="6917627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52"/>
          <p:cNvSpPr txBox="1"/>
          <p:nvPr/>
        </p:nvSpPr>
        <p:spPr>
          <a:xfrm>
            <a:off x="609599" y="2461212"/>
            <a:ext cx="6867525" cy="923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Thank you!</a:t>
            </a:r>
            <a:endParaRPr/>
          </a:p>
        </p:txBody>
      </p:sp>
      <p:sp>
        <p:nvSpPr>
          <p:cNvPr id="74" name="Google Shape;74;p52"/>
          <p:cNvSpPr txBox="1">
            <a:spLocks noGrp="1"/>
          </p:cNvSpPr>
          <p:nvPr>
            <p:ph type="body" idx="1"/>
          </p:nvPr>
        </p:nvSpPr>
        <p:spPr>
          <a:xfrm>
            <a:off x="609600" y="4001508"/>
            <a:ext cx="316701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000" b="1" i="0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75" name="Google Shape;75;p52"/>
          <p:cNvSpPr txBox="1">
            <a:spLocks noGrp="1"/>
          </p:cNvSpPr>
          <p:nvPr>
            <p:ph type="body" idx="2"/>
          </p:nvPr>
        </p:nvSpPr>
        <p:spPr>
          <a:xfrm>
            <a:off x="609600" y="4372505"/>
            <a:ext cx="3167018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2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76" name="Google Shape;76;p52"/>
          <p:cNvSpPr txBox="1">
            <a:spLocks noGrp="1"/>
          </p:cNvSpPr>
          <p:nvPr>
            <p:ph type="body" idx="3"/>
          </p:nvPr>
        </p:nvSpPr>
        <p:spPr>
          <a:xfrm>
            <a:off x="3904342" y="4001508"/>
            <a:ext cx="316701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000" b="1" i="0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52"/>
          <p:cNvSpPr txBox="1">
            <a:spLocks noGrp="1"/>
          </p:cNvSpPr>
          <p:nvPr>
            <p:ph type="body" idx="4"/>
          </p:nvPr>
        </p:nvSpPr>
        <p:spPr>
          <a:xfrm>
            <a:off x="3904342" y="4372505"/>
            <a:ext cx="3167018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2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Subtitle">
  <p:cSld name="Title + Subtitle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7"/>
          <p:cNvSpPr txBox="1">
            <a:spLocks noGrp="1"/>
          </p:cNvSpPr>
          <p:nvPr>
            <p:ph type="title"/>
          </p:nvPr>
        </p:nvSpPr>
        <p:spPr>
          <a:xfrm>
            <a:off x="609600" y="400019"/>
            <a:ext cx="110628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47"/>
          <p:cNvSpPr txBox="1">
            <a:spLocks noGrp="1"/>
          </p:cNvSpPr>
          <p:nvPr>
            <p:ph type="body" idx="1"/>
          </p:nvPr>
        </p:nvSpPr>
        <p:spPr>
          <a:xfrm>
            <a:off x="619125" y="857063"/>
            <a:ext cx="11062800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None/>
              <a:defRPr sz="1100" b="1" i="0" cap="none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Cont + Right Img Small">
  <p:cSld name="Title + Cont + Right Img Small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8"/>
          <p:cNvSpPr txBox="1">
            <a:spLocks noGrp="1"/>
          </p:cNvSpPr>
          <p:nvPr>
            <p:ph type="title"/>
          </p:nvPr>
        </p:nvSpPr>
        <p:spPr>
          <a:xfrm>
            <a:off x="609599" y="400019"/>
            <a:ext cx="6809117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8"/>
          <p:cNvSpPr>
            <a:spLocks noGrp="1"/>
          </p:cNvSpPr>
          <p:nvPr>
            <p:ph type="pic" idx="2"/>
          </p:nvPr>
        </p:nvSpPr>
        <p:spPr>
          <a:xfrm>
            <a:off x="7884543" y="0"/>
            <a:ext cx="4307456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7" name="Google Shape;57;p48"/>
          <p:cNvSpPr txBox="1">
            <a:spLocks noGrp="1"/>
          </p:cNvSpPr>
          <p:nvPr>
            <p:ph type="body" idx="1"/>
          </p:nvPr>
        </p:nvSpPr>
        <p:spPr>
          <a:xfrm>
            <a:off x="609600" y="1445932"/>
            <a:ext cx="6809116" cy="4565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  <a:defRPr sz="240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00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marL="2286000" lvl="4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x Cont with Headings">
  <p:cSld name="Title + 2x Cont with Headings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9"/>
          <p:cNvSpPr txBox="1">
            <a:spLocks noGrp="1"/>
          </p:cNvSpPr>
          <p:nvPr>
            <p:ph type="title"/>
          </p:nvPr>
        </p:nvSpPr>
        <p:spPr>
          <a:xfrm>
            <a:off x="609599" y="400019"/>
            <a:ext cx="11062801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9"/>
          <p:cNvSpPr txBox="1">
            <a:spLocks noGrp="1"/>
          </p:cNvSpPr>
          <p:nvPr>
            <p:ph type="body" idx="1"/>
          </p:nvPr>
        </p:nvSpPr>
        <p:spPr>
          <a:xfrm>
            <a:off x="609599" y="1662252"/>
            <a:ext cx="524865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2000" b="1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1" name="Google Shape;61;p49"/>
          <p:cNvSpPr txBox="1">
            <a:spLocks noGrp="1"/>
          </p:cNvSpPr>
          <p:nvPr>
            <p:ph type="body" idx="2"/>
          </p:nvPr>
        </p:nvSpPr>
        <p:spPr>
          <a:xfrm>
            <a:off x="609599" y="2072991"/>
            <a:ext cx="5248656" cy="3938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None/>
              <a:defRPr sz="180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None/>
              <a:defRPr sz="180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49"/>
          <p:cNvSpPr txBox="1">
            <a:spLocks noGrp="1"/>
          </p:cNvSpPr>
          <p:nvPr>
            <p:ph type="body" idx="3"/>
          </p:nvPr>
        </p:nvSpPr>
        <p:spPr>
          <a:xfrm>
            <a:off x="6423744" y="1662252"/>
            <a:ext cx="524865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2000" b="1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3" name="Google Shape;63;p49"/>
          <p:cNvSpPr txBox="1">
            <a:spLocks noGrp="1"/>
          </p:cNvSpPr>
          <p:nvPr>
            <p:ph type="body" idx="4"/>
          </p:nvPr>
        </p:nvSpPr>
        <p:spPr>
          <a:xfrm>
            <a:off x="6423744" y="2072991"/>
            <a:ext cx="5248656" cy="3938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None/>
              <a:defRPr sz="180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None/>
              <a:defRPr sz="180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0"/>
          <p:cNvSpPr txBox="1">
            <a:spLocks noGrp="1"/>
          </p:cNvSpPr>
          <p:nvPr>
            <p:ph type="title"/>
          </p:nvPr>
        </p:nvSpPr>
        <p:spPr>
          <a:xfrm>
            <a:off x="609599" y="2571622"/>
            <a:ext cx="10130971" cy="12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50"/>
          <p:cNvSpPr txBox="1">
            <a:spLocks noGrp="1"/>
          </p:cNvSpPr>
          <p:nvPr>
            <p:ph type="body" idx="1"/>
          </p:nvPr>
        </p:nvSpPr>
        <p:spPr>
          <a:xfrm>
            <a:off x="881063" y="4356013"/>
            <a:ext cx="54864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000" b="1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50"/>
          <p:cNvSpPr txBox="1">
            <a:spLocks noGrp="1"/>
          </p:cNvSpPr>
          <p:nvPr>
            <p:ph type="body" idx="2"/>
          </p:nvPr>
        </p:nvSpPr>
        <p:spPr>
          <a:xfrm>
            <a:off x="881063" y="4692818"/>
            <a:ext cx="5486400" cy="313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" userDrawn="1">
  <p:cSld name="Code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1"/>
          <p:cNvSpPr txBox="1">
            <a:spLocks noGrp="1"/>
          </p:cNvSpPr>
          <p:nvPr>
            <p:ph type="title"/>
          </p:nvPr>
        </p:nvSpPr>
        <p:spPr>
          <a:xfrm>
            <a:off x="609600" y="914403"/>
            <a:ext cx="109728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olding">
  <p:cSld name="Holding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Full Image">
  <p:cSld name="Full Image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4"/>
          <p:cNvSpPr>
            <a:spLocks noGrp="1"/>
          </p:cNvSpPr>
          <p:nvPr>
            <p:ph type="pic" idx="2"/>
          </p:nvPr>
        </p:nvSpPr>
        <p:spPr>
          <a:xfrm>
            <a:off x="0" y="3"/>
            <a:ext cx="12192000" cy="6857999"/>
          </a:xfrm>
          <a:prstGeom prst="rect">
            <a:avLst/>
          </a:prstGeom>
          <a:solidFill>
            <a:schemeClr val="dk2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ideo">
  <p:cSld name="Video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5"/>
          <p:cNvSpPr>
            <a:spLocks noGrp="1"/>
          </p:cNvSpPr>
          <p:nvPr>
            <p:ph type="media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Century Gothic"/>
              <a:buNone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  <a:defRPr sz="20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  <a:defRPr sz="18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None/>
              <a:defRPr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None/>
              <a:defRPr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Char char="•"/>
              <a:defRPr sz="18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Char char="•"/>
              <a:defRPr sz="18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Char char="•"/>
              <a:defRPr sz="18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Char char="•"/>
              <a:defRPr sz="18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endParaRPr/>
          </a:p>
        </p:txBody>
      </p:sp>
      <p:pic>
        <p:nvPicPr>
          <p:cNvPr id="83" name="Google Shape;83;p5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994672" y="2327672"/>
            <a:ext cx="2202656" cy="22026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22.xml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38"/>
          <p:cNvSpPr txBox="1">
            <a:spLocks noGrp="1"/>
          </p:cNvSpPr>
          <p:nvPr>
            <p:ph type="title"/>
          </p:nvPr>
        </p:nvSpPr>
        <p:spPr>
          <a:xfrm>
            <a:off x="609600" y="914403"/>
            <a:ext cx="109728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 b="1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8" name="Google Shape;8;p38"/>
          <p:cNvSpPr txBox="1">
            <a:spLocks noGrp="1"/>
          </p:cNvSpPr>
          <p:nvPr>
            <p:ph type="body" idx="1"/>
          </p:nvPr>
        </p:nvSpPr>
        <p:spPr>
          <a:xfrm>
            <a:off x="609600" y="1718985"/>
            <a:ext cx="109728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Century Gothic"/>
              <a:buNone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  <a:defRPr sz="20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  <a:defRPr sz="18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None/>
              <a:defRPr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None/>
              <a:defRPr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Char char="•"/>
              <a:defRPr sz="18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Char char="•"/>
              <a:defRPr sz="18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Char char="•"/>
              <a:defRPr sz="18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Char char="•"/>
              <a:defRPr sz="18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endParaRPr dirty="0"/>
          </a:p>
        </p:txBody>
      </p:sp>
      <p:pic>
        <p:nvPicPr>
          <p:cNvPr id="9" name="Google Shape;9;p38" descr="pasted-movi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0389732" y="5943597"/>
            <a:ext cx="1434431" cy="443198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  <p:sldLayoutId id="2147483667" r:id="rId2"/>
    <p:sldLayoutId id="2147483668" r:id="rId3"/>
    <p:sldLayoutId id="2147483662" r:id="rId4"/>
    <p:sldLayoutId id="2147483672" r:id="rId5"/>
    <p:sldLayoutId id="2147483675" r:id="rId6"/>
    <p:sldLayoutId id="2147483660" r:id="rId7"/>
    <p:sldLayoutId id="2147483661" r:id="rId8"/>
    <p:sldLayoutId id="2147483664" r:id="rId9"/>
    <p:sldLayoutId id="2147483665" r:id="rId1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+mj-lt"/>
          <a:ea typeface="Century Gothic"/>
          <a:cs typeface="Century Gothic"/>
          <a:sym typeface="Century Gothic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+mn-lt"/>
          <a:ea typeface="Century Gothic"/>
          <a:cs typeface="Century Gothic"/>
          <a:sym typeface="Century Gothic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9pPr>
    </p:otherStyle>
  </p:txStyles>
  <p:extLst>
    <p:ext uri="{27BBF7A9-308A-43DC-89C8-2F10F3537804}">
      <p15:sldGuideLst xmlns:p15="http://schemas.microsoft.com/office/powerpoint/2012/main">
        <p15:guide id="1" pos="384">
          <p15:clr>
            <a:srgbClr val="F26B43"/>
          </p15:clr>
        </p15:guide>
        <p15:guide id="2" pos="7296">
          <p15:clr>
            <a:srgbClr val="F26B43"/>
          </p15:clr>
        </p15:guide>
        <p15:guide id="3" orient="horz" pos="192">
          <p15:clr>
            <a:srgbClr val="F26B43"/>
          </p15:clr>
        </p15:guide>
        <p15:guide id="4" orient="horz" pos="3912">
          <p15:clr>
            <a:srgbClr val="F26B43"/>
          </p15:clr>
        </p15:guide>
        <p15:guide id="5" orient="horz" pos="1080">
          <p15:clr>
            <a:srgbClr val="F26B43"/>
          </p15:clr>
        </p15:guide>
        <p15:guide id="6" orient="horz" pos="576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38"/>
          <p:cNvSpPr txBox="1">
            <a:spLocks noGrp="1"/>
          </p:cNvSpPr>
          <p:nvPr>
            <p:ph type="title"/>
          </p:nvPr>
        </p:nvSpPr>
        <p:spPr>
          <a:xfrm>
            <a:off x="609600" y="914403"/>
            <a:ext cx="109728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 b="1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8" name="Google Shape;8;p38"/>
          <p:cNvSpPr txBox="1">
            <a:spLocks noGrp="1"/>
          </p:cNvSpPr>
          <p:nvPr>
            <p:ph type="body" idx="1"/>
          </p:nvPr>
        </p:nvSpPr>
        <p:spPr>
          <a:xfrm>
            <a:off x="609600" y="1718985"/>
            <a:ext cx="109728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Century Gothic"/>
              <a:buNone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  <a:defRPr sz="20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  <a:defRPr sz="18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None/>
              <a:defRPr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None/>
              <a:defRPr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Char char="•"/>
              <a:defRPr sz="18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Char char="•"/>
              <a:defRPr sz="18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Char char="•"/>
              <a:defRPr sz="18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Char char="•"/>
              <a:defRPr sz="18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endParaRPr dirty="0"/>
          </a:p>
        </p:txBody>
      </p:sp>
      <p:pic>
        <p:nvPicPr>
          <p:cNvPr id="9" name="Google Shape;9;p38" descr="pasted-movi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0389732" y="5943597"/>
            <a:ext cx="1434431" cy="443198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77" r:id="rId1"/>
    <p:sldLayoutId id="2147483692" r:id="rId2"/>
    <p:sldLayoutId id="2147483679" r:id="rId3"/>
    <p:sldLayoutId id="2147483680" r:id="rId4"/>
    <p:sldLayoutId id="2147483681" r:id="rId5"/>
    <p:sldLayoutId id="2147483682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+mj-lt"/>
          <a:ea typeface="Century Gothic"/>
          <a:cs typeface="Century Gothic"/>
          <a:sym typeface="Century Gothic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+mn-lt"/>
          <a:ea typeface="Century Gothic"/>
          <a:cs typeface="Century Gothic"/>
          <a:sym typeface="Century Gothic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>
          <a:extLst>
            <a:ext uri="{FF2B5EF4-FFF2-40B4-BE49-F238E27FC236}">
              <a16:creationId xmlns:a16="http://schemas.microsoft.com/office/drawing/2014/main" id="{C3AFE88C-51BA-6353-8F79-E9276311B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6">
            <a:extLst>
              <a:ext uri="{FF2B5EF4-FFF2-40B4-BE49-F238E27FC236}">
                <a16:creationId xmlns:a16="http://schemas.microsoft.com/office/drawing/2014/main" id="{3B46389D-B7CE-C168-9E31-4FAF6C95A6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597" y="1839354"/>
            <a:ext cx="6477003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80"/>
              <a:buNone/>
            </a:pPr>
            <a:endParaRPr/>
          </a:p>
        </p:txBody>
      </p:sp>
      <p:sp>
        <p:nvSpPr>
          <p:cNvPr id="425" name="Google Shape;425;p26">
            <a:extLst>
              <a:ext uri="{FF2B5EF4-FFF2-40B4-BE49-F238E27FC236}">
                <a16:creationId xmlns:a16="http://schemas.microsoft.com/office/drawing/2014/main" id="{0BD913C1-C94C-7FD9-61DF-C9E239DB46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597" y="2200683"/>
            <a:ext cx="6477003" cy="1812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</a:pPr>
            <a:r>
              <a:rPr lang="en-US" dirty="0"/>
              <a:t>Tails from the trenches:</a:t>
            </a:r>
            <a:br>
              <a:rPr lang="en-US" dirty="0"/>
            </a:br>
            <a:r>
              <a:rPr lang="en-US" dirty="0"/>
              <a:t>How Caches fail at scale</a:t>
            </a:r>
            <a:endParaRPr dirty="0"/>
          </a:p>
        </p:txBody>
      </p:sp>
      <p:sp>
        <p:nvSpPr>
          <p:cNvPr id="426" name="Google Shape;426;p26">
            <a:extLst>
              <a:ext uri="{FF2B5EF4-FFF2-40B4-BE49-F238E27FC236}">
                <a16:creationId xmlns:a16="http://schemas.microsoft.com/office/drawing/2014/main" id="{DF829B82-2642-FBD9-E785-816C77148952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09599" y="4620751"/>
            <a:ext cx="315468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dirty="0"/>
              <a:t>Madelyn Olson</a:t>
            </a:r>
            <a:endParaRPr dirty="0"/>
          </a:p>
        </p:txBody>
      </p:sp>
      <p:sp>
        <p:nvSpPr>
          <p:cNvPr id="427" name="Google Shape;427;p26">
            <a:extLst>
              <a:ext uri="{FF2B5EF4-FFF2-40B4-BE49-F238E27FC236}">
                <a16:creationId xmlns:a16="http://schemas.microsoft.com/office/drawing/2014/main" id="{5BDE62CB-5868-745C-8828-B1A17DDD4A10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09599" y="4962720"/>
            <a:ext cx="315468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</a:pPr>
            <a:r>
              <a:rPr lang="en-US" dirty="0"/>
              <a:t>Valkey Maintainer and Engineer</a:t>
            </a:r>
            <a:endParaRPr dirty="0"/>
          </a:p>
        </p:txBody>
      </p:sp>
      <p:sp>
        <p:nvSpPr>
          <p:cNvPr id="428" name="Google Shape;428;p26">
            <a:extLst>
              <a:ext uri="{FF2B5EF4-FFF2-40B4-BE49-F238E27FC236}">
                <a16:creationId xmlns:a16="http://schemas.microsoft.com/office/drawing/2014/main" id="{BFA792DB-E506-6311-E14C-5B6F13B19E48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3931919" y="4312975"/>
            <a:ext cx="3154681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 dirty="0"/>
          </a:p>
        </p:txBody>
      </p:sp>
      <p:sp>
        <p:nvSpPr>
          <p:cNvPr id="429" name="Google Shape;429;p26">
            <a:extLst>
              <a:ext uri="{FF2B5EF4-FFF2-40B4-BE49-F238E27FC236}">
                <a16:creationId xmlns:a16="http://schemas.microsoft.com/office/drawing/2014/main" id="{5F0D1980-2CAE-EFAD-678C-B3C70E3530D2}"/>
              </a:ext>
            </a:extLst>
          </p:cNvPr>
          <p:cNvSpPr txBox="1">
            <a:spLocks noGrp="1"/>
          </p:cNvSpPr>
          <p:nvPr>
            <p:ph type="body" idx="5"/>
          </p:nvPr>
        </p:nvSpPr>
        <p:spPr>
          <a:xfrm>
            <a:off x="3931919" y="4962720"/>
            <a:ext cx="3154681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8535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BAF44-B4DF-C0CE-5E78-4E019B8FD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10127-3AFC-B5E1-A170-D27DA324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Conventional in-memory scaling models</a:t>
            </a:r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B2CE3C-4503-1DD2-002D-C0D572D315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-350520">
              <a:lnSpc>
                <a:spcPct val="200000"/>
              </a:lnSpc>
              <a:buClr>
                <a:schemeClr val="accent1"/>
              </a:buClr>
              <a:buSzPts val="1920"/>
              <a:buFont typeface="Play"/>
              <a:buChar char="►"/>
            </a:pP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Vertical scaling – Add more CPUs to handle incoming requests</a:t>
            </a:r>
          </a:p>
          <a:p>
            <a:pPr lvl="1" indent="-350520">
              <a:lnSpc>
                <a:spcPct val="200000"/>
              </a:lnSpc>
              <a:buClr>
                <a:schemeClr val="accent1"/>
              </a:buClr>
              <a:buSzPts val="1920"/>
              <a:buFont typeface="Play"/>
              <a:buChar char="►"/>
            </a:pP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Imbalanced unit economics (Mismatch of available hardware and requirements)</a:t>
            </a:r>
          </a:p>
          <a:p>
            <a:pPr lvl="1" indent="-350520">
              <a:lnSpc>
                <a:spcPct val="200000"/>
              </a:lnSpc>
              <a:buClr>
                <a:schemeClr val="accent1"/>
              </a:buClr>
              <a:buSzPts val="1920"/>
              <a:buFont typeface="Play"/>
              <a:buChar char="►"/>
            </a:pP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Larger blast radius on individual failures and patching</a:t>
            </a:r>
          </a:p>
          <a:p>
            <a:pPr marL="10668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</a:pPr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668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</a:pP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0" indent="-35052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Play"/>
              <a:buChar char="►"/>
            </a:pPr>
            <a:endParaRPr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4FAC28-4E76-77AC-1F4B-F6377BAAD8BA}"/>
              </a:ext>
            </a:extLst>
          </p:cNvPr>
          <p:cNvSpPr txBox="1"/>
          <p:nvPr/>
        </p:nvSpPr>
        <p:spPr>
          <a:xfrm>
            <a:off x="10772078" y="2274849"/>
            <a:ext cx="18473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lang="en-US" sz="1000" i="1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3976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F69C4-CF8F-BA0D-FA96-D8DD7AF03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D6FC5-771E-E695-0C1D-78B49E8E3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Conventional in-memory scaling models</a:t>
            </a:r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3F28FB-4A24-C849-A24B-BF0862CDF1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-350520">
              <a:lnSpc>
                <a:spcPct val="200000"/>
              </a:lnSpc>
              <a:buClr>
                <a:schemeClr val="accent1"/>
              </a:buClr>
              <a:buSzPts val="1920"/>
              <a:buFont typeface="Play"/>
              <a:buChar char="►"/>
            </a:pP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Horizontal scaling – Horizontally shard the data and route requests</a:t>
            </a:r>
          </a:p>
          <a:p>
            <a:pPr lvl="1" indent="-350520">
              <a:lnSpc>
                <a:spcPct val="200000"/>
              </a:lnSpc>
              <a:buClr>
                <a:schemeClr val="accent1"/>
              </a:buClr>
              <a:buSzPts val="1920"/>
              <a:buFont typeface="Play"/>
              <a:buChar char="►"/>
            </a:pP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components to maintain</a:t>
            </a:r>
          </a:p>
          <a:p>
            <a:pPr lvl="1" indent="-350520">
              <a:lnSpc>
                <a:spcPct val="200000"/>
              </a:lnSpc>
              <a:buClr>
                <a:schemeClr val="accent1"/>
              </a:buClr>
              <a:buSzPts val="1920"/>
              <a:buFont typeface="Play"/>
              <a:buChar char="►"/>
            </a:pP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Limited ability to absorb burst capacity</a:t>
            </a:r>
          </a:p>
          <a:p>
            <a:pPr lvl="1" indent="-350520">
              <a:lnSpc>
                <a:spcPct val="200000"/>
              </a:lnSpc>
              <a:buClr>
                <a:schemeClr val="accent1"/>
              </a:buClr>
              <a:buSzPts val="1920"/>
              <a:buFont typeface="Play"/>
              <a:buChar char="►"/>
            </a:pPr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668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</a:pPr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668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</a:pP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0" indent="-35052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Play"/>
              <a:buChar char="►"/>
            </a:pPr>
            <a:endParaRPr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05B3F3-DEFD-DBE8-86ED-AB03FE5A1F38}"/>
              </a:ext>
            </a:extLst>
          </p:cNvPr>
          <p:cNvSpPr txBox="1"/>
          <p:nvPr/>
        </p:nvSpPr>
        <p:spPr>
          <a:xfrm>
            <a:off x="10772078" y="2274849"/>
            <a:ext cx="18473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lang="en-US" sz="1000" i="1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6564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6834350-9902-DE12-059C-5C7AFA7021C4}"/>
              </a:ext>
            </a:extLst>
          </p:cNvPr>
          <p:cNvSpPr/>
          <p:nvPr/>
        </p:nvSpPr>
        <p:spPr>
          <a:xfrm>
            <a:off x="1137424" y="1264629"/>
            <a:ext cx="3474720" cy="164592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 dirty="0">
                <a:solidFill>
                  <a:srgbClr val="EAEAEA"/>
                </a:solidFill>
              </a:rPr>
              <a:t>Primary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D3DA362-C5D1-00B5-689D-2701B254C176}"/>
              </a:ext>
            </a:extLst>
          </p:cNvPr>
          <p:cNvSpPr/>
          <p:nvPr/>
        </p:nvSpPr>
        <p:spPr>
          <a:xfrm>
            <a:off x="1137425" y="3390609"/>
            <a:ext cx="3474719" cy="164592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EAEAEA"/>
                </a:solidFill>
              </a:rPr>
              <a:t>Replica</a:t>
            </a:r>
            <a:endParaRPr sz="2400" b="1" dirty="0">
              <a:solidFill>
                <a:srgbClr val="EAEAEA"/>
              </a:solidFill>
            </a:endParaRPr>
          </a:p>
        </p:txBody>
      </p:sp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069B3FDD-1768-D5E9-E63F-EF3D5E29DD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2302" y="3527769"/>
            <a:ext cx="578083" cy="674430"/>
          </a:xfrm>
          <a:prstGeom prst="rect">
            <a:avLst/>
          </a:prstGeom>
        </p:spPr>
      </p:pic>
      <p:pic>
        <p:nvPicPr>
          <p:cNvPr id="7" name="Picture 6" descr="image.png">
            <a:extLst>
              <a:ext uri="{FF2B5EF4-FFF2-40B4-BE49-F238E27FC236}">
                <a16:creationId xmlns:a16="http://schemas.microsoft.com/office/drawing/2014/main" id="{3A72EB3E-D2A7-6513-49AE-EA795E5BED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2301" y="1413159"/>
            <a:ext cx="578083" cy="674430"/>
          </a:xfrm>
          <a:prstGeom prst="rect">
            <a:avLst/>
          </a:prstGeom>
        </p:spPr>
      </p:pic>
      <p:sp>
        <p:nvSpPr>
          <p:cNvPr id="8" name="Right Arrow 7">
            <a:extLst>
              <a:ext uri="{FF2B5EF4-FFF2-40B4-BE49-F238E27FC236}">
                <a16:creationId xmlns:a16="http://schemas.microsoft.com/office/drawing/2014/main" id="{2C19EDFB-2D9D-D51C-E69C-4A24602875E0}"/>
              </a:ext>
            </a:extLst>
          </p:cNvPr>
          <p:cNvSpPr/>
          <p:nvPr/>
        </p:nvSpPr>
        <p:spPr>
          <a:xfrm rot="5400000">
            <a:off x="2706599" y="2941573"/>
            <a:ext cx="336369" cy="45720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5812E35-5794-6AB9-CD5C-723BF29A838A}"/>
              </a:ext>
            </a:extLst>
          </p:cNvPr>
          <p:cNvSpPr/>
          <p:nvPr/>
        </p:nvSpPr>
        <p:spPr>
          <a:xfrm>
            <a:off x="666324" y="602166"/>
            <a:ext cx="4527395" cy="507380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Shard 1 (Slots 0 – 8196)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2A5932EF-4334-3480-B331-68C0C10C7520}"/>
              </a:ext>
            </a:extLst>
          </p:cNvPr>
          <p:cNvSpPr/>
          <p:nvPr/>
        </p:nvSpPr>
        <p:spPr>
          <a:xfrm>
            <a:off x="6898887" y="1264629"/>
            <a:ext cx="3474720" cy="164592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 dirty="0">
                <a:solidFill>
                  <a:srgbClr val="EAEAEA"/>
                </a:solidFill>
              </a:rPr>
              <a:t>Primary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45AACE0C-E2EF-4DD4-4311-3E0ECAA2F11F}"/>
              </a:ext>
            </a:extLst>
          </p:cNvPr>
          <p:cNvSpPr/>
          <p:nvPr/>
        </p:nvSpPr>
        <p:spPr>
          <a:xfrm>
            <a:off x="6898888" y="3390609"/>
            <a:ext cx="3474719" cy="164592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EAEAEA"/>
                </a:solidFill>
              </a:rPr>
              <a:t>Replica</a:t>
            </a:r>
            <a:endParaRPr sz="2400" b="1" dirty="0">
              <a:solidFill>
                <a:srgbClr val="EAEAEA"/>
              </a:solidFill>
            </a:endParaRPr>
          </a:p>
        </p:txBody>
      </p:sp>
      <p:pic>
        <p:nvPicPr>
          <p:cNvPr id="17" name="Picture 16" descr="image.png">
            <a:extLst>
              <a:ext uri="{FF2B5EF4-FFF2-40B4-BE49-F238E27FC236}">
                <a16:creationId xmlns:a16="http://schemas.microsoft.com/office/drawing/2014/main" id="{FF0DB47B-75DE-D7A2-5114-C93B4A043D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65" y="3527769"/>
            <a:ext cx="578083" cy="674430"/>
          </a:xfrm>
          <a:prstGeom prst="rect">
            <a:avLst/>
          </a:prstGeom>
        </p:spPr>
      </p:pic>
      <p:pic>
        <p:nvPicPr>
          <p:cNvPr id="18" name="Picture 17" descr="image.png">
            <a:extLst>
              <a:ext uri="{FF2B5EF4-FFF2-40B4-BE49-F238E27FC236}">
                <a16:creationId xmlns:a16="http://schemas.microsoft.com/office/drawing/2014/main" id="{D83673C6-08C0-3D5C-3BAD-CE94BF0002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64" y="1413159"/>
            <a:ext cx="578083" cy="674430"/>
          </a:xfrm>
          <a:prstGeom prst="rect">
            <a:avLst/>
          </a:prstGeom>
        </p:spPr>
      </p:pic>
      <p:sp>
        <p:nvSpPr>
          <p:cNvPr id="19" name="Right Arrow 18">
            <a:extLst>
              <a:ext uri="{FF2B5EF4-FFF2-40B4-BE49-F238E27FC236}">
                <a16:creationId xmlns:a16="http://schemas.microsoft.com/office/drawing/2014/main" id="{4A40546E-A208-BC04-4B2F-C47E7217620A}"/>
              </a:ext>
            </a:extLst>
          </p:cNvPr>
          <p:cNvSpPr/>
          <p:nvPr/>
        </p:nvSpPr>
        <p:spPr>
          <a:xfrm rot="5400000">
            <a:off x="8468062" y="2941573"/>
            <a:ext cx="336369" cy="45720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2F70460-D428-554E-741D-2AF6DEB220BE}"/>
              </a:ext>
            </a:extLst>
          </p:cNvPr>
          <p:cNvSpPr/>
          <p:nvPr/>
        </p:nvSpPr>
        <p:spPr>
          <a:xfrm>
            <a:off x="6427787" y="602166"/>
            <a:ext cx="4527395" cy="507380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Shard 2 (Slots 8197 – 16343)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1061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E97F5-0732-74B6-6BAD-EE77E361E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story about a customer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7FCF623-9162-F25B-7801-DDE5AA0985DB}"/>
              </a:ext>
            </a:extLst>
          </p:cNvPr>
          <p:cNvSpPr/>
          <p:nvPr/>
        </p:nvSpPr>
        <p:spPr>
          <a:xfrm>
            <a:off x="1554481" y="1688375"/>
            <a:ext cx="2011680" cy="377190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EAEAEA"/>
                </a:solidFill>
              </a:rPr>
              <a:t>Application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00C51B6-307F-7E7B-BA0D-C2CB47079829}"/>
              </a:ext>
            </a:extLst>
          </p:cNvPr>
          <p:cNvSpPr/>
          <p:nvPr/>
        </p:nvSpPr>
        <p:spPr>
          <a:xfrm>
            <a:off x="7772400" y="1688375"/>
            <a:ext cx="3474720" cy="164592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 dirty="0">
                <a:solidFill>
                  <a:srgbClr val="EAEAEA"/>
                </a:solidFill>
              </a:rPr>
              <a:t>Primary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70F1942-F7B7-F8CE-7C87-5D8B2C76EBB7}"/>
              </a:ext>
            </a:extLst>
          </p:cNvPr>
          <p:cNvSpPr/>
          <p:nvPr/>
        </p:nvSpPr>
        <p:spPr>
          <a:xfrm>
            <a:off x="7772401" y="3814355"/>
            <a:ext cx="3474719" cy="164592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EAEAEA"/>
                </a:solidFill>
              </a:rPr>
              <a:t>Replica</a:t>
            </a:r>
            <a:endParaRPr sz="2400" b="1" dirty="0">
              <a:solidFill>
                <a:srgbClr val="EAEAEA"/>
              </a:solidFill>
            </a:endParaRPr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5261F6A9-2DCF-3FC8-86E7-E216C6A5D36E}"/>
              </a:ext>
            </a:extLst>
          </p:cNvPr>
          <p:cNvSpPr/>
          <p:nvPr/>
        </p:nvSpPr>
        <p:spPr>
          <a:xfrm>
            <a:off x="3886200" y="2334140"/>
            <a:ext cx="3566160" cy="45720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865FAC-586D-3DDC-6416-61F461698455}"/>
              </a:ext>
            </a:extLst>
          </p:cNvPr>
          <p:cNvSpPr txBox="1"/>
          <p:nvPr/>
        </p:nvSpPr>
        <p:spPr>
          <a:xfrm>
            <a:off x="5151639" y="2014100"/>
            <a:ext cx="1828800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F59E0B"/>
                </a:solidFill>
              </a:rPr>
              <a:t>writes</a:t>
            </a: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CC5F1B42-3711-5D6C-89BD-EDAC54028511}"/>
              </a:ext>
            </a:extLst>
          </p:cNvPr>
          <p:cNvSpPr/>
          <p:nvPr/>
        </p:nvSpPr>
        <p:spPr>
          <a:xfrm>
            <a:off x="3944984" y="4454435"/>
            <a:ext cx="3566160" cy="457200"/>
          </a:xfrm>
          <a:prstGeom prst="rightArrow">
            <a:avLst/>
          </a:prstGeom>
          <a:solidFill>
            <a:srgbClr val="7B9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FD4162-839D-5ABB-79D7-873E989D3262}"/>
              </a:ext>
            </a:extLst>
          </p:cNvPr>
          <p:cNvSpPr txBox="1"/>
          <p:nvPr/>
        </p:nvSpPr>
        <p:spPr>
          <a:xfrm>
            <a:off x="5151639" y="4054325"/>
            <a:ext cx="1828800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7B9ED9"/>
                </a:solidFill>
              </a:rPr>
              <a:t>reads</a:t>
            </a:r>
          </a:p>
        </p:txBody>
      </p:sp>
      <p:pic>
        <p:nvPicPr>
          <p:cNvPr id="11" name="Picture 10" descr="image.png">
            <a:extLst>
              <a:ext uri="{FF2B5EF4-FFF2-40B4-BE49-F238E27FC236}">
                <a16:creationId xmlns:a16="http://schemas.microsoft.com/office/drawing/2014/main" id="{35531E50-C809-F4A5-415D-F74FEADEF9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7278" y="3951515"/>
            <a:ext cx="578083" cy="674430"/>
          </a:xfrm>
          <a:prstGeom prst="rect">
            <a:avLst/>
          </a:prstGeom>
        </p:spPr>
      </p:pic>
      <p:pic>
        <p:nvPicPr>
          <p:cNvPr id="12" name="Picture 11" descr="image.png">
            <a:extLst>
              <a:ext uri="{FF2B5EF4-FFF2-40B4-BE49-F238E27FC236}">
                <a16:creationId xmlns:a16="http://schemas.microsoft.com/office/drawing/2014/main" id="{9AEF7F6E-DDA3-E6F7-8326-AA86B7050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7277" y="1836905"/>
            <a:ext cx="578083" cy="674430"/>
          </a:xfrm>
          <a:prstGeom prst="rect">
            <a:avLst/>
          </a:prstGeom>
        </p:spPr>
      </p:pic>
      <p:sp>
        <p:nvSpPr>
          <p:cNvPr id="13" name="Right Arrow 12">
            <a:extLst>
              <a:ext uri="{FF2B5EF4-FFF2-40B4-BE49-F238E27FC236}">
                <a16:creationId xmlns:a16="http://schemas.microsoft.com/office/drawing/2014/main" id="{43862B9F-9894-3CCE-C46D-7E128A6BD9E7}"/>
              </a:ext>
            </a:extLst>
          </p:cNvPr>
          <p:cNvSpPr/>
          <p:nvPr/>
        </p:nvSpPr>
        <p:spPr>
          <a:xfrm rot="5400000">
            <a:off x="9341575" y="3365319"/>
            <a:ext cx="336369" cy="45720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766569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F1CA6-E04A-1F3E-FCF5-DB1322153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D4F6E-BA16-F0C6-291E-8C26C2983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story about a customer</a:t>
            </a:r>
          </a:p>
        </p:txBody>
      </p:sp>
      <p:pic>
        <p:nvPicPr>
          <p:cNvPr id="3" name="Picture 2" descr="Diagram showcasing 1 billion request per sec throughput">
            <a:extLst>
              <a:ext uri="{FF2B5EF4-FFF2-40B4-BE49-F238E27FC236}">
                <a16:creationId xmlns:a16="http://schemas.microsoft.com/office/drawing/2014/main" id="{3496FC6D-9665-40A4-73EB-AAA003324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298" y="1185350"/>
            <a:ext cx="10867102" cy="4487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754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72BA3-D1C0-2B7F-B49D-E19292C19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Metastability</a:t>
            </a:r>
          </a:p>
        </p:txBody>
      </p:sp>
      <p:graphicFrame>
        <p:nvGraphicFramePr>
          <p:cNvPr id="7" name="Chart 0">
            <a:extLst>
              <a:ext uri="{FF2B5EF4-FFF2-40B4-BE49-F238E27FC236}">
                <a16:creationId xmlns:a16="http://schemas.microsoft.com/office/drawing/2014/main" id="{157E979C-D6BE-8EBD-5C66-7E2B6CDFBB4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40711480"/>
              </p:ext>
            </p:extLst>
          </p:nvPr>
        </p:nvGraphicFramePr>
        <p:xfrm>
          <a:off x="959400" y="990600"/>
          <a:ext cx="10363200" cy="4876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96752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EB0DD-A0DE-1C14-0E1D-B7731672B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>
            <a:extLst>
              <a:ext uri="{FF2B5EF4-FFF2-40B4-BE49-F238E27FC236}">
                <a16:creationId xmlns:a16="http://schemas.microsoft.com/office/drawing/2014/main" id="{CCADD905-36A5-AD79-BC91-22912E6B38F5}"/>
              </a:ext>
            </a:extLst>
          </p:cNvPr>
          <p:cNvSpPr/>
          <p:nvPr/>
        </p:nvSpPr>
        <p:spPr>
          <a:xfrm>
            <a:off x="609600" y="1219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1333" dirty="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312C861E-F5B1-3E05-E475-C0EA43C5CDC1}"/>
              </a:ext>
            </a:extLst>
          </p:cNvPr>
          <p:cNvSpPr/>
          <p:nvPr/>
        </p:nvSpPr>
        <p:spPr>
          <a:xfrm>
            <a:off x="609600" y="2682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Layer</a:t>
            </a:r>
            <a:endParaRPr lang="en-US" sz="1333" dirty="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6BE53F85-23EE-1289-0941-5FEA6D0466E9}"/>
              </a:ext>
            </a:extLst>
          </p:cNvPr>
          <p:cNvSpPr/>
          <p:nvPr/>
        </p:nvSpPr>
        <p:spPr>
          <a:xfrm>
            <a:off x="609600" y="3048000"/>
            <a:ext cx="10972800" cy="6096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2700">
            <a:noFill/>
          </a:ln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>
                <a:solidFill>
                  <a:schemeClr val="accent4"/>
                </a:solidFill>
                <a:latin typeface="Calibri" pitchFamily="34" charset="0"/>
                <a:cs typeface="Calibri" pitchFamily="34" charset="-120"/>
              </a:rPr>
              <a:t>Cache UP</a:t>
            </a:r>
            <a:endParaRPr lang="en-US" sz="1600" dirty="0">
              <a:solidFill>
                <a:schemeClr val="accent4"/>
              </a:solidFill>
            </a:endParaRPr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0FF2EF1C-C91A-7C0D-9051-1A6DC7ADB22A}"/>
              </a:ext>
            </a:extLst>
          </p:cNvPr>
          <p:cNvSpPr/>
          <p:nvPr/>
        </p:nvSpPr>
        <p:spPr>
          <a:xfrm>
            <a:off x="609600" y="4267200"/>
            <a:ext cx="243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Database</a:t>
            </a:r>
            <a:endParaRPr lang="en-US" sz="1333" dirty="0"/>
          </a:p>
        </p:txBody>
      </p:sp>
      <p:sp>
        <p:nvSpPr>
          <p:cNvPr id="32" name="Shape 29">
            <a:extLst>
              <a:ext uri="{FF2B5EF4-FFF2-40B4-BE49-F238E27FC236}">
                <a16:creationId xmlns:a16="http://schemas.microsoft.com/office/drawing/2014/main" id="{C84E7B8E-096C-AD72-6AC5-162A9011B79C}"/>
              </a:ext>
            </a:extLst>
          </p:cNvPr>
          <p:cNvSpPr/>
          <p:nvPr/>
        </p:nvSpPr>
        <p:spPr>
          <a:xfrm>
            <a:off x="609600" y="4632960"/>
            <a:ext cx="10972800" cy="853440"/>
          </a:xfrm>
          <a:prstGeom prst="roundRect">
            <a:avLst>
              <a:gd name="adj" fmla="val 5714"/>
            </a:avLst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0">
            <a:extLst>
              <a:ext uri="{FF2B5EF4-FFF2-40B4-BE49-F238E27FC236}">
                <a16:creationId xmlns:a16="http://schemas.microsoft.com/office/drawing/2014/main" id="{DA0131FC-D333-5BB5-EDE7-5BC14D265365}"/>
              </a:ext>
            </a:extLst>
          </p:cNvPr>
          <p:cNvSpPr/>
          <p:nvPr/>
        </p:nvSpPr>
        <p:spPr>
          <a:xfrm>
            <a:off x="853440" y="4754880"/>
            <a:ext cx="426720" cy="60960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6B0F8A72-3F02-FDCC-67EF-8FE9DC5FF2D4}"/>
              </a:ext>
            </a:extLst>
          </p:cNvPr>
          <p:cNvSpPr/>
          <p:nvPr/>
        </p:nvSpPr>
        <p:spPr>
          <a:xfrm>
            <a:off x="1377696" y="4754880"/>
            <a:ext cx="426720" cy="60960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2191D353-E96E-1567-BB61-FF9A9F23160C}"/>
              </a:ext>
            </a:extLst>
          </p:cNvPr>
          <p:cNvSpPr/>
          <p:nvPr/>
        </p:nvSpPr>
        <p:spPr>
          <a:xfrm>
            <a:off x="1901952" y="4754880"/>
            <a:ext cx="426720" cy="60960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3">
            <a:extLst>
              <a:ext uri="{FF2B5EF4-FFF2-40B4-BE49-F238E27FC236}">
                <a16:creationId xmlns:a16="http://schemas.microsoft.com/office/drawing/2014/main" id="{CB40ED0C-C387-8A2D-30EA-3CBA338B9077}"/>
              </a:ext>
            </a:extLst>
          </p:cNvPr>
          <p:cNvSpPr/>
          <p:nvPr/>
        </p:nvSpPr>
        <p:spPr>
          <a:xfrm>
            <a:off x="2426208" y="4754880"/>
            <a:ext cx="426720" cy="60960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4">
            <a:extLst>
              <a:ext uri="{FF2B5EF4-FFF2-40B4-BE49-F238E27FC236}">
                <a16:creationId xmlns:a16="http://schemas.microsoft.com/office/drawing/2014/main" id="{CE1E3C06-101E-57D5-B9B6-BEF59B0783F8}"/>
              </a:ext>
            </a:extLst>
          </p:cNvPr>
          <p:cNvSpPr/>
          <p:nvPr/>
        </p:nvSpPr>
        <p:spPr>
          <a:xfrm>
            <a:off x="2950464" y="4754880"/>
            <a:ext cx="426720" cy="60960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5">
            <a:extLst>
              <a:ext uri="{FF2B5EF4-FFF2-40B4-BE49-F238E27FC236}">
                <a16:creationId xmlns:a16="http://schemas.microsoft.com/office/drawing/2014/main" id="{6B8E6DCA-E737-BFDB-6997-7602E9FF4296}"/>
              </a:ext>
            </a:extLst>
          </p:cNvPr>
          <p:cNvSpPr/>
          <p:nvPr/>
        </p:nvSpPr>
        <p:spPr>
          <a:xfrm>
            <a:off x="3474720" y="4754880"/>
            <a:ext cx="426720" cy="60960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6">
            <a:extLst>
              <a:ext uri="{FF2B5EF4-FFF2-40B4-BE49-F238E27FC236}">
                <a16:creationId xmlns:a16="http://schemas.microsoft.com/office/drawing/2014/main" id="{562BD209-0A3B-EA9A-9BF6-8C66F8DE6F86}"/>
              </a:ext>
            </a:extLst>
          </p:cNvPr>
          <p:cNvSpPr/>
          <p:nvPr/>
        </p:nvSpPr>
        <p:spPr>
          <a:xfrm>
            <a:off x="3998976" y="4754880"/>
            <a:ext cx="426720" cy="60960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7">
            <a:extLst>
              <a:ext uri="{FF2B5EF4-FFF2-40B4-BE49-F238E27FC236}">
                <a16:creationId xmlns:a16="http://schemas.microsoft.com/office/drawing/2014/main" id="{5AEF18B3-711F-F306-BF20-5AAE5B58F858}"/>
              </a:ext>
            </a:extLst>
          </p:cNvPr>
          <p:cNvSpPr/>
          <p:nvPr/>
        </p:nvSpPr>
        <p:spPr>
          <a:xfrm>
            <a:off x="4523232" y="4754880"/>
            <a:ext cx="426720" cy="60960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8">
            <a:extLst>
              <a:ext uri="{FF2B5EF4-FFF2-40B4-BE49-F238E27FC236}">
                <a16:creationId xmlns:a16="http://schemas.microsoft.com/office/drawing/2014/main" id="{A27B61F3-FC51-3A01-8D37-00964ED035EF}"/>
              </a:ext>
            </a:extLst>
          </p:cNvPr>
          <p:cNvSpPr/>
          <p:nvPr/>
        </p:nvSpPr>
        <p:spPr>
          <a:xfrm>
            <a:off x="5047488" y="4754880"/>
            <a:ext cx="426720" cy="60960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39">
            <a:extLst>
              <a:ext uri="{FF2B5EF4-FFF2-40B4-BE49-F238E27FC236}">
                <a16:creationId xmlns:a16="http://schemas.microsoft.com/office/drawing/2014/main" id="{E934E0CE-11B3-A9E5-5F36-9354791735F4}"/>
              </a:ext>
            </a:extLst>
          </p:cNvPr>
          <p:cNvSpPr/>
          <p:nvPr/>
        </p:nvSpPr>
        <p:spPr>
          <a:xfrm>
            <a:off x="5571744" y="4754880"/>
            <a:ext cx="426720" cy="60960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0">
            <a:extLst>
              <a:ext uri="{FF2B5EF4-FFF2-40B4-BE49-F238E27FC236}">
                <a16:creationId xmlns:a16="http://schemas.microsoft.com/office/drawing/2014/main" id="{4E69C08C-3D5D-21D6-E4AC-65E1B28349E1}"/>
              </a:ext>
            </a:extLst>
          </p:cNvPr>
          <p:cNvSpPr/>
          <p:nvPr/>
        </p:nvSpPr>
        <p:spPr>
          <a:xfrm>
            <a:off x="6096000" y="4754880"/>
            <a:ext cx="426720" cy="60960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1">
            <a:extLst>
              <a:ext uri="{FF2B5EF4-FFF2-40B4-BE49-F238E27FC236}">
                <a16:creationId xmlns:a16="http://schemas.microsoft.com/office/drawing/2014/main" id="{18373ACA-32D5-E7C6-DC56-2A600CBE7317}"/>
              </a:ext>
            </a:extLst>
          </p:cNvPr>
          <p:cNvSpPr/>
          <p:nvPr/>
        </p:nvSpPr>
        <p:spPr>
          <a:xfrm>
            <a:off x="6620256" y="4754880"/>
            <a:ext cx="426720" cy="60960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2">
            <a:extLst>
              <a:ext uri="{FF2B5EF4-FFF2-40B4-BE49-F238E27FC236}">
                <a16:creationId xmlns:a16="http://schemas.microsoft.com/office/drawing/2014/main" id="{00C80772-AC96-4120-F78D-592C19A94157}"/>
              </a:ext>
            </a:extLst>
          </p:cNvPr>
          <p:cNvSpPr/>
          <p:nvPr/>
        </p:nvSpPr>
        <p:spPr>
          <a:xfrm>
            <a:off x="7144512" y="4754880"/>
            <a:ext cx="426720" cy="60960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3">
            <a:extLst>
              <a:ext uri="{FF2B5EF4-FFF2-40B4-BE49-F238E27FC236}">
                <a16:creationId xmlns:a16="http://schemas.microsoft.com/office/drawing/2014/main" id="{2355E53B-1AEE-0D4F-E18D-5A39BCC789BD}"/>
              </a:ext>
            </a:extLst>
          </p:cNvPr>
          <p:cNvSpPr/>
          <p:nvPr/>
        </p:nvSpPr>
        <p:spPr>
          <a:xfrm>
            <a:off x="7668768" y="4754880"/>
            <a:ext cx="426720" cy="60960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4">
            <a:extLst>
              <a:ext uri="{FF2B5EF4-FFF2-40B4-BE49-F238E27FC236}">
                <a16:creationId xmlns:a16="http://schemas.microsoft.com/office/drawing/2014/main" id="{4E159E43-DD07-A6DD-B79B-28C4B6F0D4B4}"/>
              </a:ext>
            </a:extLst>
          </p:cNvPr>
          <p:cNvSpPr/>
          <p:nvPr/>
        </p:nvSpPr>
        <p:spPr>
          <a:xfrm>
            <a:off x="8193024" y="4754880"/>
            <a:ext cx="426720" cy="60960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5">
            <a:extLst>
              <a:ext uri="{FF2B5EF4-FFF2-40B4-BE49-F238E27FC236}">
                <a16:creationId xmlns:a16="http://schemas.microsoft.com/office/drawing/2014/main" id="{02FDE462-7AAA-37F1-301D-D658D21AA767}"/>
              </a:ext>
            </a:extLst>
          </p:cNvPr>
          <p:cNvSpPr/>
          <p:nvPr/>
        </p:nvSpPr>
        <p:spPr>
          <a:xfrm>
            <a:off x="8717280" y="4754880"/>
            <a:ext cx="426720" cy="60960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6">
            <a:extLst>
              <a:ext uri="{FF2B5EF4-FFF2-40B4-BE49-F238E27FC236}">
                <a16:creationId xmlns:a16="http://schemas.microsoft.com/office/drawing/2014/main" id="{718A38D1-E1C9-1F31-2DA0-24AC65D22146}"/>
              </a:ext>
            </a:extLst>
          </p:cNvPr>
          <p:cNvSpPr/>
          <p:nvPr/>
        </p:nvSpPr>
        <p:spPr>
          <a:xfrm>
            <a:off x="9241536" y="4754880"/>
            <a:ext cx="426720" cy="60960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7">
            <a:extLst>
              <a:ext uri="{FF2B5EF4-FFF2-40B4-BE49-F238E27FC236}">
                <a16:creationId xmlns:a16="http://schemas.microsoft.com/office/drawing/2014/main" id="{103C447F-D16B-4758-FB58-51403D8ED848}"/>
              </a:ext>
            </a:extLst>
          </p:cNvPr>
          <p:cNvSpPr/>
          <p:nvPr/>
        </p:nvSpPr>
        <p:spPr>
          <a:xfrm>
            <a:off x="9765792" y="4754880"/>
            <a:ext cx="426720" cy="60960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8">
            <a:extLst>
              <a:ext uri="{FF2B5EF4-FFF2-40B4-BE49-F238E27FC236}">
                <a16:creationId xmlns:a16="http://schemas.microsoft.com/office/drawing/2014/main" id="{4489B4D0-3446-8932-58C3-E5ABE22CBA5F}"/>
              </a:ext>
            </a:extLst>
          </p:cNvPr>
          <p:cNvSpPr/>
          <p:nvPr/>
        </p:nvSpPr>
        <p:spPr>
          <a:xfrm>
            <a:off x="10290048" y="4754880"/>
            <a:ext cx="426720" cy="60960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49">
            <a:extLst>
              <a:ext uri="{FF2B5EF4-FFF2-40B4-BE49-F238E27FC236}">
                <a16:creationId xmlns:a16="http://schemas.microsoft.com/office/drawing/2014/main" id="{23D044E9-8333-175C-FBE9-E19C7B57F306}"/>
              </a:ext>
            </a:extLst>
          </p:cNvPr>
          <p:cNvSpPr/>
          <p:nvPr/>
        </p:nvSpPr>
        <p:spPr>
          <a:xfrm>
            <a:off x="10814304" y="4754880"/>
            <a:ext cx="426720" cy="60960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3">
            <a:extLst>
              <a:ext uri="{FF2B5EF4-FFF2-40B4-BE49-F238E27FC236}">
                <a16:creationId xmlns:a16="http://schemas.microsoft.com/office/drawing/2014/main" id="{F3C01EC8-F8D2-9B6E-6F41-9CEEBE143C5D}"/>
              </a:ext>
            </a:extLst>
          </p:cNvPr>
          <p:cNvSpPr/>
          <p:nvPr/>
        </p:nvSpPr>
        <p:spPr>
          <a:xfrm>
            <a:off x="609600" y="1584960"/>
            <a:ext cx="914400" cy="548640"/>
          </a:xfrm>
          <a:prstGeom prst="roundRect">
            <a:avLst>
              <a:gd name="adj" fmla="val 6667"/>
            </a:avLst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4">
            <a:extLst>
              <a:ext uri="{FF2B5EF4-FFF2-40B4-BE49-F238E27FC236}">
                <a16:creationId xmlns:a16="http://schemas.microsoft.com/office/drawing/2014/main" id="{352F511E-62F9-91C2-D298-42E23B2A71FC}"/>
              </a:ext>
            </a:extLst>
          </p:cNvPr>
          <p:cNvSpPr/>
          <p:nvPr/>
        </p:nvSpPr>
        <p:spPr>
          <a:xfrm>
            <a:off x="609600" y="15849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67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</a:t>
            </a:r>
            <a:endParaRPr lang="en-US" sz="1067" dirty="0"/>
          </a:p>
        </p:txBody>
      </p:sp>
      <p:sp>
        <p:nvSpPr>
          <p:cNvPr id="55" name="Shape 5">
            <a:extLst>
              <a:ext uri="{FF2B5EF4-FFF2-40B4-BE49-F238E27FC236}">
                <a16:creationId xmlns:a16="http://schemas.microsoft.com/office/drawing/2014/main" id="{6E91345D-CA5A-8487-C92B-42242783DAA4}"/>
              </a:ext>
            </a:extLst>
          </p:cNvPr>
          <p:cNvSpPr/>
          <p:nvPr/>
        </p:nvSpPr>
        <p:spPr>
          <a:xfrm>
            <a:off x="1706880" y="1584960"/>
            <a:ext cx="914400" cy="548640"/>
          </a:xfrm>
          <a:prstGeom prst="roundRect">
            <a:avLst>
              <a:gd name="adj" fmla="val 6667"/>
            </a:avLst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6">
            <a:extLst>
              <a:ext uri="{FF2B5EF4-FFF2-40B4-BE49-F238E27FC236}">
                <a16:creationId xmlns:a16="http://schemas.microsoft.com/office/drawing/2014/main" id="{65AAD91F-6568-6E41-6628-2A3085212355}"/>
              </a:ext>
            </a:extLst>
          </p:cNvPr>
          <p:cNvSpPr/>
          <p:nvPr/>
        </p:nvSpPr>
        <p:spPr>
          <a:xfrm>
            <a:off x="1706880" y="15849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67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</a:t>
            </a:r>
            <a:endParaRPr lang="en-US" sz="1067" dirty="0"/>
          </a:p>
        </p:txBody>
      </p:sp>
      <p:sp>
        <p:nvSpPr>
          <p:cNvPr id="57" name="Shape 7">
            <a:extLst>
              <a:ext uri="{FF2B5EF4-FFF2-40B4-BE49-F238E27FC236}">
                <a16:creationId xmlns:a16="http://schemas.microsoft.com/office/drawing/2014/main" id="{A4CF3325-1E91-CE49-1CBD-4A7B60BE4F93}"/>
              </a:ext>
            </a:extLst>
          </p:cNvPr>
          <p:cNvSpPr/>
          <p:nvPr/>
        </p:nvSpPr>
        <p:spPr>
          <a:xfrm>
            <a:off x="2804160" y="1584960"/>
            <a:ext cx="914400" cy="548640"/>
          </a:xfrm>
          <a:prstGeom prst="roundRect">
            <a:avLst>
              <a:gd name="adj" fmla="val 6667"/>
            </a:avLst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8">
            <a:extLst>
              <a:ext uri="{FF2B5EF4-FFF2-40B4-BE49-F238E27FC236}">
                <a16:creationId xmlns:a16="http://schemas.microsoft.com/office/drawing/2014/main" id="{E28D739A-D400-6F8A-6B97-81501AFE2448}"/>
              </a:ext>
            </a:extLst>
          </p:cNvPr>
          <p:cNvSpPr/>
          <p:nvPr/>
        </p:nvSpPr>
        <p:spPr>
          <a:xfrm>
            <a:off x="2804160" y="15849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67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</a:t>
            </a:r>
            <a:endParaRPr lang="en-US" sz="1067" dirty="0"/>
          </a:p>
        </p:txBody>
      </p:sp>
      <p:sp>
        <p:nvSpPr>
          <p:cNvPr id="59" name="Shape 9">
            <a:extLst>
              <a:ext uri="{FF2B5EF4-FFF2-40B4-BE49-F238E27FC236}">
                <a16:creationId xmlns:a16="http://schemas.microsoft.com/office/drawing/2014/main" id="{8FD6BD9C-E938-DF0B-6BFB-1773DF03C93D}"/>
              </a:ext>
            </a:extLst>
          </p:cNvPr>
          <p:cNvSpPr/>
          <p:nvPr/>
        </p:nvSpPr>
        <p:spPr>
          <a:xfrm>
            <a:off x="3901440" y="1584960"/>
            <a:ext cx="914400" cy="548640"/>
          </a:xfrm>
          <a:prstGeom prst="roundRect">
            <a:avLst>
              <a:gd name="adj" fmla="val 6667"/>
            </a:avLst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10">
            <a:extLst>
              <a:ext uri="{FF2B5EF4-FFF2-40B4-BE49-F238E27FC236}">
                <a16:creationId xmlns:a16="http://schemas.microsoft.com/office/drawing/2014/main" id="{91580AA8-B37C-D8B3-BE1B-CA8B06FAC748}"/>
              </a:ext>
            </a:extLst>
          </p:cNvPr>
          <p:cNvSpPr/>
          <p:nvPr/>
        </p:nvSpPr>
        <p:spPr>
          <a:xfrm>
            <a:off x="3901440" y="15849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67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</a:t>
            </a:r>
            <a:endParaRPr lang="en-US" sz="1067" dirty="0"/>
          </a:p>
        </p:txBody>
      </p:sp>
      <p:sp>
        <p:nvSpPr>
          <p:cNvPr id="61" name="Shape 11">
            <a:extLst>
              <a:ext uri="{FF2B5EF4-FFF2-40B4-BE49-F238E27FC236}">
                <a16:creationId xmlns:a16="http://schemas.microsoft.com/office/drawing/2014/main" id="{8DA2F53B-21FD-0D83-B6B0-C0D39DB403EB}"/>
              </a:ext>
            </a:extLst>
          </p:cNvPr>
          <p:cNvSpPr/>
          <p:nvPr/>
        </p:nvSpPr>
        <p:spPr>
          <a:xfrm>
            <a:off x="4998720" y="1584960"/>
            <a:ext cx="914400" cy="548640"/>
          </a:xfrm>
          <a:prstGeom prst="roundRect">
            <a:avLst>
              <a:gd name="adj" fmla="val 6667"/>
            </a:avLst>
          </a:prstGeom>
          <a:solidFill>
            <a:srgbClr val="3D2E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12">
            <a:extLst>
              <a:ext uri="{FF2B5EF4-FFF2-40B4-BE49-F238E27FC236}">
                <a16:creationId xmlns:a16="http://schemas.microsoft.com/office/drawing/2014/main" id="{B82CBC17-E64F-17C3-7F37-D28184D72521}"/>
              </a:ext>
            </a:extLst>
          </p:cNvPr>
          <p:cNvSpPr/>
          <p:nvPr/>
        </p:nvSpPr>
        <p:spPr>
          <a:xfrm>
            <a:off x="4998720" y="15849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67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</a:t>
            </a:r>
            <a:endParaRPr lang="en-US" sz="1067" dirty="0"/>
          </a:p>
        </p:txBody>
      </p:sp>
      <p:sp>
        <p:nvSpPr>
          <p:cNvPr id="63" name="Shape 13">
            <a:extLst>
              <a:ext uri="{FF2B5EF4-FFF2-40B4-BE49-F238E27FC236}">
                <a16:creationId xmlns:a16="http://schemas.microsoft.com/office/drawing/2014/main" id="{C7FED6DD-C110-63DE-2609-CDD0BF449FC1}"/>
              </a:ext>
            </a:extLst>
          </p:cNvPr>
          <p:cNvSpPr/>
          <p:nvPr/>
        </p:nvSpPr>
        <p:spPr>
          <a:xfrm>
            <a:off x="6096000" y="1584960"/>
            <a:ext cx="914400" cy="548640"/>
          </a:xfrm>
          <a:prstGeom prst="roundRect">
            <a:avLst>
              <a:gd name="adj" fmla="val 6667"/>
            </a:avLst>
          </a:prstGeom>
          <a:solidFill>
            <a:srgbClr val="3D2E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14">
            <a:extLst>
              <a:ext uri="{FF2B5EF4-FFF2-40B4-BE49-F238E27FC236}">
                <a16:creationId xmlns:a16="http://schemas.microsoft.com/office/drawing/2014/main" id="{EF3BF9FF-11A9-4D17-D46C-87CFAE28BB3E}"/>
              </a:ext>
            </a:extLst>
          </p:cNvPr>
          <p:cNvSpPr/>
          <p:nvPr/>
        </p:nvSpPr>
        <p:spPr>
          <a:xfrm>
            <a:off x="6096000" y="15849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67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</a:t>
            </a:r>
            <a:endParaRPr lang="en-US" sz="1067" dirty="0"/>
          </a:p>
        </p:txBody>
      </p:sp>
      <p:sp>
        <p:nvSpPr>
          <p:cNvPr id="65" name="Shape 15">
            <a:extLst>
              <a:ext uri="{FF2B5EF4-FFF2-40B4-BE49-F238E27FC236}">
                <a16:creationId xmlns:a16="http://schemas.microsoft.com/office/drawing/2014/main" id="{5F91A9B8-6009-38A7-A15F-D68B97B90575}"/>
              </a:ext>
            </a:extLst>
          </p:cNvPr>
          <p:cNvSpPr/>
          <p:nvPr/>
        </p:nvSpPr>
        <p:spPr>
          <a:xfrm>
            <a:off x="7193280" y="1584960"/>
            <a:ext cx="914400" cy="548640"/>
          </a:xfrm>
          <a:prstGeom prst="roundRect">
            <a:avLst>
              <a:gd name="adj" fmla="val 6667"/>
            </a:avLst>
          </a:prstGeom>
          <a:solidFill>
            <a:srgbClr val="3D10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16">
            <a:extLst>
              <a:ext uri="{FF2B5EF4-FFF2-40B4-BE49-F238E27FC236}">
                <a16:creationId xmlns:a16="http://schemas.microsoft.com/office/drawing/2014/main" id="{C4284BD1-73DF-5E18-E9F0-4FACF7C4A269}"/>
              </a:ext>
            </a:extLst>
          </p:cNvPr>
          <p:cNvSpPr/>
          <p:nvPr/>
        </p:nvSpPr>
        <p:spPr>
          <a:xfrm>
            <a:off x="7193280" y="15849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67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retry²</a:t>
            </a:r>
            <a:endParaRPr lang="en-US" sz="1067" dirty="0"/>
          </a:p>
        </p:txBody>
      </p:sp>
      <p:sp>
        <p:nvSpPr>
          <p:cNvPr id="67" name="Shape 17">
            <a:extLst>
              <a:ext uri="{FF2B5EF4-FFF2-40B4-BE49-F238E27FC236}">
                <a16:creationId xmlns:a16="http://schemas.microsoft.com/office/drawing/2014/main" id="{CB2F1293-52E0-5E16-5171-CBE200102759}"/>
              </a:ext>
            </a:extLst>
          </p:cNvPr>
          <p:cNvSpPr/>
          <p:nvPr/>
        </p:nvSpPr>
        <p:spPr>
          <a:xfrm>
            <a:off x="8290560" y="1584960"/>
            <a:ext cx="914400" cy="548640"/>
          </a:xfrm>
          <a:prstGeom prst="roundRect">
            <a:avLst>
              <a:gd name="adj" fmla="val 6667"/>
            </a:avLst>
          </a:prstGeom>
          <a:solidFill>
            <a:srgbClr val="3D10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18">
            <a:extLst>
              <a:ext uri="{FF2B5EF4-FFF2-40B4-BE49-F238E27FC236}">
                <a16:creationId xmlns:a16="http://schemas.microsoft.com/office/drawing/2014/main" id="{09FF78F7-EDE2-88F2-2883-D6C8230822C5}"/>
              </a:ext>
            </a:extLst>
          </p:cNvPr>
          <p:cNvSpPr/>
          <p:nvPr/>
        </p:nvSpPr>
        <p:spPr>
          <a:xfrm>
            <a:off x="8290560" y="15849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67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retry²</a:t>
            </a:r>
            <a:endParaRPr lang="en-US" sz="1067" dirty="0"/>
          </a:p>
        </p:txBody>
      </p:sp>
      <p:sp>
        <p:nvSpPr>
          <p:cNvPr id="69" name="Shape 19">
            <a:extLst>
              <a:ext uri="{FF2B5EF4-FFF2-40B4-BE49-F238E27FC236}">
                <a16:creationId xmlns:a16="http://schemas.microsoft.com/office/drawing/2014/main" id="{45AE6BCB-748E-9B1F-D41F-D82297DAAD2F}"/>
              </a:ext>
            </a:extLst>
          </p:cNvPr>
          <p:cNvSpPr/>
          <p:nvPr/>
        </p:nvSpPr>
        <p:spPr>
          <a:xfrm>
            <a:off x="9387840" y="1584960"/>
            <a:ext cx="914400" cy="548640"/>
          </a:xfrm>
          <a:prstGeom prst="roundRect">
            <a:avLst>
              <a:gd name="adj" fmla="val 6667"/>
            </a:avLst>
          </a:prstGeom>
          <a:solidFill>
            <a:srgbClr val="3D10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20">
            <a:extLst>
              <a:ext uri="{FF2B5EF4-FFF2-40B4-BE49-F238E27FC236}">
                <a16:creationId xmlns:a16="http://schemas.microsoft.com/office/drawing/2014/main" id="{F1BFCFB5-A7FE-C5F4-78A6-A73F093CDDB8}"/>
              </a:ext>
            </a:extLst>
          </p:cNvPr>
          <p:cNvSpPr/>
          <p:nvPr/>
        </p:nvSpPr>
        <p:spPr>
          <a:xfrm>
            <a:off x="9387840" y="15849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67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retry²</a:t>
            </a:r>
            <a:endParaRPr lang="en-US" sz="1067" dirty="0"/>
          </a:p>
        </p:txBody>
      </p:sp>
      <p:sp>
        <p:nvSpPr>
          <p:cNvPr id="71" name="Shape 21">
            <a:extLst>
              <a:ext uri="{FF2B5EF4-FFF2-40B4-BE49-F238E27FC236}">
                <a16:creationId xmlns:a16="http://schemas.microsoft.com/office/drawing/2014/main" id="{D3DCDE88-3E67-CDDD-F276-2228BDEF2555}"/>
              </a:ext>
            </a:extLst>
          </p:cNvPr>
          <p:cNvSpPr/>
          <p:nvPr/>
        </p:nvSpPr>
        <p:spPr>
          <a:xfrm>
            <a:off x="10485120" y="1584960"/>
            <a:ext cx="914400" cy="548640"/>
          </a:xfrm>
          <a:prstGeom prst="roundRect">
            <a:avLst>
              <a:gd name="adj" fmla="val 6667"/>
            </a:avLst>
          </a:prstGeom>
          <a:solidFill>
            <a:srgbClr val="3D10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22">
            <a:extLst>
              <a:ext uri="{FF2B5EF4-FFF2-40B4-BE49-F238E27FC236}">
                <a16:creationId xmlns:a16="http://schemas.microsoft.com/office/drawing/2014/main" id="{AFC28981-07E7-106A-1AA8-09291BC965E1}"/>
              </a:ext>
            </a:extLst>
          </p:cNvPr>
          <p:cNvSpPr/>
          <p:nvPr/>
        </p:nvSpPr>
        <p:spPr>
          <a:xfrm>
            <a:off x="10485120" y="15849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67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retry²</a:t>
            </a:r>
            <a:endParaRPr lang="en-US" sz="1067" dirty="0"/>
          </a:p>
        </p:txBody>
      </p:sp>
      <p:sp>
        <p:nvSpPr>
          <p:cNvPr id="73" name="Shape 3">
            <a:extLst>
              <a:ext uri="{FF2B5EF4-FFF2-40B4-BE49-F238E27FC236}">
                <a16:creationId xmlns:a16="http://schemas.microsoft.com/office/drawing/2014/main" id="{3B0AF90A-A97A-976D-B654-5450B96C7C15}"/>
              </a:ext>
            </a:extLst>
          </p:cNvPr>
          <p:cNvSpPr/>
          <p:nvPr/>
        </p:nvSpPr>
        <p:spPr>
          <a:xfrm>
            <a:off x="4998720" y="1584960"/>
            <a:ext cx="914400" cy="548640"/>
          </a:xfrm>
          <a:prstGeom prst="roundRect">
            <a:avLst>
              <a:gd name="adj" fmla="val 6667"/>
            </a:avLst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Text 4">
            <a:extLst>
              <a:ext uri="{FF2B5EF4-FFF2-40B4-BE49-F238E27FC236}">
                <a16:creationId xmlns:a16="http://schemas.microsoft.com/office/drawing/2014/main" id="{68A96DD6-5CD4-6A26-22B9-AC99EC2F77FC}"/>
              </a:ext>
            </a:extLst>
          </p:cNvPr>
          <p:cNvSpPr/>
          <p:nvPr/>
        </p:nvSpPr>
        <p:spPr>
          <a:xfrm>
            <a:off x="4998720" y="15849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67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</a:t>
            </a:r>
            <a:endParaRPr lang="en-US" sz="1067" dirty="0"/>
          </a:p>
        </p:txBody>
      </p:sp>
      <p:sp>
        <p:nvSpPr>
          <p:cNvPr id="75" name="Shape 5">
            <a:extLst>
              <a:ext uri="{FF2B5EF4-FFF2-40B4-BE49-F238E27FC236}">
                <a16:creationId xmlns:a16="http://schemas.microsoft.com/office/drawing/2014/main" id="{329289DE-54E4-D4BE-0AA6-613B9FBA9719}"/>
              </a:ext>
            </a:extLst>
          </p:cNvPr>
          <p:cNvSpPr/>
          <p:nvPr/>
        </p:nvSpPr>
        <p:spPr>
          <a:xfrm>
            <a:off x="6096000" y="1584960"/>
            <a:ext cx="914400" cy="548640"/>
          </a:xfrm>
          <a:prstGeom prst="roundRect">
            <a:avLst>
              <a:gd name="adj" fmla="val 6667"/>
            </a:avLst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Text 6">
            <a:extLst>
              <a:ext uri="{FF2B5EF4-FFF2-40B4-BE49-F238E27FC236}">
                <a16:creationId xmlns:a16="http://schemas.microsoft.com/office/drawing/2014/main" id="{945037A1-28CA-79E2-72EE-30529C606EC5}"/>
              </a:ext>
            </a:extLst>
          </p:cNvPr>
          <p:cNvSpPr/>
          <p:nvPr/>
        </p:nvSpPr>
        <p:spPr>
          <a:xfrm>
            <a:off x="6096000" y="15849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67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</a:t>
            </a:r>
            <a:endParaRPr lang="en-US" sz="1067" dirty="0"/>
          </a:p>
        </p:txBody>
      </p:sp>
      <p:sp>
        <p:nvSpPr>
          <p:cNvPr id="77" name="Shape 7">
            <a:extLst>
              <a:ext uri="{FF2B5EF4-FFF2-40B4-BE49-F238E27FC236}">
                <a16:creationId xmlns:a16="http://schemas.microsoft.com/office/drawing/2014/main" id="{F1899D0F-46B1-3BF9-79C2-67675E8534ED}"/>
              </a:ext>
            </a:extLst>
          </p:cNvPr>
          <p:cNvSpPr/>
          <p:nvPr/>
        </p:nvSpPr>
        <p:spPr>
          <a:xfrm>
            <a:off x="7193280" y="1584960"/>
            <a:ext cx="914400" cy="548640"/>
          </a:xfrm>
          <a:prstGeom prst="roundRect">
            <a:avLst>
              <a:gd name="adj" fmla="val 6667"/>
            </a:avLst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Text 8">
            <a:extLst>
              <a:ext uri="{FF2B5EF4-FFF2-40B4-BE49-F238E27FC236}">
                <a16:creationId xmlns:a16="http://schemas.microsoft.com/office/drawing/2014/main" id="{9220F7A8-1159-D956-7A47-3DF47716AF59}"/>
              </a:ext>
            </a:extLst>
          </p:cNvPr>
          <p:cNvSpPr/>
          <p:nvPr/>
        </p:nvSpPr>
        <p:spPr>
          <a:xfrm>
            <a:off x="7193280" y="15849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67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</a:t>
            </a:r>
            <a:endParaRPr lang="en-US" sz="1067" dirty="0"/>
          </a:p>
        </p:txBody>
      </p:sp>
      <p:sp>
        <p:nvSpPr>
          <p:cNvPr id="79" name="Shape 9">
            <a:extLst>
              <a:ext uri="{FF2B5EF4-FFF2-40B4-BE49-F238E27FC236}">
                <a16:creationId xmlns:a16="http://schemas.microsoft.com/office/drawing/2014/main" id="{59AED02E-4467-CBE1-81A7-458C175247F8}"/>
              </a:ext>
            </a:extLst>
          </p:cNvPr>
          <p:cNvSpPr/>
          <p:nvPr/>
        </p:nvSpPr>
        <p:spPr>
          <a:xfrm>
            <a:off x="8290560" y="1584960"/>
            <a:ext cx="914400" cy="548640"/>
          </a:xfrm>
          <a:prstGeom prst="roundRect">
            <a:avLst>
              <a:gd name="adj" fmla="val 6667"/>
            </a:avLst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Text 10">
            <a:extLst>
              <a:ext uri="{FF2B5EF4-FFF2-40B4-BE49-F238E27FC236}">
                <a16:creationId xmlns:a16="http://schemas.microsoft.com/office/drawing/2014/main" id="{C9EE9CD1-5CA3-0E0C-0BE5-39A7120689A8}"/>
              </a:ext>
            </a:extLst>
          </p:cNvPr>
          <p:cNvSpPr/>
          <p:nvPr/>
        </p:nvSpPr>
        <p:spPr>
          <a:xfrm>
            <a:off x="8290560" y="15849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67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</a:t>
            </a:r>
            <a:endParaRPr lang="en-US" sz="1067" dirty="0"/>
          </a:p>
        </p:txBody>
      </p:sp>
      <p:sp>
        <p:nvSpPr>
          <p:cNvPr id="81" name="Shape 3">
            <a:extLst>
              <a:ext uri="{FF2B5EF4-FFF2-40B4-BE49-F238E27FC236}">
                <a16:creationId xmlns:a16="http://schemas.microsoft.com/office/drawing/2014/main" id="{E977047F-61E6-E64F-F9BC-DB95860EE583}"/>
              </a:ext>
            </a:extLst>
          </p:cNvPr>
          <p:cNvSpPr/>
          <p:nvPr/>
        </p:nvSpPr>
        <p:spPr>
          <a:xfrm>
            <a:off x="9387840" y="1584960"/>
            <a:ext cx="914400" cy="548640"/>
          </a:xfrm>
          <a:prstGeom prst="roundRect">
            <a:avLst>
              <a:gd name="adj" fmla="val 6667"/>
            </a:avLst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Text 4">
            <a:extLst>
              <a:ext uri="{FF2B5EF4-FFF2-40B4-BE49-F238E27FC236}">
                <a16:creationId xmlns:a16="http://schemas.microsoft.com/office/drawing/2014/main" id="{39022031-2861-6FBB-3E57-0C7DDB79CAAD}"/>
              </a:ext>
            </a:extLst>
          </p:cNvPr>
          <p:cNvSpPr/>
          <p:nvPr/>
        </p:nvSpPr>
        <p:spPr>
          <a:xfrm>
            <a:off x="9387840" y="15849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67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</a:t>
            </a:r>
            <a:endParaRPr lang="en-US" sz="1067" dirty="0"/>
          </a:p>
        </p:txBody>
      </p:sp>
      <p:sp>
        <p:nvSpPr>
          <p:cNvPr id="83" name="Shape 5">
            <a:extLst>
              <a:ext uri="{FF2B5EF4-FFF2-40B4-BE49-F238E27FC236}">
                <a16:creationId xmlns:a16="http://schemas.microsoft.com/office/drawing/2014/main" id="{74F629A6-8E8A-DAAC-1B47-33C7B3E5EABD}"/>
              </a:ext>
            </a:extLst>
          </p:cNvPr>
          <p:cNvSpPr/>
          <p:nvPr/>
        </p:nvSpPr>
        <p:spPr>
          <a:xfrm>
            <a:off x="10485120" y="1584960"/>
            <a:ext cx="914400" cy="548640"/>
          </a:xfrm>
          <a:prstGeom prst="roundRect">
            <a:avLst>
              <a:gd name="adj" fmla="val 6667"/>
            </a:avLst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Text 6">
            <a:extLst>
              <a:ext uri="{FF2B5EF4-FFF2-40B4-BE49-F238E27FC236}">
                <a16:creationId xmlns:a16="http://schemas.microsoft.com/office/drawing/2014/main" id="{85A7DC70-3C5A-A801-D5FD-F0B1D7E905F2}"/>
              </a:ext>
            </a:extLst>
          </p:cNvPr>
          <p:cNvSpPr/>
          <p:nvPr/>
        </p:nvSpPr>
        <p:spPr>
          <a:xfrm>
            <a:off x="10485120" y="15849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67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</a:t>
            </a:r>
            <a:endParaRPr lang="en-US" sz="1067" dirty="0"/>
          </a:p>
        </p:txBody>
      </p:sp>
      <p:sp>
        <p:nvSpPr>
          <p:cNvPr id="85" name="Shape 23">
            <a:extLst>
              <a:ext uri="{FF2B5EF4-FFF2-40B4-BE49-F238E27FC236}">
                <a16:creationId xmlns:a16="http://schemas.microsoft.com/office/drawing/2014/main" id="{F3A43BC3-C980-9069-5991-6077796326DD}"/>
              </a:ext>
            </a:extLst>
          </p:cNvPr>
          <p:cNvSpPr/>
          <p:nvPr/>
        </p:nvSpPr>
        <p:spPr>
          <a:xfrm>
            <a:off x="5852160" y="2401294"/>
            <a:ext cx="487680" cy="426720"/>
          </a:xfrm>
          <a:prstGeom prst="downArrow">
            <a:avLst/>
          </a:prstGeom>
          <a:solidFill>
            <a:schemeClr val="accent1">
              <a:alpha val="6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Shape 26">
            <a:extLst>
              <a:ext uri="{FF2B5EF4-FFF2-40B4-BE49-F238E27FC236}">
                <a16:creationId xmlns:a16="http://schemas.microsoft.com/office/drawing/2014/main" id="{D885CE65-0EEB-BE44-662B-E4A5279AC103}"/>
              </a:ext>
            </a:extLst>
          </p:cNvPr>
          <p:cNvSpPr/>
          <p:nvPr/>
        </p:nvSpPr>
        <p:spPr>
          <a:xfrm>
            <a:off x="5852160" y="3944112"/>
            <a:ext cx="487680" cy="426720"/>
          </a:xfrm>
          <a:prstGeom prst="downArrow">
            <a:avLst/>
          </a:prstGeom>
          <a:solidFill>
            <a:schemeClr val="accent1">
              <a:alpha val="6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" name="Google Shape;115;p3">
            <a:extLst>
              <a:ext uri="{FF2B5EF4-FFF2-40B4-BE49-F238E27FC236}">
                <a16:creationId xmlns:a16="http://schemas.microsoft.com/office/drawing/2014/main" id="{88FC6969-8CC6-8216-DD07-9800FAA4B2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400019"/>
            <a:ext cx="110628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rPr lang="en-US" dirty="0">
                <a:solidFill>
                  <a:schemeClr val="tx1"/>
                </a:solidFill>
              </a:rPr>
              <a:t>Stable system</a:t>
            </a:r>
            <a:endParaRPr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0556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>
            <a:extLst>
              <a:ext uri="{FF2B5EF4-FFF2-40B4-BE49-F238E27FC236}">
                <a16:creationId xmlns:a16="http://schemas.microsoft.com/office/drawing/2014/main" id="{89F07609-F434-EFC1-062C-59895867F136}"/>
              </a:ext>
            </a:extLst>
          </p:cNvPr>
          <p:cNvSpPr/>
          <p:nvPr/>
        </p:nvSpPr>
        <p:spPr>
          <a:xfrm>
            <a:off x="609600" y="1219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1333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B3DD7D31-CC9A-B068-618A-07D3D5D830FB}"/>
              </a:ext>
            </a:extLst>
          </p:cNvPr>
          <p:cNvSpPr/>
          <p:nvPr/>
        </p:nvSpPr>
        <p:spPr>
          <a:xfrm>
            <a:off x="609600" y="1584960"/>
            <a:ext cx="914400" cy="548640"/>
          </a:xfrm>
          <a:prstGeom prst="roundRect">
            <a:avLst>
              <a:gd name="adj" fmla="val 6667"/>
            </a:avLst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2B8AB8AD-91DD-7015-C3D2-E0638CD64D9E}"/>
              </a:ext>
            </a:extLst>
          </p:cNvPr>
          <p:cNvSpPr/>
          <p:nvPr/>
        </p:nvSpPr>
        <p:spPr>
          <a:xfrm>
            <a:off x="609600" y="15849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67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</a:t>
            </a:r>
            <a:endParaRPr lang="en-US" sz="1067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ACEA034D-2E70-DCF8-3F7E-7EBACE59EA4A}"/>
              </a:ext>
            </a:extLst>
          </p:cNvPr>
          <p:cNvSpPr/>
          <p:nvPr/>
        </p:nvSpPr>
        <p:spPr>
          <a:xfrm>
            <a:off x="1706880" y="1584960"/>
            <a:ext cx="914400" cy="548640"/>
          </a:xfrm>
          <a:prstGeom prst="roundRect">
            <a:avLst>
              <a:gd name="adj" fmla="val 6667"/>
            </a:avLst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106D2358-3166-D33D-7882-6C2624C7CAE6}"/>
              </a:ext>
            </a:extLst>
          </p:cNvPr>
          <p:cNvSpPr/>
          <p:nvPr/>
        </p:nvSpPr>
        <p:spPr>
          <a:xfrm>
            <a:off x="1706880" y="15849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67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</a:t>
            </a:r>
            <a:endParaRPr lang="en-US" sz="1067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292BF978-B6E9-9260-035E-7EE99BA43407}"/>
              </a:ext>
            </a:extLst>
          </p:cNvPr>
          <p:cNvSpPr/>
          <p:nvPr/>
        </p:nvSpPr>
        <p:spPr>
          <a:xfrm>
            <a:off x="2804160" y="1584960"/>
            <a:ext cx="914400" cy="548640"/>
          </a:xfrm>
          <a:prstGeom prst="roundRect">
            <a:avLst>
              <a:gd name="adj" fmla="val 6667"/>
            </a:avLst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713CE87-4543-21E5-A83C-9A85B5422968}"/>
              </a:ext>
            </a:extLst>
          </p:cNvPr>
          <p:cNvSpPr/>
          <p:nvPr/>
        </p:nvSpPr>
        <p:spPr>
          <a:xfrm>
            <a:off x="2804160" y="15849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67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</a:t>
            </a:r>
            <a:endParaRPr lang="en-US" sz="1067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CCBB1DC0-A3B3-6759-3F5F-B6AD14832F22}"/>
              </a:ext>
            </a:extLst>
          </p:cNvPr>
          <p:cNvSpPr/>
          <p:nvPr/>
        </p:nvSpPr>
        <p:spPr>
          <a:xfrm>
            <a:off x="3901440" y="1584960"/>
            <a:ext cx="914400" cy="548640"/>
          </a:xfrm>
          <a:prstGeom prst="roundRect">
            <a:avLst>
              <a:gd name="adj" fmla="val 6667"/>
            </a:avLst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2E120CA7-DBD2-D729-97B1-B248A200DF72}"/>
              </a:ext>
            </a:extLst>
          </p:cNvPr>
          <p:cNvSpPr/>
          <p:nvPr/>
        </p:nvSpPr>
        <p:spPr>
          <a:xfrm>
            <a:off x="3901440" y="15849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67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</a:t>
            </a:r>
            <a:endParaRPr lang="en-US" sz="1067" dirty="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C5DACE2B-B628-8A05-F1BB-32917ACFB7C8}"/>
              </a:ext>
            </a:extLst>
          </p:cNvPr>
          <p:cNvSpPr/>
          <p:nvPr/>
        </p:nvSpPr>
        <p:spPr>
          <a:xfrm>
            <a:off x="4998720" y="1584960"/>
            <a:ext cx="914400" cy="548640"/>
          </a:xfrm>
          <a:prstGeom prst="roundRect">
            <a:avLst>
              <a:gd name="adj" fmla="val 6667"/>
            </a:avLst>
          </a:prstGeom>
          <a:solidFill>
            <a:srgbClr val="3D2E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A1196BD4-BD1C-D2BF-86E0-73B6DA0A3D1F}"/>
              </a:ext>
            </a:extLst>
          </p:cNvPr>
          <p:cNvSpPr/>
          <p:nvPr/>
        </p:nvSpPr>
        <p:spPr>
          <a:xfrm>
            <a:off x="4998720" y="15849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67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</a:t>
            </a:r>
            <a:endParaRPr lang="en-US" sz="1067" dirty="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8E079919-9C36-50F8-58B0-B1BB428B9E39}"/>
              </a:ext>
            </a:extLst>
          </p:cNvPr>
          <p:cNvSpPr/>
          <p:nvPr/>
        </p:nvSpPr>
        <p:spPr>
          <a:xfrm>
            <a:off x="6096000" y="1584960"/>
            <a:ext cx="914400" cy="548640"/>
          </a:xfrm>
          <a:prstGeom prst="roundRect">
            <a:avLst>
              <a:gd name="adj" fmla="val 6667"/>
            </a:avLst>
          </a:prstGeom>
          <a:solidFill>
            <a:srgbClr val="3D2E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A5715D1C-2741-8EE8-5AA8-F737529D7039}"/>
              </a:ext>
            </a:extLst>
          </p:cNvPr>
          <p:cNvSpPr/>
          <p:nvPr/>
        </p:nvSpPr>
        <p:spPr>
          <a:xfrm>
            <a:off x="6096000" y="15849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67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</a:t>
            </a:r>
            <a:endParaRPr lang="en-US" sz="1067" dirty="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35E2538B-1CE4-1785-F83E-8F65676EC2C7}"/>
              </a:ext>
            </a:extLst>
          </p:cNvPr>
          <p:cNvSpPr/>
          <p:nvPr/>
        </p:nvSpPr>
        <p:spPr>
          <a:xfrm>
            <a:off x="7193280" y="1584960"/>
            <a:ext cx="914400" cy="548640"/>
          </a:xfrm>
          <a:prstGeom prst="roundRect">
            <a:avLst>
              <a:gd name="adj" fmla="val 6667"/>
            </a:avLst>
          </a:prstGeom>
          <a:solidFill>
            <a:srgbClr val="3D10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8883DD84-28BE-2D41-7291-F7A5D296924D}"/>
              </a:ext>
            </a:extLst>
          </p:cNvPr>
          <p:cNvSpPr/>
          <p:nvPr/>
        </p:nvSpPr>
        <p:spPr>
          <a:xfrm>
            <a:off x="7193280" y="15849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67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retry²</a:t>
            </a:r>
            <a:endParaRPr lang="en-US" sz="1067" dirty="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AAE181AC-7799-D253-513F-727A59830489}"/>
              </a:ext>
            </a:extLst>
          </p:cNvPr>
          <p:cNvSpPr/>
          <p:nvPr/>
        </p:nvSpPr>
        <p:spPr>
          <a:xfrm>
            <a:off x="8290560" y="1584960"/>
            <a:ext cx="914400" cy="548640"/>
          </a:xfrm>
          <a:prstGeom prst="roundRect">
            <a:avLst>
              <a:gd name="adj" fmla="val 6667"/>
            </a:avLst>
          </a:prstGeom>
          <a:solidFill>
            <a:srgbClr val="3D10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D4279881-9D0A-E9D6-A7E0-3AD497EDA5FD}"/>
              </a:ext>
            </a:extLst>
          </p:cNvPr>
          <p:cNvSpPr/>
          <p:nvPr/>
        </p:nvSpPr>
        <p:spPr>
          <a:xfrm>
            <a:off x="8290560" y="15849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67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retry²</a:t>
            </a:r>
            <a:endParaRPr lang="en-US" sz="1067" dirty="0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1E136B2D-2F65-7F0C-B8C3-ED8622CBA136}"/>
              </a:ext>
            </a:extLst>
          </p:cNvPr>
          <p:cNvSpPr/>
          <p:nvPr/>
        </p:nvSpPr>
        <p:spPr>
          <a:xfrm>
            <a:off x="9387840" y="1584960"/>
            <a:ext cx="914400" cy="548640"/>
          </a:xfrm>
          <a:prstGeom prst="roundRect">
            <a:avLst>
              <a:gd name="adj" fmla="val 6667"/>
            </a:avLst>
          </a:prstGeom>
          <a:solidFill>
            <a:srgbClr val="3D10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4F3FA9FE-D755-5E2B-F736-CFCFA6F3570A}"/>
              </a:ext>
            </a:extLst>
          </p:cNvPr>
          <p:cNvSpPr/>
          <p:nvPr/>
        </p:nvSpPr>
        <p:spPr>
          <a:xfrm>
            <a:off x="9387840" y="15849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67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retry²</a:t>
            </a:r>
            <a:endParaRPr lang="en-US" sz="1067" dirty="0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7C33266C-C671-DFF9-9EDB-FCD90BA0BEDB}"/>
              </a:ext>
            </a:extLst>
          </p:cNvPr>
          <p:cNvSpPr/>
          <p:nvPr/>
        </p:nvSpPr>
        <p:spPr>
          <a:xfrm>
            <a:off x="10485120" y="1584960"/>
            <a:ext cx="914400" cy="548640"/>
          </a:xfrm>
          <a:prstGeom prst="roundRect">
            <a:avLst>
              <a:gd name="adj" fmla="val 6667"/>
            </a:avLst>
          </a:prstGeom>
          <a:solidFill>
            <a:srgbClr val="3D10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1431160E-E0F8-2D54-8174-B7323006C8A8}"/>
              </a:ext>
            </a:extLst>
          </p:cNvPr>
          <p:cNvSpPr/>
          <p:nvPr/>
        </p:nvSpPr>
        <p:spPr>
          <a:xfrm>
            <a:off x="10485120" y="15849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67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retry²</a:t>
            </a:r>
            <a:endParaRPr lang="en-US" sz="1067" dirty="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FD9283A6-F285-E84C-6E8F-A883A72A6677}"/>
              </a:ext>
            </a:extLst>
          </p:cNvPr>
          <p:cNvSpPr/>
          <p:nvPr/>
        </p:nvSpPr>
        <p:spPr>
          <a:xfrm>
            <a:off x="609600" y="2682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Layer</a:t>
            </a:r>
            <a:endParaRPr lang="en-US" sz="1333" dirty="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7AD58198-D41D-142B-804B-9F87565D4E40}"/>
              </a:ext>
            </a:extLst>
          </p:cNvPr>
          <p:cNvSpPr/>
          <p:nvPr/>
        </p:nvSpPr>
        <p:spPr>
          <a:xfrm>
            <a:off x="609600" y="3048000"/>
            <a:ext cx="10972800" cy="609600"/>
          </a:xfrm>
          <a:prstGeom prst="roundRect">
            <a:avLst>
              <a:gd name="adj" fmla="val 8000"/>
            </a:avLst>
          </a:prstGeom>
          <a:solidFill>
            <a:srgbClr val="3D1020"/>
          </a:solidFill>
          <a:ln w="12700">
            <a:solidFill>
              <a:srgbClr val="E94560"/>
            </a:solidFill>
          </a:ln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CACHE DOWN / COLD</a:t>
            </a:r>
            <a:endParaRPr lang="en-US" sz="1600" dirty="0"/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016A3FD8-CBC0-47D9-D63E-527867BD3F03}"/>
              </a:ext>
            </a:extLst>
          </p:cNvPr>
          <p:cNvSpPr/>
          <p:nvPr/>
        </p:nvSpPr>
        <p:spPr>
          <a:xfrm>
            <a:off x="609600" y="4267200"/>
            <a:ext cx="243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Database</a:t>
            </a:r>
            <a:endParaRPr lang="en-US" sz="1333" dirty="0"/>
          </a:p>
        </p:txBody>
      </p:sp>
      <p:sp>
        <p:nvSpPr>
          <p:cNvPr id="32" name="Shape 29">
            <a:extLst>
              <a:ext uri="{FF2B5EF4-FFF2-40B4-BE49-F238E27FC236}">
                <a16:creationId xmlns:a16="http://schemas.microsoft.com/office/drawing/2014/main" id="{5E886C20-0A09-178F-FF62-87FFDAF90ED1}"/>
              </a:ext>
            </a:extLst>
          </p:cNvPr>
          <p:cNvSpPr/>
          <p:nvPr/>
        </p:nvSpPr>
        <p:spPr>
          <a:xfrm>
            <a:off x="609600" y="4632960"/>
            <a:ext cx="10972800" cy="853440"/>
          </a:xfrm>
          <a:prstGeom prst="roundRect">
            <a:avLst>
              <a:gd name="adj" fmla="val 5714"/>
            </a:avLst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0">
            <a:extLst>
              <a:ext uri="{FF2B5EF4-FFF2-40B4-BE49-F238E27FC236}">
                <a16:creationId xmlns:a16="http://schemas.microsoft.com/office/drawing/2014/main" id="{BEB333D5-A4B1-506F-7B17-3E139A718CB3}"/>
              </a:ext>
            </a:extLst>
          </p:cNvPr>
          <p:cNvSpPr/>
          <p:nvPr/>
        </p:nvSpPr>
        <p:spPr>
          <a:xfrm>
            <a:off x="853440" y="4754880"/>
            <a:ext cx="426720" cy="60960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058C9346-A6C7-A902-521B-AE20172F56E3}"/>
              </a:ext>
            </a:extLst>
          </p:cNvPr>
          <p:cNvSpPr/>
          <p:nvPr/>
        </p:nvSpPr>
        <p:spPr>
          <a:xfrm>
            <a:off x="1377696" y="4754880"/>
            <a:ext cx="426720" cy="60960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9CDA1F08-A19E-2530-4B0B-8F80EF7B4986}"/>
              </a:ext>
            </a:extLst>
          </p:cNvPr>
          <p:cNvSpPr/>
          <p:nvPr/>
        </p:nvSpPr>
        <p:spPr>
          <a:xfrm>
            <a:off x="1901952" y="4754880"/>
            <a:ext cx="426720" cy="60960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3">
            <a:extLst>
              <a:ext uri="{FF2B5EF4-FFF2-40B4-BE49-F238E27FC236}">
                <a16:creationId xmlns:a16="http://schemas.microsoft.com/office/drawing/2014/main" id="{0309847C-7BB6-D9CC-08EF-818451DF86FB}"/>
              </a:ext>
            </a:extLst>
          </p:cNvPr>
          <p:cNvSpPr/>
          <p:nvPr/>
        </p:nvSpPr>
        <p:spPr>
          <a:xfrm>
            <a:off x="2426208" y="4754880"/>
            <a:ext cx="426720" cy="60960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4">
            <a:extLst>
              <a:ext uri="{FF2B5EF4-FFF2-40B4-BE49-F238E27FC236}">
                <a16:creationId xmlns:a16="http://schemas.microsoft.com/office/drawing/2014/main" id="{CADE6B08-D34E-E804-E27F-CB8483C26723}"/>
              </a:ext>
            </a:extLst>
          </p:cNvPr>
          <p:cNvSpPr/>
          <p:nvPr/>
        </p:nvSpPr>
        <p:spPr>
          <a:xfrm>
            <a:off x="2950464" y="4754880"/>
            <a:ext cx="426720" cy="60960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5">
            <a:extLst>
              <a:ext uri="{FF2B5EF4-FFF2-40B4-BE49-F238E27FC236}">
                <a16:creationId xmlns:a16="http://schemas.microsoft.com/office/drawing/2014/main" id="{401A7862-30F6-C23A-CCA5-9B43E2A4D8E8}"/>
              </a:ext>
            </a:extLst>
          </p:cNvPr>
          <p:cNvSpPr/>
          <p:nvPr/>
        </p:nvSpPr>
        <p:spPr>
          <a:xfrm>
            <a:off x="3474720" y="4754880"/>
            <a:ext cx="426720" cy="60960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6">
            <a:extLst>
              <a:ext uri="{FF2B5EF4-FFF2-40B4-BE49-F238E27FC236}">
                <a16:creationId xmlns:a16="http://schemas.microsoft.com/office/drawing/2014/main" id="{231ABF7C-794F-6562-79BA-DF8C87FA003B}"/>
              </a:ext>
            </a:extLst>
          </p:cNvPr>
          <p:cNvSpPr/>
          <p:nvPr/>
        </p:nvSpPr>
        <p:spPr>
          <a:xfrm>
            <a:off x="3998976" y="4754880"/>
            <a:ext cx="426720" cy="60960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7">
            <a:extLst>
              <a:ext uri="{FF2B5EF4-FFF2-40B4-BE49-F238E27FC236}">
                <a16:creationId xmlns:a16="http://schemas.microsoft.com/office/drawing/2014/main" id="{8C41F1DC-E0A0-B486-3F4C-351957E42D94}"/>
              </a:ext>
            </a:extLst>
          </p:cNvPr>
          <p:cNvSpPr/>
          <p:nvPr/>
        </p:nvSpPr>
        <p:spPr>
          <a:xfrm>
            <a:off x="4523232" y="4754880"/>
            <a:ext cx="426720" cy="60960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8">
            <a:extLst>
              <a:ext uri="{FF2B5EF4-FFF2-40B4-BE49-F238E27FC236}">
                <a16:creationId xmlns:a16="http://schemas.microsoft.com/office/drawing/2014/main" id="{970A68CE-A5B7-7572-C940-3F5FC68CF816}"/>
              </a:ext>
            </a:extLst>
          </p:cNvPr>
          <p:cNvSpPr/>
          <p:nvPr/>
        </p:nvSpPr>
        <p:spPr>
          <a:xfrm>
            <a:off x="5047488" y="4754880"/>
            <a:ext cx="426720" cy="60960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39">
            <a:extLst>
              <a:ext uri="{FF2B5EF4-FFF2-40B4-BE49-F238E27FC236}">
                <a16:creationId xmlns:a16="http://schemas.microsoft.com/office/drawing/2014/main" id="{AACEC688-B7D1-E187-DEC1-F6391D030D17}"/>
              </a:ext>
            </a:extLst>
          </p:cNvPr>
          <p:cNvSpPr/>
          <p:nvPr/>
        </p:nvSpPr>
        <p:spPr>
          <a:xfrm>
            <a:off x="5571744" y="4754880"/>
            <a:ext cx="426720" cy="60960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0">
            <a:extLst>
              <a:ext uri="{FF2B5EF4-FFF2-40B4-BE49-F238E27FC236}">
                <a16:creationId xmlns:a16="http://schemas.microsoft.com/office/drawing/2014/main" id="{7E811351-71EE-56C0-C893-09357FF99F4B}"/>
              </a:ext>
            </a:extLst>
          </p:cNvPr>
          <p:cNvSpPr/>
          <p:nvPr/>
        </p:nvSpPr>
        <p:spPr>
          <a:xfrm>
            <a:off x="6096000" y="4754880"/>
            <a:ext cx="426720" cy="60960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1">
            <a:extLst>
              <a:ext uri="{FF2B5EF4-FFF2-40B4-BE49-F238E27FC236}">
                <a16:creationId xmlns:a16="http://schemas.microsoft.com/office/drawing/2014/main" id="{C12B7B78-B46E-7712-141E-8941FF5E077A}"/>
              </a:ext>
            </a:extLst>
          </p:cNvPr>
          <p:cNvSpPr/>
          <p:nvPr/>
        </p:nvSpPr>
        <p:spPr>
          <a:xfrm>
            <a:off x="6620256" y="4754880"/>
            <a:ext cx="426720" cy="60960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2">
            <a:extLst>
              <a:ext uri="{FF2B5EF4-FFF2-40B4-BE49-F238E27FC236}">
                <a16:creationId xmlns:a16="http://schemas.microsoft.com/office/drawing/2014/main" id="{DFFA34A7-5292-9EDB-8377-46E0C9DE5D30}"/>
              </a:ext>
            </a:extLst>
          </p:cNvPr>
          <p:cNvSpPr/>
          <p:nvPr/>
        </p:nvSpPr>
        <p:spPr>
          <a:xfrm>
            <a:off x="7144512" y="4754880"/>
            <a:ext cx="426720" cy="60960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3">
            <a:extLst>
              <a:ext uri="{FF2B5EF4-FFF2-40B4-BE49-F238E27FC236}">
                <a16:creationId xmlns:a16="http://schemas.microsoft.com/office/drawing/2014/main" id="{8C311E8A-BC72-103B-5B98-A9FDFCD64AB0}"/>
              </a:ext>
            </a:extLst>
          </p:cNvPr>
          <p:cNvSpPr/>
          <p:nvPr/>
        </p:nvSpPr>
        <p:spPr>
          <a:xfrm>
            <a:off x="7668768" y="4754880"/>
            <a:ext cx="426720" cy="60960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4">
            <a:extLst>
              <a:ext uri="{FF2B5EF4-FFF2-40B4-BE49-F238E27FC236}">
                <a16:creationId xmlns:a16="http://schemas.microsoft.com/office/drawing/2014/main" id="{B514AFEC-AB87-1E47-C091-26E34B01DF83}"/>
              </a:ext>
            </a:extLst>
          </p:cNvPr>
          <p:cNvSpPr/>
          <p:nvPr/>
        </p:nvSpPr>
        <p:spPr>
          <a:xfrm>
            <a:off x="8193024" y="4754880"/>
            <a:ext cx="426720" cy="60960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5">
            <a:extLst>
              <a:ext uri="{FF2B5EF4-FFF2-40B4-BE49-F238E27FC236}">
                <a16:creationId xmlns:a16="http://schemas.microsoft.com/office/drawing/2014/main" id="{B19B303F-FAA8-B7E3-83C5-9B6CC8ABB6CD}"/>
              </a:ext>
            </a:extLst>
          </p:cNvPr>
          <p:cNvSpPr/>
          <p:nvPr/>
        </p:nvSpPr>
        <p:spPr>
          <a:xfrm>
            <a:off x="8717280" y="4754880"/>
            <a:ext cx="426720" cy="60960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6">
            <a:extLst>
              <a:ext uri="{FF2B5EF4-FFF2-40B4-BE49-F238E27FC236}">
                <a16:creationId xmlns:a16="http://schemas.microsoft.com/office/drawing/2014/main" id="{792AC6CC-6DC3-52E0-DD21-93200297597D}"/>
              </a:ext>
            </a:extLst>
          </p:cNvPr>
          <p:cNvSpPr/>
          <p:nvPr/>
        </p:nvSpPr>
        <p:spPr>
          <a:xfrm>
            <a:off x="9241536" y="4754880"/>
            <a:ext cx="426720" cy="60960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7">
            <a:extLst>
              <a:ext uri="{FF2B5EF4-FFF2-40B4-BE49-F238E27FC236}">
                <a16:creationId xmlns:a16="http://schemas.microsoft.com/office/drawing/2014/main" id="{839D2247-808F-91A2-240F-ACD39B7FF8FB}"/>
              </a:ext>
            </a:extLst>
          </p:cNvPr>
          <p:cNvSpPr/>
          <p:nvPr/>
        </p:nvSpPr>
        <p:spPr>
          <a:xfrm>
            <a:off x="9765792" y="4754880"/>
            <a:ext cx="426720" cy="60960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8">
            <a:extLst>
              <a:ext uri="{FF2B5EF4-FFF2-40B4-BE49-F238E27FC236}">
                <a16:creationId xmlns:a16="http://schemas.microsoft.com/office/drawing/2014/main" id="{6F45EC68-1B72-77B7-6CA5-6EA2E6CC5F39}"/>
              </a:ext>
            </a:extLst>
          </p:cNvPr>
          <p:cNvSpPr/>
          <p:nvPr/>
        </p:nvSpPr>
        <p:spPr>
          <a:xfrm>
            <a:off x="10290048" y="4754880"/>
            <a:ext cx="426720" cy="60960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49">
            <a:extLst>
              <a:ext uri="{FF2B5EF4-FFF2-40B4-BE49-F238E27FC236}">
                <a16:creationId xmlns:a16="http://schemas.microsoft.com/office/drawing/2014/main" id="{5BD78C30-8526-7C49-1E10-6B7EB7D2AF05}"/>
              </a:ext>
            </a:extLst>
          </p:cNvPr>
          <p:cNvSpPr/>
          <p:nvPr/>
        </p:nvSpPr>
        <p:spPr>
          <a:xfrm>
            <a:off x="10814304" y="4754880"/>
            <a:ext cx="426720" cy="60960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Shape 23">
            <a:extLst>
              <a:ext uri="{FF2B5EF4-FFF2-40B4-BE49-F238E27FC236}">
                <a16:creationId xmlns:a16="http://schemas.microsoft.com/office/drawing/2014/main" id="{16F208EA-1B34-DFF5-A4F2-4AAAE34C3DA8}"/>
              </a:ext>
            </a:extLst>
          </p:cNvPr>
          <p:cNvSpPr/>
          <p:nvPr/>
        </p:nvSpPr>
        <p:spPr>
          <a:xfrm>
            <a:off x="5852160" y="2401294"/>
            <a:ext cx="487680" cy="426720"/>
          </a:xfrm>
          <a:prstGeom prst="downArrow">
            <a:avLst/>
          </a:prstGeom>
          <a:solidFill>
            <a:schemeClr val="accent3">
              <a:lumMod val="40000"/>
              <a:lumOff val="60000"/>
              <a:alpha val="6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Shape 26">
            <a:extLst>
              <a:ext uri="{FF2B5EF4-FFF2-40B4-BE49-F238E27FC236}">
                <a16:creationId xmlns:a16="http://schemas.microsoft.com/office/drawing/2014/main" id="{298AE8E0-71C2-9580-D404-17884B1206F2}"/>
              </a:ext>
            </a:extLst>
          </p:cNvPr>
          <p:cNvSpPr/>
          <p:nvPr/>
        </p:nvSpPr>
        <p:spPr>
          <a:xfrm>
            <a:off x="5852160" y="3944112"/>
            <a:ext cx="487680" cy="426720"/>
          </a:xfrm>
          <a:prstGeom prst="downArrow">
            <a:avLst/>
          </a:prstGeom>
          <a:solidFill>
            <a:schemeClr val="accent3">
              <a:lumMod val="40000"/>
              <a:lumOff val="60000"/>
              <a:alpha val="6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Google Shape;115;p3">
            <a:extLst>
              <a:ext uri="{FF2B5EF4-FFF2-40B4-BE49-F238E27FC236}">
                <a16:creationId xmlns:a16="http://schemas.microsoft.com/office/drawing/2014/main" id="{B49B7098-BF48-A51F-8CEF-B595944755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400019"/>
            <a:ext cx="110628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rPr lang="en-US" dirty="0">
                <a:solidFill>
                  <a:schemeClr val="tx1"/>
                </a:solidFill>
              </a:rPr>
              <a:t>Unstable system</a:t>
            </a:r>
            <a:endParaRPr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7295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293E8-DF1B-E773-19F3-DC37825A5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E7D4A3FA-15CD-5CFD-1C49-4DE1ADEBB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0019"/>
            <a:ext cx="11062800" cy="443198"/>
          </a:xfrm>
        </p:spPr>
        <p:txBody>
          <a:bodyPr/>
          <a:lstStyle/>
          <a:p>
            <a:r>
              <a:rPr lang="en-US" dirty="0"/>
              <a:t>Throughput is a cliff</a:t>
            </a:r>
          </a:p>
        </p:txBody>
      </p:sp>
      <p:pic>
        <p:nvPicPr>
          <p:cNvPr id="2" name="Picture 2" descr="image">
            <a:extLst>
              <a:ext uri="{FF2B5EF4-FFF2-40B4-BE49-F238E27FC236}">
                <a16:creationId xmlns:a16="http://schemas.microsoft.com/office/drawing/2014/main" id="{F7A24723-484C-C136-02E3-187EA070D3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3971" y="1436973"/>
            <a:ext cx="8564058" cy="5021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3090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03EAE-18D6-0BAF-0CB5-6DE3E5C0C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BA09D-57C9-F999-A0DF-888F33073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Bimodal systems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C1020DF8-8CDA-7DE0-7387-D3C6BF9135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7547125"/>
              </p:ext>
            </p:extLst>
          </p:nvPr>
        </p:nvGraphicFramePr>
        <p:xfrm>
          <a:off x="1049969" y="1394129"/>
          <a:ext cx="1097280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91681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C1C21-118D-3A6A-83A7-FAB9F099A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0C61B5-83B0-9008-6D2E-6648EF1F9270}"/>
              </a:ext>
            </a:extLst>
          </p:cNvPr>
          <p:cNvSpPr/>
          <p:nvPr/>
        </p:nvSpPr>
        <p:spPr>
          <a:xfrm>
            <a:off x="609600" y="400019"/>
            <a:ext cx="11062800" cy="44319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lang="en-US" sz="2800" b="1" dirty="0">
                <a:solidFill>
                  <a:schemeClr val="dk1"/>
                </a:solidFill>
              </a:rPr>
              <a:t>Different system modes of Valkey</a:t>
            </a:r>
            <a:endParaRPr sz="2800" b="1" dirty="0">
              <a:solidFill>
                <a:schemeClr val="dk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FA9CE1-F91C-9332-A9DB-71A0AAFACF08}"/>
              </a:ext>
            </a:extLst>
          </p:cNvPr>
          <p:cNvSpPr/>
          <p:nvPr/>
        </p:nvSpPr>
        <p:spPr>
          <a:xfrm>
            <a:off x="609600" y="2030131"/>
            <a:ext cx="5431400" cy="280000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F2F1B0-A0AD-3AD9-2509-B8669ED923BA}"/>
              </a:ext>
            </a:extLst>
          </p:cNvPr>
          <p:cNvSpPr/>
          <p:nvPr/>
        </p:nvSpPr>
        <p:spPr>
          <a:xfrm>
            <a:off x="609600" y="2030131"/>
            <a:ext cx="5431400" cy="7315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246EA8-B832-9BF8-E136-FD2657BA6D0E}"/>
              </a:ext>
            </a:extLst>
          </p:cNvPr>
          <p:cNvSpPr/>
          <p:nvPr/>
        </p:nvSpPr>
        <p:spPr>
          <a:xfrm>
            <a:off x="792480" y="2210131"/>
            <a:ext cx="506564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chemeClr val="dk2"/>
                </a:solidFill>
              </a:rPr>
              <a:t>State A</a:t>
            </a:r>
            <a:endParaRPr sz="1400" b="1" dirty="0">
              <a:solidFill>
                <a:schemeClr val="dk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A45194-F3C1-5426-EEB1-EC6D349BA2EF}"/>
              </a:ext>
            </a:extLst>
          </p:cNvPr>
          <p:cNvSpPr/>
          <p:nvPr/>
        </p:nvSpPr>
        <p:spPr>
          <a:xfrm>
            <a:off x="792480" y="2610131"/>
            <a:ext cx="506564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chemeClr val="dk2"/>
                </a:solidFill>
              </a:rPr>
              <a:t>Steady state</a:t>
            </a:r>
            <a:endParaRPr sz="2400" b="1" dirty="0">
              <a:solidFill>
                <a:schemeClr val="dk2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05C5A-30A4-5EB2-9566-CA7E571229A2}"/>
              </a:ext>
            </a:extLst>
          </p:cNvPr>
          <p:cNvSpPr/>
          <p:nvPr/>
        </p:nvSpPr>
        <p:spPr>
          <a:xfrm>
            <a:off x="6241000" y="2030131"/>
            <a:ext cx="5431400" cy="2800000"/>
          </a:xfrm>
          <a:prstGeom prst="rect">
            <a:avLst/>
          </a:prstGeom>
          <a:solidFill>
            <a:srgbClr val="D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6AB709-B903-60B9-703E-17212BEBF1A4}"/>
              </a:ext>
            </a:extLst>
          </p:cNvPr>
          <p:cNvSpPr/>
          <p:nvPr/>
        </p:nvSpPr>
        <p:spPr>
          <a:xfrm>
            <a:off x="6241000" y="2030131"/>
            <a:ext cx="5431400" cy="73152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4DC05E-A664-6590-CF77-03F0355CDB40}"/>
              </a:ext>
            </a:extLst>
          </p:cNvPr>
          <p:cNvSpPr/>
          <p:nvPr/>
        </p:nvSpPr>
        <p:spPr>
          <a:xfrm>
            <a:off x="6423880" y="2210131"/>
            <a:ext cx="506564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chemeClr val="dk2"/>
                </a:solidFill>
              </a:rPr>
              <a:t>State B</a:t>
            </a:r>
            <a:endParaRPr sz="1400" b="1" dirty="0">
              <a:solidFill>
                <a:schemeClr val="dk2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FF2C6A-094F-0944-8062-DFCD4F3A33A7}"/>
              </a:ext>
            </a:extLst>
          </p:cNvPr>
          <p:cNvSpPr/>
          <p:nvPr/>
        </p:nvSpPr>
        <p:spPr>
          <a:xfrm>
            <a:off x="6423880" y="2610131"/>
            <a:ext cx="506564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chemeClr val="dk2"/>
                </a:solidFill>
              </a:rPr>
              <a:t>Replication</a:t>
            </a:r>
            <a:endParaRPr sz="2400" b="1" dirty="0">
              <a:solidFill>
                <a:schemeClr val="dk2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DD6039-C3AB-D620-6CA1-83E853D3CDCF}"/>
              </a:ext>
            </a:extLst>
          </p:cNvPr>
          <p:cNvSpPr/>
          <p:nvPr/>
        </p:nvSpPr>
        <p:spPr>
          <a:xfrm>
            <a:off x="792480" y="3262931"/>
            <a:ext cx="506564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chemeClr val="dk2"/>
                </a:solidFill>
              </a:rPr>
              <a:t>Static topology</a:t>
            </a:r>
            <a:endParaRPr sz="2400" b="1" dirty="0">
              <a:solidFill>
                <a:schemeClr val="dk2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C529B68-B5EA-CCEB-C55B-50A1A8070537}"/>
              </a:ext>
            </a:extLst>
          </p:cNvPr>
          <p:cNvSpPr/>
          <p:nvPr/>
        </p:nvSpPr>
        <p:spPr>
          <a:xfrm>
            <a:off x="6423880" y="3262931"/>
            <a:ext cx="506564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chemeClr val="dk2"/>
                </a:solidFill>
              </a:rPr>
              <a:t>Slot rebalancing</a:t>
            </a:r>
            <a:endParaRPr sz="2400" b="1" dirty="0">
              <a:solidFill>
                <a:schemeClr val="dk2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067504B-988D-F86E-7D52-914829293DB1}"/>
              </a:ext>
            </a:extLst>
          </p:cNvPr>
          <p:cNvSpPr/>
          <p:nvPr/>
        </p:nvSpPr>
        <p:spPr>
          <a:xfrm>
            <a:off x="792480" y="3915731"/>
            <a:ext cx="506564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chemeClr val="dk2"/>
                </a:solidFill>
              </a:rPr>
              <a:t>Full data</a:t>
            </a:r>
            <a:endParaRPr sz="2400" b="1" dirty="0">
              <a:solidFill>
                <a:schemeClr val="dk2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8E0DB0E-C7F7-D35C-05D9-9BC5121A2BF0}"/>
              </a:ext>
            </a:extLst>
          </p:cNvPr>
          <p:cNvSpPr/>
          <p:nvPr/>
        </p:nvSpPr>
        <p:spPr>
          <a:xfrm>
            <a:off x="6423880" y="3915731"/>
            <a:ext cx="506564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chemeClr val="dk2"/>
                </a:solidFill>
              </a:rPr>
              <a:t>Empty cache</a:t>
            </a:r>
            <a:endParaRPr sz="2400" b="1" dirty="0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84653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BB4AD-A7FA-584C-A51A-EDD98F507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668C6-BD7E-8B23-7041-1E89CB1BA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did this system fail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FB4D887-AD5A-551F-B84E-F5FDCB544B1A}"/>
              </a:ext>
            </a:extLst>
          </p:cNvPr>
          <p:cNvSpPr/>
          <p:nvPr/>
        </p:nvSpPr>
        <p:spPr>
          <a:xfrm>
            <a:off x="1554481" y="1688375"/>
            <a:ext cx="2011680" cy="377190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EAEAEA"/>
                </a:solidFill>
              </a:rPr>
              <a:t>Application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15CE4E6-DE5D-44D1-D13E-FFA854A8906D}"/>
              </a:ext>
            </a:extLst>
          </p:cNvPr>
          <p:cNvSpPr/>
          <p:nvPr/>
        </p:nvSpPr>
        <p:spPr>
          <a:xfrm>
            <a:off x="7772400" y="1688375"/>
            <a:ext cx="3474720" cy="164592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 dirty="0">
                <a:solidFill>
                  <a:srgbClr val="EAEAEA"/>
                </a:solidFill>
              </a:rPr>
              <a:t>Primary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E19BA82-9C41-4BE6-BDAA-E34CF3D36B0A}"/>
              </a:ext>
            </a:extLst>
          </p:cNvPr>
          <p:cNvSpPr/>
          <p:nvPr/>
        </p:nvSpPr>
        <p:spPr>
          <a:xfrm>
            <a:off x="7772401" y="3814355"/>
            <a:ext cx="3474719" cy="164592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EAEAEA"/>
                </a:solidFill>
              </a:rPr>
              <a:t>Replica</a:t>
            </a:r>
            <a:endParaRPr sz="2400" b="1" dirty="0">
              <a:solidFill>
                <a:srgbClr val="EAEAEA"/>
              </a:solidFill>
            </a:endParaRPr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260D8A28-37B4-88A6-5FAD-1147D3629424}"/>
              </a:ext>
            </a:extLst>
          </p:cNvPr>
          <p:cNvSpPr/>
          <p:nvPr/>
        </p:nvSpPr>
        <p:spPr>
          <a:xfrm>
            <a:off x="3886200" y="2334140"/>
            <a:ext cx="3566160" cy="45720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1D9C8C-FDFE-8CE7-618C-31031A550957}"/>
              </a:ext>
            </a:extLst>
          </p:cNvPr>
          <p:cNvSpPr txBox="1"/>
          <p:nvPr/>
        </p:nvSpPr>
        <p:spPr>
          <a:xfrm>
            <a:off x="5151639" y="2014100"/>
            <a:ext cx="1828800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F59E0B"/>
                </a:solidFill>
              </a:rPr>
              <a:t>writes</a:t>
            </a: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0578B23B-A742-9D6F-B5AC-5246D864CBF4}"/>
              </a:ext>
            </a:extLst>
          </p:cNvPr>
          <p:cNvSpPr/>
          <p:nvPr/>
        </p:nvSpPr>
        <p:spPr>
          <a:xfrm>
            <a:off x="3944984" y="4454435"/>
            <a:ext cx="3566160" cy="457200"/>
          </a:xfrm>
          <a:prstGeom prst="rightArrow">
            <a:avLst/>
          </a:prstGeom>
          <a:solidFill>
            <a:srgbClr val="7B9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451EA7-BA27-156C-EBC1-073A76BA21FF}"/>
              </a:ext>
            </a:extLst>
          </p:cNvPr>
          <p:cNvSpPr txBox="1"/>
          <p:nvPr/>
        </p:nvSpPr>
        <p:spPr>
          <a:xfrm>
            <a:off x="5151639" y="4054325"/>
            <a:ext cx="1828800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7B9ED9"/>
                </a:solidFill>
              </a:rPr>
              <a:t>reads</a:t>
            </a:r>
          </a:p>
        </p:txBody>
      </p:sp>
      <p:pic>
        <p:nvPicPr>
          <p:cNvPr id="11" name="Picture 10" descr="image.png">
            <a:extLst>
              <a:ext uri="{FF2B5EF4-FFF2-40B4-BE49-F238E27FC236}">
                <a16:creationId xmlns:a16="http://schemas.microsoft.com/office/drawing/2014/main" id="{D7539094-B715-D7CF-0ADB-3159F257B8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7278" y="3951515"/>
            <a:ext cx="578083" cy="674430"/>
          </a:xfrm>
          <a:prstGeom prst="rect">
            <a:avLst/>
          </a:prstGeom>
        </p:spPr>
      </p:pic>
      <p:pic>
        <p:nvPicPr>
          <p:cNvPr id="12" name="Picture 11" descr="image.png">
            <a:extLst>
              <a:ext uri="{FF2B5EF4-FFF2-40B4-BE49-F238E27FC236}">
                <a16:creationId xmlns:a16="http://schemas.microsoft.com/office/drawing/2014/main" id="{D0F5CD05-A7F0-83D4-3F55-1E2AE44541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7277" y="1836905"/>
            <a:ext cx="578083" cy="674430"/>
          </a:xfrm>
          <a:prstGeom prst="rect">
            <a:avLst/>
          </a:prstGeom>
        </p:spPr>
      </p:pic>
      <p:sp>
        <p:nvSpPr>
          <p:cNvPr id="13" name="Right Arrow 12">
            <a:extLst>
              <a:ext uri="{FF2B5EF4-FFF2-40B4-BE49-F238E27FC236}">
                <a16:creationId xmlns:a16="http://schemas.microsoft.com/office/drawing/2014/main" id="{9765E66D-68DD-5E39-B799-08F9F129A714}"/>
              </a:ext>
            </a:extLst>
          </p:cNvPr>
          <p:cNvSpPr/>
          <p:nvPr/>
        </p:nvSpPr>
        <p:spPr>
          <a:xfrm rot="5400000">
            <a:off x="9341575" y="3365319"/>
            <a:ext cx="336369" cy="45720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FB06224-F3EC-E9AF-E2E7-7162A956A56C}"/>
              </a:ext>
            </a:extLst>
          </p:cNvPr>
          <p:cNvSpPr/>
          <p:nvPr/>
        </p:nvSpPr>
        <p:spPr>
          <a:xfrm>
            <a:off x="8936354" y="3000920"/>
            <a:ext cx="1146810" cy="1146810"/>
          </a:xfrm>
          <a:prstGeom prst="ellipse">
            <a:avLst/>
          </a:prstGeom>
          <a:noFill/>
          <a:ln w="1270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975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D4BD3-FE32-43DF-244C-3217CE312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E740D-7126-C7EC-1CED-50AD9316A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in, never out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854A55F-F8A6-D0EA-6A88-65249007CF55}"/>
              </a:ext>
            </a:extLst>
          </p:cNvPr>
          <p:cNvSpPr/>
          <p:nvPr/>
        </p:nvSpPr>
        <p:spPr>
          <a:xfrm>
            <a:off x="1267098" y="1701438"/>
            <a:ext cx="2011680" cy="377190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EAEAEA"/>
                </a:solidFill>
              </a:rPr>
              <a:t>Application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FAB56A2-D553-4782-B991-D207451D88B7}"/>
              </a:ext>
            </a:extLst>
          </p:cNvPr>
          <p:cNvSpPr/>
          <p:nvPr/>
        </p:nvSpPr>
        <p:spPr>
          <a:xfrm>
            <a:off x="4390777" y="1701438"/>
            <a:ext cx="3474720" cy="164592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EAEAEA"/>
                </a:solidFill>
              </a:rPr>
              <a:t>Kafka Queue</a:t>
            </a:r>
            <a:endParaRPr sz="2400" b="1" dirty="0">
              <a:solidFill>
                <a:srgbClr val="EAEAEA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1098B68-D9F1-72D1-2984-5D0F10104B6D}"/>
              </a:ext>
            </a:extLst>
          </p:cNvPr>
          <p:cNvSpPr/>
          <p:nvPr/>
        </p:nvSpPr>
        <p:spPr>
          <a:xfrm>
            <a:off x="4390778" y="3827418"/>
            <a:ext cx="3474719" cy="164592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EAEAEA"/>
                </a:solidFill>
              </a:rPr>
              <a:t>Context</a:t>
            </a:r>
          </a:p>
          <a:p>
            <a:pPr algn="ctr"/>
            <a:r>
              <a:rPr lang="en-US" sz="2400" b="1" dirty="0">
                <a:solidFill>
                  <a:srgbClr val="EAEAEA"/>
                </a:solidFill>
              </a:rPr>
              <a:t>Cache</a:t>
            </a:r>
            <a:endParaRPr sz="2400" b="1" dirty="0">
              <a:solidFill>
                <a:srgbClr val="EAEAEA"/>
              </a:solidFill>
            </a:endParaRPr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646BF000-FBF7-FE1C-4B74-F350725962F5}"/>
              </a:ext>
            </a:extLst>
          </p:cNvPr>
          <p:cNvSpPr/>
          <p:nvPr/>
        </p:nvSpPr>
        <p:spPr>
          <a:xfrm>
            <a:off x="3598817" y="2347203"/>
            <a:ext cx="471922" cy="45720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8EB547-8E9B-D21A-0991-CE4BE035FEA2}"/>
              </a:ext>
            </a:extLst>
          </p:cNvPr>
          <p:cNvSpPr txBox="1"/>
          <p:nvPr/>
        </p:nvSpPr>
        <p:spPr>
          <a:xfrm>
            <a:off x="3393077" y="1903793"/>
            <a:ext cx="1828800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F59E0B"/>
                </a:solidFill>
              </a:rPr>
              <a:t>writes</a:t>
            </a:r>
          </a:p>
        </p:txBody>
      </p:sp>
      <p:pic>
        <p:nvPicPr>
          <p:cNvPr id="11" name="Picture 10" descr="image.png">
            <a:extLst>
              <a:ext uri="{FF2B5EF4-FFF2-40B4-BE49-F238E27FC236}">
                <a16:creationId xmlns:a16="http://schemas.microsoft.com/office/drawing/2014/main" id="{D109A4A3-F901-9818-6E3B-22B3E141A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5655" y="3964578"/>
            <a:ext cx="578083" cy="674430"/>
          </a:xfrm>
          <a:prstGeom prst="rect">
            <a:avLst/>
          </a:prstGeom>
        </p:spPr>
      </p:pic>
      <p:sp>
        <p:nvSpPr>
          <p:cNvPr id="3" name="Right Arrow 2">
            <a:extLst>
              <a:ext uri="{FF2B5EF4-FFF2-40B4-BE49-F238E27FC236}">
                <a16:creationId xmlns:a16="http://schemas.microsoft.com/office/drawing/2014/main" id="{1C0C1F4F-5CB5-50D0-048C-D990F78F18C0}"/>
              </a:ext>
            </a:extLst>
          </p:cNvPr>
          <p:cNvSpPr/>
          <p:nvPr/>
        </p:nvSpPr>
        <p:spPr>
          <a:xfrm>
            <a:off x="3660295" y="4410408"/>
            <a:ext cx="471922" cy="45720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A458F2-B5CC-F09E-3101-8766691D280F}"/>
              </a:ext>
            </a:extLst>
          </p:cNvPr>
          <p:cNvSpPr txBox="1"/>
          <p:nvPr/>
        </p:nvSpPr>
        <p:spPr>
          <a:xfrm>
            <a:off x="3454555" y="3966998"/>
            <a:ext cx="1828800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F59E0B"/>
                </a:solidFill>
              </a:rPr>
              <a:t>writes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B551087-CE5C-6F53-2CFB-8190A03E26D4}"/>
              </a:ext>
            </a:extLst>
          </p:cNvPr>
          <p:cNvSpPr/>
          <p:nvPr/>
        </p:nvSpPr>
        <p:spPr>
          <a:xfrm>
            <a:off x="8977496" y="1701438"/>
            <a:ext cx="2011680" cy="377190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800" b="1" dirty="0">
                <a:solidFill>
                  <a:srgbClr val="EAEAEA"/>
                </a:solidFill>
              </a:rPr>
              <a:t>Consumer</a:t>
            </a:r>
            <a:endParaRPr sz="1800" b="1" dirty="0">
              <a:solidFill>
                <a:srgbClr val="EAEAEA"/>
              </a:solidFill>
            </a:endParaRPr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0DCA072F-479E-13D2-722D-B0B39A1FFBE0}"/>
              </a:ext>
            </a:extLst>
          </p:cNvPr>
          <p:cNvSpPr/>
          <p:nvPr/>
        </p:nvSpPr>
        <p:spPr>
          <a:xfrm rot="10800000">
            <a:off x="8110374" y="4421778"/>
            <a:ext cx="471922" cy="457200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ED7296-1059-BE1C-354C-06CFAFFCD1F5}"/>
              </a:ext>
            </a:extLst>
          </p:cNvPr>
          <p:cNvSpPr txBox="1"/>
          <p:nvPr/>
        </p:nvSpPr>
        <p:spPr>
          <a:xfrm>
            <a:off x="8002135" y="3966998"/>
            <a:ext cx="1828800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2000" b="1" i="0" dirty="0">
                <a:solidFill>
                  <a:schemeClr val="accent1"/>
                </a:solidFill>
              </a:rPr>
              <a:t>read</a:t>
            </a:r>
            <a:endParaRPr sz="2000" b="1" i="0" dirty="0">
              <a:solidFill>
                <a:schemeClr val="accent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BF02E11-057C-F540-79CE-59C976D42EBD}"/>
              </a:ext>
            </a:extLst>
          </p:cNvPr>
          <p:cNvSpPr txBox="1"/>
          <p:nvPr/>
        </p:nvSpPr>
        <p:spPr>
          <a:xfrm>
            <a:off x="7979795" y="1940503"/>
            <a:ext cx="1828800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2000" b="1" i="0" dirty="0">
                <a:solidFill>
                  <a:schemeClr val="accent1"/>
                </a:solidFill>
              </a:rPr>
              <a:t>read</a:t>
            </a:r>
            <a:endParaRPr sz="2000" b="1" i="0" dirty="0">
              <a:solidFill>
                <a:schemeClr val="accent1"/>
              </a:solidFill>
            </a:endParaRPr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5895EA40-29B0-0832-4401-C4588081E45D}"/>
              </a:ext>
            </a:extLst>
          </p:cNvPr>
          <p:cNvSpPr/>
          <p:nvPr/>
        </p:nvSpPr>
        <p:spPr>
          <a:xfrm rot="10800000">
            <a:off x="8110374" y="2468005"/>
            <a:ext cx="471922" cy="457200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74379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/>
      <p:bldP spid="19" grpId="0"/>
      <p:bldP spid="2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645D6-A919-CE83-1513-E5D701A9B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2C997-E2BB-C6F9-58BF-DCA975132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in, never out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9D6475C-4492-7883-D5E8-4E84C9427DF2}"/>
              </a:ext>
            </a:extLst>
          </p:cNvPr>
          <p:cNvSpPr/>
          <p:nvPr/>
        </p:nvSpPr>
        <p:spPr>
          <a:xfrm>
            <a:off x="1267098" y="1701438"/>
            <a:ext cx="2011680" cy="377190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EAEAEA"/>
                </a:solidFill>
              </a:rPr>
              <a:t>Application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3B286CA-9C3E-4B4C-0DA6-7DDE397AC738}"/>
              </a:ext>
            </a:extLst>
          </p:cNvPr>
          <p:cNvSpPr/>
          <p:nvPr/>
        </p:nvSpPr>
        <p:spPr>
          <a:xfrm>
            <a:off x="4390777" y="1701438"/>
            <a:ext cx="3474720" cy="164592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EAEAEA"/>
                </a:solidFill>
              </a:rPr>
              <a:t>Kafka Queue</a:t>
            </a:r>
            <a:endParaRPr sz="2400" b="1" dirty="0">
              <a:solidFill>
                <a:srgbClr val="EAEAEA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608605D-04C4-88B7-64CE-9C5DD2EFCF41}"/>
              </a:ext>
            </a:extLst>
          </p:cNvPr>
          <p:cNvSpPr/>
          <p:nvPr/>
        </p:nvSpPr>
        <p:spPr>
          <a:xfrm>
            <a:off x="4390778" y="3827418"/>
            <a:ext cx="3474719" cy="164592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EAEAEA"/>
                </a:solidFill>
              </a:rPr>
              <a:t>Context</a:t>
            </a:r>
          </a:p>
          <a:p>
            <a:pPr algn="ctr"/>
            <a:r>
              <a:rPr lang="en-US" sz="2400" b="1" dirty="0">
                <a:solidFill>
                  <a:srgbClr val="EAEAEA"/>
                </a:solidFill>
              </a:rPr>
              <a:t>Cache</a:t>
            </a:r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F7C4A91C-6ACE-74CC-1B60-75E497FF0A2F}"/>
              </a:ext>
            </a:extLst>
          </p:cNvPr>
          <p:cNvSpPr/>
          <p:nvPr/>
        </p:nvSpPr>
        <p:spPr>
          <a:xfrm>
            <a:off x="3598817" y="2347203"/>
            <a:ext cx="471922" cy="45720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3D6736-4EE8-B197-08EA-E67CBBE1CDDE}"/>
              </a:ext>
            </a:extLst>
          </p:cNvPr>
          <p:cNvSpPr txBox="1"/>
          <p:nvPr/>
        </p:nvSpPr>
        <p:spPr>
          <a:xfrm>
            <a:off x="3393077" y="1903793"/>
            <a:ext cx="1828800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F59E0B"/>
                </a:solidFill>
              </a:rPr>
              <a:t>writes</a:t>
            </a:r>
          </a:p>
        </p:txBody>
      </p:sp>
      <p:pic>
        <p:nvPicPr>
          <p:cNvPr id="11" name="Picture 10" descr="image.png">
            <a:extLst>
              <a:ext uri="{FF2B5EF4-FFF2-40B4-BE49-F238E27FC236}">
                <a16:creationId xmlns:a16="http://schemas.microsoft.com/office/drawing/2014/main" id="{D08E303D-FA12-FE1C-72A2-2F00D79B67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5655" y="3964578"/>
            <a:ext cx="578083" cy="674430"/>
          </a:xfrm>
          <a:prstGeom prst="rect">
            <a:avLst/>
          </a:prstGeom>
        </p:spPr>
      </p:pic>
      <p:sp>
        <p:nvSpPr>
          <p:cNvPr id="3" name="Right Arrow 2">
            <a:extLst>
              <a:ext uri="{FF2B5EF4-FFF2-40B4-BE49-F238E27FC236}">
                <a16:creationId xmlns:a16="http://schemas.microsoft.com/office/drawing/2014/main" id="{4859410B-F916-9222-F9A0-AFDD7F8C8CA6}"/>
              </a:ext>
            </a:extLst>
          </p:cNvPr>
          <p:cNvSpPr/>
          <p:nvPr/>
        </p:nvSpPr>
        <p:spPr>
          <a:xfrm>
            <a:off x="3660295" y="4410408"/>
            <a:ext cx="471922" cy="45720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54D1E4-042C-A04B-03F1-80AC17DAD314}"/>
              </a:ext>
            </a:extLst>
          </p:cNvPr>
          <p:cNvSpPr txBox="1"/>
          <p:nvPr/>
        </p:nvSpPr>
        <p:spPr>
          <a:xfrm>
            <a:off x="3454555" y="3966998"/>
            <a:ext cx="1828800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F59E0B"/>
                </a:solidFill>
              </a:rPr>
              <a:t>writes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4544B89-AE00-4E98-EE2D-8FB9A00E1B71}"/>
              </a:ext>
            </a:extLst>
          </p:cNvPr>
          <p:cNvSpPr/>
          <p:nvPr/>
        </p:nvSpPr>
        <p:spPr>
          <a:xfrm>
            <a:off x="8977496" y="1701438"/>
            <a:ext cx="2011680" cy="3771900"/>
          </a:xfrm>
          <a:prstGeom prst="round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800" b="1" dirty="0">
                <a:solidFill>
                  <a:srgbClr val="EAEAEA"/>
                </a:solidFill>
              </a:rPr>
              <a:t>Consumer</a:t>
            </a:r>
            <a:endParaRPr sz="1800" b="1" dirty="0">
              <a:solidFill>
                <a:srgbClr val="EAEAE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8723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EB53F-041B-6B2E-E219-6B11AB8ED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D623B-1137-1707-0006-26AF6BAC0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in, never out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9DF1629-D5CE-2543-E2D6-AACE15C73B47}"/>
              </a:ext>
            </a:extLst>
          </p:cNvPr>
          <p:cNvSpPr/>
          <p:nvPr/>
        </p:nvSpPr>
        <p:spPr>
          <a:xfrm>
            <a:off x="1267098" y="1701438"/>
            <a:ext cx="2011680" cy="377190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 dirty="0">
                <a:solidFill>
                  <a:srgbClr val="EAEAEA"/>
                </a:solidFill>
              </a:rPr>
              <a:t>Application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E39CED8-970C-6B32-37D8-BEBD45AE2B97}"/>
              </a:ext>
            </a:extLst>
          </p:cNvPr>
          <p:cNvSpPr/>
          <p:nvPr/>
        </p:nvSpPr>
        <p:spPr>
          <a:xfrm>
            <a:off x="4390777" y="1701438"/>
            <a:ext cx="3474720" cy="164592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EAEAEA"/>
                </a:solidFill>
              </a:rPr>
              <a:t>Kafka Queue</a:t>
            </a:r>
            <a:endParaRPr sz="2400" b="1" dirty="0">
              <a:solidFill>
                <a:srgbClr val="EAEAEA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F7B9EF1-41F3-42AE-0455-DC757E0B7201}"/>
              </a:ext>
            </a:extLst>
          </p:cNvPr>
          <p:cNvSpPr/>
          <p:nvPr/>
        </p:nvSpPr>
        <p:spPr>
          <a:xfrm>
            <a:off x="4390778" y="3827418"/>
            <a:ext cx="3474719" cy="164592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EAEAEA"/>
                </a:solidFill>
              </a:rPr>
              <a:t>Context</a:t>
            </a:r>
          </a:p>
          <a:p>
            <a:pPr algn="ctr"/>
            <a:r>
              <a:rPr lang="en-US" sz="2400" b="1" dirty="0">
                <a:solidFill>
                  <a:srgbClr val="EAEAEA"/>
                </a:solidFill>
              </a:rPr>
              <a:t>Cache</a:t>
            </a:r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69231FD2-ABB5-63AA-FD88-3A8712CAE610}"/>
              </a:ext>
            </a:extLst>
          </p:cNvPr>
          <p:cNvSpPr/>
          <p:nvPr/>
        </p:nvSpPr>
        <p:spPr>
          <a:xfrm>
            <a:off x="3598817" y="2347203"/>
            <a:ext cx="471922" cy="45720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7C4EFF-D442-0F7E-A17B-459F4D995B09}"/>
              </a:ext>
            </a:extLst>
          </p:cNvPr>
          <p:cNvSpPr txBox="1"/>
          <p:nvPr/>
        </p:nvSpPr>
        <p:spPr>
          <a:xfrm>
            <a:off x="3393077" y="1903793"/>
            <a:ext cx="1828800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F59E0B"/>
                </a:solidFill>
              </a:rPr>
              <a:t>writes</a:t>
            </a:r>
          </a:p>
        </p:txBody>
      </p:sp>
      <p:pic>
        <p:nvPicPr>
          <p:cNvPr id="11" name="Picture 10" descr="image.png">
            <a:extLst>
              <a:ext uri="{FF2B5EF4-FFF2-40B4-BE49-F238E27FC236}">
                <a16:creationId xmlns:a16="http://schemas.microsoft.com/office/drawing/2014/main" id="{1F2055F0-0B76-8D72-77D9-A1A1038DC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5655" y="3964578"/>
            <a:ext cx="578083" cy="674430"/>
          </a:xfrm>
          <a:prstGeom prst="rect">
            <a:avLst/>
          </a:prstGeom>
        </p:spPr>
      </p:pic>
      <p:sp>
        <p:nvSpPr>
          <p:cNvPr id="3" name="Right Arrow 2">
            <a:extLst>
              <a:ext uri="{FF2B5EF4-FFF2-40B4-BE49-F238E27FC236}">
                <a16:creationId xmlns:a16="http://schemas.microsoft.com/office/drawing/2014/main" id="{008CB635-ECB8-D657-2355-651EE3B56EB4}"/>
              </a:ext>
            </a:extLst>
          </p:cNvPr>
          <p:cNvSpPr/>
          <p:nvPr/>
        </p:nvSpPr>
        <p:spPr>
          <a:xfrm>
            <a:off x="3660295" y="4410408"/>
            <a:ext cx="471922" cy="45720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A96DF0-A342-F964-92F6-E11589372A83}"/>
              </a:ext>
            </a:extLst>
          </p:cNvPr>
          <p:cNvSpPr txBox="1"/>
          <p:nvPr/>
        </p:nvSpPr>
        <p:spPr>
          <a:xfrm>
            <a:off x="3454555" y="3966998"/>
            <a:ext cx="1828800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F59E0B"/>
                </a:solidFill>
              </a:rPr>
              <a:t>writes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8506D25-B42D-8246-04DF-58521D9DDE4E}"/>
              </a:ext>
            </a:extLst>
          </p:cNvPr>
          <p:cNvSpPr/>
          <p:nvPr/>
        </p:nvSpPr>
        <p:spPr>
          <a:xfrm>
            <a:off x="8977496" y="1701438"/>
            <a:ext cx="2011680" cy="377190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800" b="1" dirty="0">
                <a:solidFill>
                  <a:srgbClr val="EAEAEA"/>
                </a:solidFill>
              </a:rPr>
              <a:t>Consumer</a:t>
            </a:r>
            <a:endParaRPr sz="1800" b="1" dirty="0">
              <a:solidFill>
                <a:srgbClr val="EAEAEA"/>
              </a:solidFill>
            </a:endParaRPr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56884C14-3DAB-A47F-ACCA-237AA3544DB9}"/>
              </a:ext>
            </a:extLst>
          </p:cNvPr>
          <p:cNvSpPr/>
          <p:nvPr/>
        </p:nvSpPr>
        <p:spPr>
          <a:xfrm rot="10800000">
            <a:off x="8110374" y="4421778"/>
            <a:ext cx="471922" cy="45720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E53134-10BF-30EA-7876-D4A4D2ACB448}"/>
              </a:ext>
            </a:extLst>
          </p:cNvPr>
          <p:cNvSpPr txBox="1"/>
          <p:nvPr/>
        </p:nvSpPr>
        <p:spPr>
          <a:xfrm>
            <a:off x="8002135" y="3966998"/>
            <a:ext cx="1828800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2000" b="1" i="0" dirty="0">
                <a:solidFill>
                  <a:srgbClr val="FF0000"/>
                </a:solidFill>
              </a:rPr>
              <a:t>read</a:t>
            </a:r>
            <a:endParaRPr sz="2000" b="1" i="0" dirty="0">
              <a:solidFill>
                <a:srgbClr val="FF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8685E9C-1EA3-72CD-F01D-5273DE845D83}"/>
              </a:ext>
            </a:extLst>
          </p:cNvPr>
          <p:cNvSpPr txBox="1"/>
          <p:nvPr/>
        </p:nvSpPr>
        <p:spPr>
          <a:xfrm>
            <a:off x="7979795" y="1940503"/>
            <a:ext cx="1828800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2000" b="1" i="0" dirty="0">
                <a:solidFill>
                  <a:schemeClr val="accent1"/>
                </a:solidFill>
              </a:rPr>
              <a:t>read</a:t>
            </a:r>
            <a:endParaRPr sz="2000" b="1" i="0" dirty="0">
              <a:solidFill>
                <a:schemeClr val="accent1"/>
              </a:solidFill>
            </a:endParaRPr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1BBE8253-5F64-50F4-A666-BB07D7E9BF8F}"/>
              </a:ext>
            </a:extLst>
          </p:cNvPr>
          <p:cNvSpPr/>
          <p:nvPr/>
        </p:nvSpPr>
        <p:spPr>
          <a:xfrm rot="10800000">
            <a:off x="8110374" y="2468005"/>
            <a:ext cx="471922" cy="457200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315913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FEA44-7B67-6322-A4E2-F9C60D8ED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1267098" y="1701438"/>
            <a:ext cx="2011680" cy="3771900"/>
          </a:xfrm>
          <a:prstGeom prst="roundRect">
            <a:avLst/>
          </a:prstGeom>
          <a:solidFill>
            <a:srgbClr val="0F34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 dirty="0">
                <a:solidFill>
                  <a:srgbClr val="EAEAEA"/>
                </a:solidFill>
              </a:rPr>
              <a:t>Application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122297" y="1701438"/>
            <a:ext cx="2011680" cy="3771900"/>
          </a:xfrm>
          <a:prstGeom prst="roundRect">
            <a:avLst/>
          </a:prstGeom>
          <a:solidFill>
            <a:srgbClr val="0F34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EAEAEA"/>
                </a:solidFill>
              </a:rPr>
              <a:t>Proxy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463130" y="3358788"/>
            <a:ext cx="1474815" cy="45720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977496" y="1701438"/>
            <a:ext cx="2011680" cy="1157300"/>
          </a:xfrm>
          <a:prstGeom prst="roundRect">
            <a:avLst/>
          </a:prstGeom>
          <a:solidFill>
            <a:srgbClr val="0F34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EAEAEA"/>
                </a:solidFill>
              </a:rPr>
              <a:t>Cache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77496" y="3008738"/>
            <a:ext cx="2011680" cy="1157300"/>
          </a:xfrm>
          <a:prstGeom prst="roundRect">
            <a:avLst/>
          </a:prstGeom>
          <a:solidFill>
            <a:srgbClr val="0F34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EAEAEA"/>
                </a:solidFill>
              </a:rPr>
              <a:t>Cache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77496" y="4316038"/>
            <a:ext cx="2011680" cy="1157300"/>
          </a:xfrm>
          <a:prstGeom prst="roundRect">
            <a:avLst/>
          </a:prstGeom>
          <a:solidFill>
            <a:srgbClr val="0F34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EAEAEA"/>
                </a:solidFill>
              </a:rPr>
              <a:t>Cache 3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318329" y="2105088"/>
            <a:ext cx="1474815" cy="350000"/>
          </a:xfrm>
          <a:prstGeom prst="rightArrow">
            <a:avLst/>
          </a:prstGeom>
          <a:solidFill>
            <a:srgbClr val="7B9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ight Arrow 9"/>
          <p:cNvSpPr/>
          <p:nvPr/>
        </p:nvSpPr>
        <p:spPr>
          <a:xfrm>
            <a:off x="7318329" y="3412388"/>
            <a:ext cx="1474815" cy="350000"/>
          </a:xfrm>
          <a:prstGeom prst="rightArrow">
            <a:avLst/>
          </a:prstGeom>
          <a:solidFill>
            <a:srgbClr val="7B9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ight Arrow 10"/>
          <p:cNvSpPr/>
          <p:nvPr/>
        </p:nvSpPr>
        <p:spPr>
          <a:xfrm>
            <a:off x="7318329" y="4719688"/>
            <a:ext cx="1474815" cy="350000"/>
          </a:xfrm>
          <a:prstGeom prst="rightArrow">
            <a:avLst/>
          </a:prstGeom>
          <a:solidFill>
            <a:srgbClr val="7B9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68128EF-D453-C891-7022-583CCDD3D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0019"/>
            <a:ext cx="11062800" cy="443198"/>
          </a:xfrm>
        </p:spPr>
        <p:txBody>
          <a:bodyPr/>
          <a:lstStyle/>
          <a:p>
            <a:r>
              <a:rPr lang="en-US" dirty="0"/>
              <a:t>To proxy, or not to proxy</a:t>
            </a:r>
          </a:p>
        </p:txBody>
      </p:sp>
    </p:spTree>
    <p:extLst>
      <p:ext uri="{BB962C8B-B14F-4D97-AF65-F5344CB8AC3E}">
        <p14:creationId xmlns:p14="http://schemas.microsoft.com/office/powerpoint/2010/main" val="2631261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88DD4-C380-204C-04B1-9CC302807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EE34ABC-6139-9349-D927-60361C7E8D4A}"/>
              </a:ext>
            </a:extLst>
          </p:cNvPr>
          <p:cNvSpPr/>
          <p:nvPr/>
        </p:nvSpPr>
        <p:spPr>
          <a:xfrm>
            <a:off x="1267098" y="1701438"/>
            <a:ext cx="2011680" cy="3771900"/>
          </a:xfrm>
          <a:prstGeom prst="roundRect">
            <a:avLst/>
          </a:prstGeom>
          <a:solidFill>
            <a:srgbClr val="0F34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 dirty="0">
                <a:solidFill>
                  <a:srgbClr val="EAEAEA"/>
                </a:solidFill>
              </a:rPr>
              <a:t>Application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7FFC66D-EEF3-3477-107A-CB28F15C3664}"/>
              </a:ext>
            </a:extLst>
          </p:cNvPr>
          <p:cNvSpPr/>
          <p:nvPr/>
        </p:nvSpPr>
        <p:spPr>
          <a:xfrm>
            <a:off x="5122297" y="1701438"/>
            <a:ext cx="2011680" cy="3771900"/>
          </a:xfrm>
          <a:prstGeom prst="roundRect">
            <a:avLst/>
          </a:prstGeom>
          <a:solidFill>
            <a:srgbClr val="0F34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EAEAEA"/>
                </a:solidFill>
              </a:rPr>
              <a:t>Proxy</a:t>
            </a:r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315229E6-0F2A-3D64-753D-AF2D146BE1B8}"/>
              </a:ext>
            </a:extLst>
          </p:cNvPr>
          <p:cNvSpPr/>
          <p:nvPr/>
        </p:nvSpPr>
        <p:spPr>
          <a:xfrm>
            <a:off x="3463130" y="3358788"/>
            <a:ext cx="1474815" cy="45720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16B8841-AD89-5D59-653A-F2FCFC4159A1}"/>
              </a:ext>
            </a:extLst>
          </p:cNvPr>
          <p:cNvSpPr/>
          <p:nvPr/>
        </p:nvSpPr>
        <p:spPr>
          <a:xfrm>
            <a:off x="8977496" y="1701438"/>
            <a:ext cx="2011680" cy="1157300"/>
          </a:xfrm>
          <a:prstGeom prst="roundRect">
            <a:avLst/>
          </a:prstGeom>
          <a:solidFill>
            <a:srgbClr val="0F34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EAEAEA"/>
                </a:solidFill>
              </a:rPr>
              <a:t>Cache 1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1603A63-F494-3104-8300-0DDCE67DDB34}"/>
              </a:ext>
            </a:extLst>
          </p:cNvPr>
          <p:cNvSpPr/>
          <p:nvPr/>
        </p:nvSpPr>
        <p:spPr>
          <a:xfrm>
            <a:off x="8977496" y="3008738"/>
            <a:ext cx="2011680" cy="1157300"/>
          </a:xfrm>
          <a:prstGeom prst="roundRect">
            <a:avLst/>
          </a:prstGeom>
          <a:solidFill>
            <a:srgbClr val="E945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EAEAEA"/>
                </a:solidFill>
              </a:rPr>
              <a:t>Cache 2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0C731AC-BDE2-523C-73E4-F20B8411E573}"/>
              </a:ext>
            </a:extLst>
          </p:cNvPr>
          <p:cNvSpPr/>
          <p:nvPr/>
        </p:nvSpPr>
        <p:spPr>
          <a:xfrm>
            <a:off x="8977496" y="4316038"/>
            <a:ext cx="2011680" cy="1157300"/>
          </a:xfrm>
          <a:prstGeom prst="roundRect">
            <a:avLst/>
          </a:prstGeom>
          <a:solidFill>
            <a:srgbClr val="0F34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EAEAEA"/>
                </a:solidFill>
              </a:rPr>
              <a:t>Cache 3</a:t>
            </a: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EB717033-4FB4-3188-EDED-35C75FD8B126}"/>
              </a:ext>
            </a:extLst>
          </p:cNvPr>
          <p:cNvSpPr/>
          <p:nvPr/>
        </p:nvSpPr>
        <p:spPr>
          <a:xfrm>
            <a:off x="7318329" y="2105088"/>
            <a:ext cx="1474815" cy="350000"/>
          </a:xfrm>
          <a:prstGeom prst="rightArrow">
            <a:avLst/>
          </a:prstGeom>
          <a:solidFill>
            <a:srgbClr val="7B9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9659F61F-783F-405F-726E-1DD007BAD2F6}"/>
              </a:ext>
            </a:extLst>
          </p:cNvPr>
          <p:cNvSpPr/>
          <p:nvPr/>
        </p:nvSpPr>
        <p:spPr>
          <a:xfrm>
            <a:off x="7318329" y="3412388"/>
            <a:ext cx="1474815" cy="350000"/>
          </a:xfrm>
          <a:prstGeom prst="rightArrow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345502BE-9E01-255B-EAB0-CA37F6F3C5DE}"/>
              </a:ext>
            </a:extLst>
          </p:cNvPr>
          <p:cNvSpPr/>
          <p:nvPr/>
        </p:nvSpPr>
        <p:spPr>
          <a:xfrm>
            <a:off x="7318329" y="4719688"/>
            <a:ext cx="1474815" cy="350000"/>
          </a:xfrm>
          <a:prstGeom prst="rightArrow">
            <a:avLst/>
          </a:prstGeom>
          <a:solidFill>
            <a:srgbClr val="7B9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9F2735B-5774-594A-20C6-0295066AC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0019"/>
            <a:ext cx="11062800" cy="443198"/>
          </a:xfrm>
        </p:spPr>
        <p:txBody>
          <a:bodyPr/>
          <a:lstStyle/>
          <a:p>
            <a:r>
              <a:rPr lang="en-US" dirty="0"/>
              <a:t>To proxy, or not to proxy</a:t>
            </a:r>
          </a:p>
        </p:txBody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605D9F13-9CC9-CC01-5AFE-0E1AB621FB5B}"/>
              </a:ext>
            </a:extLst>
          </p:cNvPr>
          <p:cNvSpPr/>
          <p:nvPr/>
        </p:nvSpPr>
        <p:spPr>
          <a:xfrm>
            <a:off x="3549649" y="2734418"/>
            <a:ext cx="561887" cy="548640"/>
          </a:xfrm>
          <a:prstGeom prst="roundRect">
            <a:avLst>
              <a:gd name="adj" fmla="val 6667"/>
            </a:avLst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69FFA40F-FB3B-3533-5238-A91BA244ACD1}"/>
              </a:ext>
            </a:extLst>
          </p:cNvPr>
          <p:cNvSpPr/>
          <p:nvPr/>
        </p:nvSpPr>
        <p:spPr>
          <a:xfrm>
            <a:off x="3549649" y="2734418"/>
            <a:ext cx="56188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67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</a:t>
            </a:r>
            <a:endParaRPr lang="en-US" sz="1067" dirty="0"/>
          </a:p>
        </p:txBody>
      </p:sp>
      <p:sp>
        <p:nvSpPr>
          <p:cNvPr id="17" name="Shape 5">
            <a:extLst>
              <a:ext uri="{FF2B5EF4-FFF2-40B4-BE49-F238E27FC236}">
                <a16:creationId xmlns:a16="http://schemas.microsoft.com/office/drawing/2014/main" id="{9B722629-A178-7A3F-4BC3-C87856AD97FB}"/>
              </a:ext>
            </a:extLst>
          </p:cNvPr>
          <p:cNvSpPr/>
          <p:nvPr/>
        </p:nvSpPr>
        <p:spPr>
          <a:xfrm>
            <a:off x="4289539" y="2734418"/>
            <a:ext cx="561887" cy="548640"/>
          </a:xfrm>
          <a:prstGeom prst="roundRect">
            <a:avLst>
              <a:gd name="adj" fmla="val 6667"/>
            </a:avLst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2AC7700D-6787-9F46-ABDC-F9BC9E14E4E5}"/>
              </a:ext>
            </a:extLst>
          </p:cNvPr>
          <p:cNvSpPr/>
          <p:nvPr/>
        </p:nvSpPr>
        <p:spPr>
          <a:xfrm>
            <a:off x="4289539" y="2734418"/>
            <a:ext cx="56188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67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</a:t>
            </a:r>
            <a:endParaRPr lang="en-US" sz="1067" dirty="0"/>
          </a:p>
        </p:txBody>
      </p:sp>
    </p:spTree>
    <p:extLst>
      <p:ext uri="{BB962C8B-B14F-4D97-AF65-F5344CB8AC3E}">
        <p14:creationId xmlns:p14="http://schemas.microsoft.com/office/powerpoint/2010/main" val="2729479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124301"/>
            <a:ext cx="9194800" cy="609398"/>
          </a:xfrm>
        </p:spPr>
        <p:txBody>
          <a:bodyPr/>
          <a:lstStyle/>
          <a:p>
            <a:r>
              <a:rPr lang="en-US" dirty="0"/>
              <a:t>Takeaways</a:t>
            </a: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23944-9683-BB04-ABB4-3351CDE52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1D29D-55FB-6593-EC97-B0BAD5402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Think about failure modes</a:t>
            </a:r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3221AC-43C4-F1D4-3FA6-DDF5AE8902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35052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Play"/>
              <a:buChar char="►"/>
            </a:pP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are your operating modes?</a:t>
            </a:r>
          </a:p>
          <a:p>
            <a:pPr marL="457200" marR="0" lvl="0" indent="-35052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Play"/>
              <a:buChar char="►"/>
            </a:pPr>
            <a:endParaRPr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0" indent="-35052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Play"/>
              <a:buChar char="►"/>
            </a:pP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triggers transitions from stable to unstable?</a:t>
            </a:r>
          </a:p>
          <a:p>
            <a:pPr marL="457200" marR="0" lvl="0" indent="-35052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Play"/>
              <a:buChar char="►"/>
            </a:pP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-350520">
              <a:spcBef>
                <a:spcPts val="1000"/>
              </a:spcBef>
              <a:buClr>
                <a:schemeClr val="accent1"/>
              </a:buClr>
              <a:buSzPts val="1920"/>
              <a:buFont typeface="Play"/>
              <a:buChar char="►"/>
            </a:pP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 the system recover on its own?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0" indent="-35052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Play"/>
              <a:buChar char="►"/>
            </a:pP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0" indent="-35052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Play"/>
              <a:buChar char="►"/>
            </a:pP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breaks the feedback loop?</a:t>
            </a:r>
          </a:p>
        </p:txBody>
      </p:sp>
    </p:spTree>
    <p:extLst>
      <p:ext uri="{BB962C8B-B14F-4D97-AF65-F5344CB8AC3E}">
        <p14:creationId xmlns:p14="http://schemas.microsoft.com/office/powerpoint/2010/main" val="19142823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6D139-69AD-C686-1B8D-6032597E0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6BFF2-CB64-184F-C699-75A0F9133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best practices</a:t>
            </a:r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09286E-3A2F-9F7B-93AB-DE06B45FC5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35052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Play"/>
              <a:buChar char="►"/>
            </a:pP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 network partitions, cache failures, and other system transitions</a:t>
            </a:r>
          </a:p>
          <a:p>
            <a:pPr marL="457200" marR="0" lvl="0" indent="-35052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Play"/>
              <a:buChar char="►"/>
            </a:pPr>
            <a:endParaRPr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0" indent="-35052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Play"/>
              <a:buChar char="►"/>
            </a:pP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Make sure timeouts are handled and trigger the right behavior</a:t>
            </a:r>
          </a:p>
          <a:p>
            <a:pPr marL="457200" marR="0" lvl="0" indent="-35052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Play"/>
              <a:buChar char="►"/>
            </a:pP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-350520">
              <a:spcBef>
                <a:spcPts val="1000"/>
              </a:spcBef>
              <a:buClr>
                <a:schemeClr val="accent1"/>
              </a:buClr>
              <a:buSzPts val="1920"/>
              <a:buFont typeface="Play"/>
              <a:buChar char="►"/>
            </a:pP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Scale proactively when possible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0" indent="-35052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Play"/>
              <a:buChar char="►"/>
            </a:pP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0" indent="-35052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Play"/>
              <a:buChar char="►"/>
            </a:pP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Make sure to measure the right system bottlenecks</a:t>
            </a:r>
          </a:p>
        </p:txBody>
      </p:sp>
    </p:spTree>
    <p:extLst>
      <p:ext uri="{BB962C8B-B14F-4D97-AF65-F5344CB8AC3E}">
        <p14:creationId xmlns:p14="http://schemas.microsoft.com/office/powerpoint/2010/main" val="25936848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C16AB-3259-9ED5-C2B8-EF143B66C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B880406-D9FE-B9B3-AB30-9E3231F7DC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Madelyn Olson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3DEFD1-C8BB-266D-71AB-09EA4C4EFC1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09600" y="4372505"/>
            <a:ext cx="3167018" cy="553998"/>
          </a:xfrm>
        </p:spPr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reconditerose</a:t>
            </a:r>
            <a:br>
              <a:rPr lang="en-US" dirty="0"/>
            </a:b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madolson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42DD02-4C26-5438-ACAF-E79C87A290C9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D47E93-626E-0CE9-9CF1-7795B86FB000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818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WS AI Holdings">
  <a:themeElements>
    <a:clrScheme name="Valkey">
      <a:dk1>
        <a:srgbClr val="000000"/>
      </a:dk1>
      <a:lt1>
        <a:srgbClr val="FFFFFF"/>
      </a:lt1>
      <a:dk2>
        <a:srgbClr val="232F3E"/>
      </a:dk2>
      <a:lt2>
        <a:srgbClr val="F1F3F3"/>
      </a:lt2>
      <a:accent1>
        <a:srgbClr val="6983FF"/>
      </a:accent1>
      <a:accent2>
        <a:srgbClr val="1A2026"/>
      </a:accent2>
      <a:accent3>
        <a:srgbClr val="632637"/>
      </a:accent3>
      <a:accent4>
        <a:srgbClr val="30176E"/>
      </a:accent4>
      <a:accent5>
        <a:srgbClr val="BCB5E7"/>
      </a:accent5>
      <a:accent6>
        <a:srgbClr val="FBD8BF"/>
      </a:accent6>
      <a:hlink>
        <a:srgbClr val="6983FF"/>
      </a:hlink>
      <a:folHlink>
        <a:srgbClr val="6983FF"/>
      </a:folHlink>
    </a:clrScheme>
    <a:fontScheme name="Office">
      <a:majorFont>
        <a:latin typeface="Play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>
        <a:spAutoFit/>
      </a:bodyPr>
      <a:lstStyle>
        <a:defPPr algn="l">
          <a:defRPr sz="1000" i="1" dirty="0" smtClean="0">
            <a:solidFill>
              <a:schemeClr val="dk1"/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AWS AI Holdings">
  <a:themeElements>
    <a:clrScheme name="Valkey">
      <a:dk1>
        <a:srgbClr val="000000"/>
      </a:dk1>
      <a:lt1>
        <a:srgbClr val="FFFFFF"/>
      </a:lt1>
      <a:dk2>
        <a:srgbClr val="232F3E"/>
      </a:dk2>
      <a:lt2>
        <a:srgbClr val="F1F3F3"/>
      </a:lt2>
      <a:accent1>
        <a:srgbClr val="6983FF"/>
      </a:accent1>
      <a:accent2>
        <a:srgbClr val="1A2026"/>
      </a:accent2>
      <a:accent3>
        <a:srgbClr val="632637"/>
      </a:accent3>
      <a:accent4>
        <a:srgbClr val="30176E"/>
      </a:accent4>
      <a:accent5>
        <a:srgbClr val="BCB5E7"/>
      </a:accent5>
      <a:accent6>
        <a:srgbClr val="FBD8BF"/>
      </a:accent6>
      <a:hlink>
        <a:srgbClr val="6983FF"/>
      </a:hlink>
      <a:folHlink>
        <a:srgbClr val="6983FF"/>
      </a:folHlink>
    </a:clrScheme>
    <a:fontScheme name="Office">
      <a:majorFont>
        <a:latin typeface="Play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>
        <a:spAutoFit/>
      </a:bodyPr>
      <a:lstStyle>
        <a:defPPr algn="l">
          <a:defRPr sz="1000" i="1" dirty="0" smtClean="0">
            <a:solidFill>
              <a:schemeClr val="dk1"/>
            </a:solidFill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rgbClr val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Office">
      <a:majorFont>
        <a:latin typeface="Play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034CC08-B840-594D-987B-8270AC79754B}">
  <we:reference id="3d2b7d21-fda6-4380-b3d4-39ac6c78a05c" version="1.0.1.6" store="EXCatalog" storeType="EXCatalog"/>
  <we:alternateReferences/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16940</TotalTime>
  <Words>353</Words>
  <Application>Microsoft Macintosh PowerPoint</Application>
  <PresentationFormat>Widescreen</PresentationFormat>
  <Paragraphs>183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Play</vt:lpstr>
      <vt:lpstr>Calibri</vt:lpstr>
      <vt:lpstr>Century Gothic</vt:lpstr>
      <vt:lpstr>Arial</vt:lpstr>
      <vt:lpstr>AWS AI Holdings</vt:lpstr>
      <vt:lpstr>AWS AI Holdings</vt:lpstr>
      <vt:lpstr>Tails from the trenches: How Caches fail at scale</vt:lpstr>
      <vt:lpstr>Conventional in-memory scaling models</vt:lpstr>
      <vt:lpstr>Conventional in-memory scaling models</vt:lpstr>
      <vt:lpstr>PowerPoint Presentation</vt:lpstr>
      <vt:lpstr>A story about a customer</vt:lpstr>
      <vt:lpstr>A story about a customer</vt:lpstr>
      <vt:lpstr>Metastability</vt:lpstr>
      <vt:lpstr>Stable system</vt:lpstr>
      <vt:lpstr>Unstable system</vt:lpstr>
      <vt:lpstr>Throughput is a cliff</vt:lpstr>
      <vt:lpstr>Bimodal systems</vt:lpstr>
      <vt:lpstr>PowerPoint Presentation</vt:lpstr>
      <vt:lpstr>How did this system fail</vt:lpstr>
      <vt:lpstr>First in, never out</vt:lpstr>
      <vt:lpstr>First in, never out</vt:lpstr>
      <vt:lpstr>First in, never out</vt:lpstr>
      <vt:lpstr>To proxy, or not to proxy</vt:lpstr>
      <vt:lpstr>To proxy, or not to proxy</vt:lpstr>
      <vt:lpstr>Takeaways</vt:lpstr>
      <vt:lpstr>Think about failure modes</vt:lpstr>
      <vt:lpstr>Some best practices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Olson, Madelyn</dc:creator>
  <cp:lastModifiedBy>Olson, Madelyn</cp:lastModifiedBy>
  <cp:revision>59</cp:revision>
  <dcterms:created xsi:type="dcterms:W3CDTF">2025-04-15T18:05:46Z</dcterms:created>
  <dcterms:modified xsi:type="dcterms:W3CDTF">2026-08-20T02:40:33Z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2025-10-13T18:50:11Z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b81c3afb-3afe-4c07-b9bf-69177ff0e214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