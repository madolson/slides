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4" r:id="rId1"/>
  </p:sldMasterIdLst>
  <p:notesMasterIdLst>
    <p:notesMasterId r:id="rId13"/>
  </p:notesMasterIdLst>
  <p:sldIdLst>
    <p:sldId id="256" r:id="rId2"/>
    <p:sldId id="257" r:id="rId3"/>
    <p:sldId id="259" r:id="rId4"/>
    <p:sldId id="258" r:id="rId5"/>
    <p:sldId id="260" r:id="rId6"/>
    <p:sldId id="261" r:id="rId7"/>
    <p:sldId id="262" r:id="rId8"/>
    <p:sldId id="263" r:id="rId9"/>
    <p:sldId id="265" r:id="rId10"/>
    <p:sldId id="266" r:id="rId11"/>
    <p:sldId id="267" r:id="rId12"/>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6ABD45"/>
    <a:srgbClr val="012D25"/>
    <a:srgbClr val="400049"/>
    <a:srgbClr val="00144C"/>
    <a:srgbClr val="E94D96"/>
    <a:srgbClr val="8B173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9546"/>
    <p:restoredTop sz="76101"/>
  </p:normalViewPr>
  <p:slideViewPr>
    <p:cSldViewPr snapToGrid="0">
      <p:cViewPr>
        <p:scale>
          <a:sx n="74" d="100"/>
          <a:sy n="74" d="100"/>
        </p:scale>
        <p:origin x="1152" y="115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lang="en-US" dirty="0"/>
              <a:t>I’m a database engineer. I’m not very good at building front end software. One of the things we wanted for the Valkey conference we had on Monday was some trivia. To make, content. So I built this silly trivia game, to let the attendees interactively guess obscure Valkey trivia and spam the screen with Emojis. Classic.</a:t>
            </a:r>
          </a:p>
          <a:p>
            <a:r>
              <a:rPr lang="en-US" dirty="0"/>
              <a:t>AI made this possible. </a:t>
            </a:r>
          </a:p>
          <a:p>
            <a:r>
              <a:rPr lang="en-US" dirty="0"/>
              <a:t>AI is great.</a:t>
            </a:r>
          </a:p>
          <a:p>
            <a:r>
              <a:rPr lang="en-US" dirty="0"/>
              <a:t>You know why AI is great.</a:t>
            </a:r>
          </a:p>
          <a:p>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lang="en-US" dirty="0"/>
              <a:t>AI will happily try to build whatever silly little app you’re trying to build. </a:t>
            </a:r>
          </a:p>
          <a:p>
            <a:r>
              <a:rPr lang="en-US" dirty="0"/>
              <a:t>It will happily go and make all sorts of infrastructure changes. All of those boring infrastructure changes. </a:t>
            </a: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dirty="0"/>
              <a:t>482 of 2,900 answers were custom or DIY instead of an existing store.</a:t>
            </a:r>
          </a:p>
          <a:p>
            <a:r>
              <a:rPr dirty="0"/>
              <a:t>Source: </a:t>
            </a:r>
            <a:r>
              <a:rPr dirty="0" err="1"/>
              <a:t>Amplifying.ai</a:t>
            </a:r>
            <a:r>
              <a:rPr dirty="0"/>
              <a:t> Valkey benchmark, 1 September 2026. 5 models, 4 repos, 100 prompts, 2,900 answers. No prompt mentions Valkey. https://</a:t>
            </a:r>
            <a:r>
              <a:rPr dirty="0" err="1"/>
              <a:t>chorus.aws.dev</a:t>
            </a:r>
            <a:r>
              <a:rPr dirty="0"/>
              <a:t>/doc/1q6EixyPkWpq/</a:t>
            </a:r>
            <a:r>
              <a:rPr dirty="0" err="1"/>
              <a:t>Amplifyingai</a:t>
            </a:r>
            <a:r>
              <a:rPr dirty="0"/>
              <a:t>---Valkey-Benchmark-Results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dirty="0"/>
              <a:t>Ask the same question twice and you can get a different answer. In 118 of 297 model, repo and prompt combinations where Valkey was picked at least once, it was picked in only one of the two runs.</a:t>
            </a:r>
          </a:p>
          <a:p>
            <a:r>
              <a:rPr dirty="0"/>
              <a:t>Agents weigh the license only when the prompt raises it: Valkey is the pick in 16% of all answers and 66% of licensing prompts.</a:t>
            </a:r>
          </a:p>
          <a:p>
            <a:r>
              <a:rPr dirty="0"/>
              <a:t>Source: </a:t>
            </a:r>
            <a:r>
              <a:rPr dirty="0" err="1"/>
              <a:t>Amplifying.ai</a:t>
            </a:r>
            <a:r>
              <a:rPr dirty="0"/>
              <a:t> Valkey benchmark, 1 September 2026. 5 models, 4 repos, 100 prompts, 2,900 answers. No prompt mentions Valkey. https://</a:t>
            </a:r>
            <a:r>
              <a:rPr dirty="0" err="1"/>
              <a:t>chorus.aws.dev</a:t>
            </a:r>
            <a:r>
              <a:rPr dirty="0"/>
              <a:t>/doc/1q6EixyPkWpq/</a:t>
            </a:r>
            <a:r>
              <a:rPr dirty="0" err="1"/>
              <a:t>Amplifyingai</a:t>
            </a:r>
            <a:r>
              <a:rPr dirty="0"/>
              <a:t>---Valkey-Benchmark-Results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dirty="0"/>
              <a:t>Personalized software has no maintainer, and the AI that built it doesn't know how to be one. That leaves you.</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dirty="0"/>
              <a:t>It's not no to contributing. It's no to bad ideas.</a:t>
            </a:r>
          </a:p>
          <a:p>
            <a:r>
              <a:rPr dirty="0"/>
              <a:t>Vector sets, </a:t>
            </a:r>
            <a:r>
              <a:rPr dirty="0" err="1"/>
              <a:t>valkey</a:t>
            </a:r>
            <a:r>
              <a:rPr dirty="0"/>
              <a:t>-io/valkey#2569. Redis shipped them in April 2025 and Valkey still hasn't. Madelyn, 2 September 2025: "One thing I see missing from this thread, to my surprise, is what problems we are concretely trying to solve."</a:t>
            </a:r>
          </a:p>
          <a:p>
            <a:r>
              <a:rPr dirty="0"/>
              <a:t>Ping Xie, </a:t>
            </a:r>
            <a:r>
              <a:rPr dirty="0" err="1"/>
              <a:t>valkey</a:t>
            </a:r>
            <a:r>
              <a:rPr dirty="0"/>
              <a:t>-io/valkey#274, 2024: "Often, removing a feature is far more challenging than adding one."</a:t>
            </a:r>
          </a:p>
          <a:p>
            <a:r>
              <a:rPr dirty="0"/>
              <a:t>557 Valkey pull requests closed without merging, 2,294 merged (GitHub search, 7 October 2026). Not every close is a deliberate no.</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Ask what problem it solves before letting the AI build it. Agents follow the constraint when you give it: when policy requires permissive licensing and neutral governance, 18 of 20 answers pick Valkey.</a:t>
            </a:r>
          </a:p>
          <a:p>
            <a:r>
              <a:rPr dirty="0"/>
              <a:t>Source: </a:t>
            </a:r>
            <a:r>
              <a:rPr dirty="0" err="1"/>
              <a:t>Amplifying.ai</a:t>
            </a:r>
            <a:r>
              <a:rPr dirty="0"/>
              <a:t> Valkey benchmark, 1 September 2026. 5 models, 4 repos, 100 prompts, 2,900 answers. No prompt mentions Valkey. https://</a:t>
            </a:r>
            <a:r>
              <a:rPr dirty="0" err="1"/>
              <a:t>chorus.aws.dev</a:t>
            </a:r>
            <a:r>
              <a:rPr dirty="0"/>
              <a:t>/doc/1q6EixyPkWpq/</a:t>
            </a:r>
            <a:r>
              <a:rPr dirty="0" err="1"/>
              <a:t>Amplifyingai</a:t>
            </a:r>
            <a:r>
              <a:rPr dirty="0"/>
              <a:t>---Valkey-Benchmark-Results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rPr dirty="0"/>
              <a:t>Proven, vendor neutral open source. One owner can change the terms: Redis left BSD on 20 March 2024, and the Valkey repo was created 22 March 2024. Contribute back, and the maintainers carry your changes with you.</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dirty="0" err="1"/>
              <a:t>valkey.io</a:t>
            </a:r>
            <a:r>
              <a:rPr dirty="0"/>
              <a:t>: https://</a:t>
            </a:r>
            <a:r>
              <a:rPr dirty="0" err="1"/>
              <a:t>valkey.io</a:t>
            </a:r>
            <a:r>
              <a:rPr dirty="0"/>
              <a:t>. Trivia: https://d3pojgfcwxoi3q.cloudfront.net/trivia. Made with </a:t>
            </a:r>
            <a:r>
              <a:rPr dirty="0" err="1"/>
              <a:t>madelynolson.com</a:t>
            </a:r>
            <a:r>
              <a:rPr dirty="0"/>
              <a:t>/</a:t>
            </a:r>
            <a:r>
              <a:rPr dirty="0" err="1"/>
              <a:t>qr</a:t>
            </a:r>
            <a:r>
              <a:rPr dirty="0"/>
              <a:t>-generator, decoded with </a:t>
            </a:r>
            <a:r>
              <a:rPr dirty="0" err="1"/>
              <a:t>CoreImage</a:t>
            </a:r>
            <a:r>
              <a:rPr dirty="0"/>
              <a:t> to confirm.</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gradFill>
          <a:gsLst>
            <a:gs pos="0">
              <a:schemeClr val="accent2"/>
            </a:gs>
            <a:gs pos="100000">
              <a:schemeClr val="tx2"/>
            </a:gs>
          </a:gsLst>
          <a:lin ang="5400000" scaled="1"/>
        </a:gra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98303" y="1196337"/>
            <a:ext cx="8010201" cy="2295612"/>
          </a:xfrm>
          <a:prstGeom prst="rect">
            <a:avLst/>
          </a:prstGeom>
          <a:noFill/>
        </p:spPr>
        <p:txBody>
          <a:bodyPr spcFirstLastPara="1" wrap="square" lIns="91425" tIns="91425" rIns="91425" bIns="91425" anchor="ctr" anchorCtr="0">
            <a:normAutofit/>
          </a:bodyPr>
          <a:lstStyle>
            <a:lvl1pPr lvl="0" algn="l">
              <a:spcBef>
                <a:spcPts val="0"/>
              </a:spcBef>
              <a:spcAft>
                <a:spcPts val="0"/>
              </a:spcAft>
              <a:buClr>
                <a:schemeClr val="lt1"/>
              </a:buClr>
              <a:buSzPts val="4800"/>
              <a:buNone/>
              <a:defRPr sz="4800">
                <a:solidFill>
                  <a:schemeClr val="tx1"/>
                </a:solidFill>
              </a:defRPr>
            </a:lvl1pPr>
            <a:lvl2pPr lvl="1" algn="ctr">
              <a:spcBef>
                <a:spcPts val="0"/>
              </a:spcBef>
              <a:spcAft>
                <a:spcPts val="0"/>
              </a:spcAft>
              <a:buClr>
                <a:schemeClr val="lt1"/>
              </a:buClr>
              <a:buSzPts val="4800"/>
              <a:buNone/>
              <a:defRPr sz="4800">
                <a:solidFill>
                  <a:schemeClr val="lt1"/>
                </a:solidFill>
              </a:defRPr>
            </a:lvl2pPr>
            <a:lvl3pPr lvl="2" algn="ctr">
              <a:spcBef>
                <a:spcPts val="0"/>
              </a:spcBef>
              <a:spcAft>
                <a:spcPts val="0"/>
              </a:spcAft>
              <a:buClr>
                <a:schemeClr val="lt1"/>
              </a:buClr>
              <a:buSzPts val="4800"/>
              <a:buNone/>
              <a:defRPr sz="4800">
                <a:solidFill>
                  <a:schemeClr val="lt1"/>
                </a:solidFill>
              </a:defRPr>
            </a:lvl3pPr>
            <a:lvl4pPr lvl="3" algn="ctr">
              <a:spcBef>
                <a:spcPts val="0"/>
              </a:spcBef>
              <a:spcAft>
                <a:spcPts val="0"/>
              </a:spcAft>
              <a:buClr>
                <a:schemeClr val="lt1"/>
              </a:buClr>
              <a:buSzPts val="4800"/>
              <a:buNone/>
              <a:defRPr sz="4800">
                <a:solidFill>
                  <a:schemeClr val="lt1"/>
                </a:solidFill>
              </a:defRPr>
            </a:lvl4pPr>
            <a:lvl5pPr lvl="4" algn="ctr">
              <a:spcBef>
                <a:spcPts val="0"/>
              </a:spcBef>
              <a:spcAft>
                <a:spcPts val="0"/>
              </a:spcAft>
              <a:buClr>
                <a:schemeClr val="lt1"/>
              </a:buClr>
              <a:buSzPts val="4800"/>
              <a:buNone/>
              <a:defRPr sz="4800">
                <a:solidFill>
                  <a:schemeClr val="lt1"/>
                </a:solidFill>
              </a:defRPr>
            </a:lvl5pPr>
            <a:lvl6pPr lvl="5" algn="ctr">
              <a:spcBef>
                <a:spcPts val="0"/>
              </a:spcBef>
              <a:spcAft>
                <a:spcPts val="0"/>
              </a:spcAft>
              <a:buClr>
                <a:schemeClr val="lt1"/>
              </a:buClr>
              <a:buSzPts val="4800"/>
              <a:buNone/>
              <a:defRPr sz="4800">
                <a:solidFill>
                  <a:schemeClr val="lt1"/>
                </a:solidFill>
              </a:defRPr>
            </a:lvl6pPr>
            <a:lvl7pPr lvl="6" algn="ctr">
              <a:spcBef>
                <a:spcPts val="0"/>
              </a:spcBef>
              <a:spcAft>
                <a:spcPts val="0"/>
              </a:spcAft>
              <a:buClr>
                <a:schemeClr val="lt1"/>
              </a:buClr>
              <a:buSzPts val="4800"/>
              <a:buNone/>
              <a:defRPr sz="4800">
                <a:solidFill>
                  <a:schemeClr val="lt1"/>
                </a:solidFill>
              </a:defRPr>
            </a:lvl7pPr>
            <a:lvl8pPr lvl="7" algn="ctr">
              <a:spcBef>
                <a:spcPts val="0"/>
              </a:spcBef>
              <a:spcAft>
                <a:spcPts val="0"/>
              </a:spcAft>
              <a:buClr>
                <a:schemeClr val="lt1"/>
              </a:buClr>
              <a:buSzPts val="4800"/>
              <a:buNone/>
              <a:defRPr sz="4800">
                <a:solidFill>
                  <a:schemeClr val="lt1"/>
                </a:solidFill>
              </a:defRPr>
            </a:lvl8pPr>
            <a:lvl9pPr lvl="8" algn="ctr">
              <a:spcBef>
                <a:spcPts val="0"/>
              </a:spcBef>
              <a:spcAft>
                <a:spcPts val="0"/>
              </a:spcAft>
              <a:buClr>
                <a:schemeClr val="lt1"/>
              </a:buClr>
              <a:buSzPts val="4800"/>
              <a:buNone/>
              <a:defRPr sz="4800">
                <a:solidFill>
                  <a:schemeClr val="lt1"/>
                </a:solidFill>
              </a:defRPr>
            </a:lvl9pPr>
          </a:lstStyle>
          <a:p>
            <a:endParaRPr dirty="0"/>
          </a:p>
        </p:txBody>
      </p:sp>
      <p:sp>
        <p:nvSpPr>
          <p:cNvPr id="11" name="Google Shape;11;p2"/>
          <p:cNvSpPr txBox="1">
            <a:spLocks noGrp="1"/>
          </p:cNvSpPr>
          <p:nvPr>
            <p:ph type="subTitle" idx="1"/>
          </p:nvPr>
        </p:nvSpPr>
        <p:spPr>
          <a:xfrm>
            <a:off x="398304" y="3491949"/>
            <a:ext cx="7287958" cy="670179"/>
          </a:xfrm>
          <a:prstGeom prst="rect">
            <a:avLst/>
          </a:prstGeom>
          <a:noFill/>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2800"/>
              <a:buNone/>
              <a:defRPr sz="2800">
                <a:solidFill>
                  <a:schemeClr val="tx1"/>
                </a:solidFill>
              </a:defRPr>
            </a:lvl1pPr>
            <a:lvl2pPr lvl="1" algn="ctr">
              <a:lnSpc>
                <a:spcPct val="100000"/>
              </a:lnSpc>
              <a:spcBef>
                <a:spcPts val="0"/>
              </a:spcBef>
              <a:spcAft>
                <a:spcPts val="0"/>
              </a:spcAft>
              <a:buClr>
                <a:schemeClr val="lt1"/>
              </a:buClr>
              <a:buSzPts val="2800"/>
              <a:buNone/>
              <a:defRPr sz="2800">
                <a:solidFill>
                  <a:schemeClr val="lt1"/>
                </a:solidFill>
              </a:defRPr>
            </a:lvl2pPr>
            <a:lvl3pPr lvl="2" algn="ctr">
              <a:lnSpc>
                <a:spcPct val="100000"/>
              </a:lnSpc>
              <a:spcBef>
                <a:spcPts val="0"/>
              </a:spcBef>
              <a:spcAft>
                <a:spcPts val="0"/>
              </a:spcAft>
              <a:buClr>
                <a:schemeClr val="lt1"/>
              </a:buClr>
              <a:buSzPts val="2800"/>
              <a:buNone/>
              <a:defRPr sz="2800">
                <a:solidFill>
                  <a:schemeClr val="lt1"/>
                </a:solidFill>
              </a:defRPr>
            </a:lvl3pPr>
            <a:lvl4pPr lvl="3" algn="ctr">
              <a:lnSpc>
                <a:spcPct val="100000"/>
              </a:lnSpc>
              <a:spcBef>
                <a:spcPts val="0"/>
              </a:spcBef>
              <a:spcAft>
                <a:spcPts val="0"/>
              </a:spcAft>
              <a:buClr>
                <a:schemeClr val="lt1"/>
              </a:buClr>
              <a:buSzPts val="2800"/>
              <a:buNone/>
              <a:defRPr sz="2800">
                <a:solidFill>
                  <a:schemeClr val="lt1"/>
                </a:solidFill>
              </a:defRPr>
            </a:lvl4pPr>
            <a:lvl5pPr lvl="4" algn="ctr">
              <a:lnSpc>
                <a:spcPct val="100000"/>
              </a:lnSpc>
              <a:spcBef>
                <a:spcPts val="0"/>
              </a:spcBef>
              <a:spcAft>
                <a:spcPts val="0"/>
              </a:spcAft>
              <a:buClr>
                <a:schemeClr val="lt1"/>
              </a:buClr>
              <a:buSzPts val="2800"/>
              <a:buNone/>
              <a:defRPr sz="2800">
                <a:solidFill>
                  <a:schemeClr val="lt1"/>
                </a:solidFill>
              </a:defRPr>
            </a:lvl5pPr>
            <a:lvl6pPr lvl="5" algn="ctr">
              <a:lnSpc>
                <a:spcPct val="100000"/>
              </a:lnSpc>
              <a:spcBef>
                <a:spcPts val="0"/>
              </a:spcBef>
              <a:spcAft>
                <a:spcPts val="0"/>
              </a:spcAft>
              <a:buClr>
                <a:schemeClr val="lt1"/>
              </a:buClr>
              <a:buSzPts val="2800"/>
              <a:buNone/>
              <a:defRPr sz="2800">
                <a:solidFill>
                  <a:schemeClr val="lt1"/>
                </a:solidFill>
              </a:defRPr>
            </a:lvl6pPr>
            <a:lvl7pPr lvl="6" algn="ctr">
              <a:lnSpc>
                <a:spcPct val="100000"/>
              </a:lnSpc>
              <a:spcBef>
                <a:spcPts val="0"/>
              </a:spcBef>
              <a:spcAft>
                <a:spcPts val="0"/>
              </a:spcAft>
              <a:buClr>
                <a:schemeClr val="lt1"/>
              </a:buClr>
              <a:buSzPts val="2800"/>
              <a:buNone/>
              <a:defRPr sz="2800">
                <a:solidFill>
                  <a:schemeClr val="lt1"/>
                </a:solidFill>
              </a:defRPr>
            </a:lvl7pPr>
            <a:lvl8pPr lvl="7" algn="ctr">
              <a:lnSpc>
                <a:spcPct val="100000"/>
              </a:lnSpc>
              <a:spcBef>
                <a:spcPts val="0"/>
              </a:spcBef>
              <a:spcAft>
                <a:spcPts val="0"/>
              </a:spcAft>
              <a:buClr>
                <a:schemeClr val="lt1"/>
              </a:buClr>
              <a:buSzPts val="2800"/>
              <a:buNone/>
              <a:defRPr sz="2800">
                <a:solidFill>
                  <a:schemeClr val="lt1"/>
                </a:solidFill>
              </a:defRPr>
            </a:lvl8pPr>
            <a:lvl9pPr lvl="8" algn="ctr">
              <a:lnSpc>
                <a:spcPct val="100000"/>
              </a:lnSpc>
              <a:spcBef>
                <a:spcPts val="0"/>
              </a:spcBef>
              <a:spcAft>
                <a:spcPts val="0"/>
              </a:spcAft>
              <a:buClr>
                <a:schemeClr val="lt1"/>
              </a:buClr>
              <a:buSzPts val="2800"/>
              <a:buNone/>
              <a:defRPr sz="2800">
                <a:solidFill>
                  <a:schemeClr val="lt1"/>
                </a:solidFill>
              </a:defRPr>
            </a:lvl9pPr>
          </a:lstStyle>
          <a:p>
            <a:endParaRPr dirty="0"/>
          </a:p>
        </p:txBody>
      </p:sp>
      <p:pic>
        <p:nvPicPr>
          <p:cNvPr id="3" name="Graphic 2">
            <a:extLst>
              <a:ext uri="{FF2B5EF4-FFF2-40B4-BE49-F238E27FC236}">
                <a16:creationId xmlns:a16="http://schemas.microsoft.com/office/drawing/2014/main" id="{E370147D-D7D3-BA95-F6AF-B3BA1841884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98304" y="4558178"/>
            <a:ext cx="969444" cy="318947"/>
          </a:xfrm>
          <a:prstGeom prst="rect">
            <a:avLst/>
          </a:prstGeom>
        </p:spPr>
      </p:pic>
      <p:pic>
        <p:nvPicPr>
          <p:cNvPr id="7" name="Graphic 6">
            <a:extLst>
              <a:ext uri="{FF2B5EF4-FFF2-40B4-BE49-F238E27FC236}">
                <a16:creationId xmlns:a16="http://schemas.microsoft.com/office/drawing/2014/main" id="{AA8D8C01-240C-49F4-F9FA-037126BE322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133600" y="3590365"/>
            <a:ext cx="6858000" cy="1409700"/>
          </a:xfrm>
          <a:prstGeom prst="rect">
            <a:avLst/>
          </a:prstGeom>
        </p:spPr>
      </p:pic>
      <p:pic>
        <p:nvPicPr>
          <p:cNvPr id="8" name="Graphic 7">
            <a:extLst>
              <a:ext uri="{FF2B5EF4-FFF2-40B4-BE49-F238E27FC236}">
                <a16:creationId xmlns:a16="http://schemas.microsoft.com/office/drawing/2014/main" id="{28DDBA29-8494-A7AC-56EF-EA8DB0ED171F}"/>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84202" y="321272"/>
            <a:ext cx="4448979" cy="746809"/>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gradFill>
          <a:gsLst>
            <a:gs pos="0">
              <a:schemeClr val="accent2"/>
            </a:gs>
            <a:gs pos="100000">
              <a:schemeClr val="tx2"/>
            </a:gs>
          </a:gsLst>
          <a:lin ang="5400000" scaled="1"/>
        </a:gradFill>
        <a:effectLst/>
      </p:bgPr>
    </p:bg>
    <p:spTree>
      <p:nvGrpSpPr>
        <p:cNvPr id="1" name="Shape 15"/>
        <p:cNvGrpSpPr/>
        <p:nvPr/>
      </p:nvGrpSpPr>
      <p:grpSpPr>
        <a:xfrm>
          <a:off x="0" y="0"/>
          <a:ext cx="0" cy="0"/>
          <a:chOff x="0" y="0"/>
          <a:chExt cx="0" cy="0"/>
        </a:xfrm>
      </p:grpSpPr>
      <p:sp>
        <p:nvSpPr>
          <p:cNvPr id="18" name="Google Shape;18;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lt1"/>
              </a:buClr>
              <a:buSzPts val="3600"/>
              <a:buNone/>
              <a:defRPr sz="3600">
                <a:solidFill>
                  <a:schemeClr val="tx1"/>
                </a:solidFill>
              </a:defRPr>
            </a:lvl1pPr>
            <a:lvl2pPr lvl="1" algn="ctr">
              <a:spcBef>
                <a:spcPts val="0"/>
              </a:spcBef>
              <a:spcAft>
                <a:spcPts val="0"/>
              </a:spcAft>
              <a:buClr>
                <a:schemeClr val="lt1"/>
              </a:buClr>
              <a:buSzPts val="3600"/>
              <a:buNone/>
              <a:defRPr sz="3600">
                <a:solidFill>
                  <a:schemeClr val="lt1"/>
                </a:solidFill>
              </a:defRPr>
            </a:lvl2pPr>
            <a:lvl3pPr lvl="2" algn="ctr">
              <a:spcBef>
                <a:spcPts val="0"/>
              </a:spcBef>
              <a:spcAft>
                <a:spcPts val="0"/>
              </a:spcAft>
              <a:buClr>
                <a:schemeClr val="lt1"/>
              </a:buClr>
              <a:buSzPts val="3600"/>
              <a:buNone/>
              <a:defRPr sz="3600">
                <a:solidFill>
                  <a:schemeClr val="lt1"/>
                </a:solidFill>
              </a:defRPr>
            </a:lvl3pPr>
            <a:lvl4pPr lvl="3" algn="ctr">
              <a:spcBef>
                <a:spcPts val="0"/>
              </a:spcBef>
              <a:spcAft>
                <a:spcPts val="0"/>
              </a:spcAft>
              <a:buClr>
                <a:schemeClr val="lt1"/>
              </a:buClr>
              <a:buSzPts val="3600"/>
              <a:buNone/>
              <a:defRPr sz="3600">
                <a:solidFill>
                  <a:schemeClr val="lt1"/>
                </a:solidFill>
              </a:defRPr>
            </a:lvl4pPr>
            <a:lvl5pPr lvl="4" algn="ctr">
              <a:spcBef>
                <a:spcPts val="0"/>
              </a:spcBef>
              <a:spcAft>
                <a:spcPts val="0"/>
              </a:spcAft>
              <a:buClr>
                <a:schemeClr val="lt1"/>
              </a:buClr>
              <a:buSzPts val="3600"/>
              <a:buNone/>
              <a:defRPr sz="3600">
                <a:solidFill>
                  <a:schemeClr val="lt1"/>
                </a:solidFill>
              </a:defRPr>
            </a:lvl5pPr>
            <a:lvl6pPr lvl="5" algn="ctr">
              <a:spcBef>
                <a:spcPts val="0"/>
              </a:spcBef>
              <a:spcAft>
                <a:spcPts val="0"/>
              </a:spcAft>
              <a:buClr>
                <a:schemeClr val="lt1"/>
              </a:buClr>
              <a:buSzPts val="3600"/>
              <a:buNone/>
              <a:defRPr sz="3600">
                <a:solidFill>
                  <a:schemeClr val="lt1"/>
                </a:solidFill>
              </a:defRPr>
            </a:lvl6pPr>
            <a:lvl7pPr lvl="6" algn="ctr">
              <a:spcBef>
                <a:spcPts val="0"/>
              </a:spcBef>
              <a:spcAft>
                <a:spcPts val="0"/>
              </a:spcAft>
              <a:buClr>
                <a:schemeClr val="lt1"/>
              </a:buClr>
              <a:buSzPts val="3600"/>
              <a:buNone/>
              <a:defRPr sz="3600">
                <a:solidFill>
                  <a:schemeClr val="lt1"/>
                </a:solidFill>
              </a:defRPr>
            </a:lvl7pPr>
            <a:lvl8pPr lvl="7" algn="ctr">
              <a:spcBef>
                <a:spcPts val="0"/>
              </a:spcBef>
              <a:spcAft>
                <a:spcPts val="0"/>
              </a:spcAft>
              <a:buClr>
                <a:schemeClr val="lt1"/>
              </a:buClr>
              <a:buSzPts val="3600"/>
              <a:buNone/>
              <a:defRPr sz="3600">
                <a:solidFill>
                  <a:schemeClr val="lt1"/>
                </a:solidFill>
              </a:defRPr>
            </a:lvl8pPr>
            <a:lvl9pPr lvl="8" algn="ctr">
              <a:spcBef>
                <a:spcPts val="0"/>
              </a:spcBef>
              <a:spcAft>
                <a:spcPts val="0"/>
              </a:spcAft>
              <a:buClr>
                <a:schemeClr val="lt1"/>
              </a:buClr>
              <a:buSzPts val="3600"/>
              <a:buNone/>
              <a:defRPr sz="3600">
                <a:solidFill>
                  <a:schemeClr val="lt1"/>
                </a:solidFill>
              </a:defRPr>
            </a:lvl9pPr>
          </a:lstStyle>
          <a:p>
            <a:endParaRPr dirty="0"/>
          </a:p>
        </p:txBody>
      </p:sp>
      <p:sp>
        <p:nvSpPr>
          <p:cNvPr id="19" name="Google Shape;19;p3"/>
          <p:cNvSpPr txBox="1">
            <a:spLocks noGrp="1"/>
          </p:cNvSpPr>
          <p:nvPr>
            <p:ph type="sldNum" idx="12"/>
          </p:nvPr>
        </p:nvSpPr>
        <p:spPr>
          <a:xfrm>
            <a:off x="7068554" y="4415193"/>
            <a:ext cx="548700" cy="393600"/>
          </a:xfrm>
          <a:prstGeom prst="rect">
            <a:avLst/>
          </a:prstGeom>
        </p:spPr>
        <p:txBody>
          <a:bodyPr spcFirstLastPara="1" wrap="square" lIns="91425" tIns="91425" rIns="91425" bIns="91425" anchor="ctr" anchorCtr="0">
            <a:normAutofit/>
          </a:bodyPr>
          <a:lstStyle>
            <a:lvl1pPr lvl="0" rtl="0">
              <a:buNone/>
              <a:defRPr>
                <a:solidFill>
                  <a:srgbClr val="000000"/>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fld id="{00000000-1234-1234-1234-123412341234}" type="slidenum">
              <a:rPr lang="en" smtClean="0"/>
              <a:pPr/>
              <a:t>‹#›</a:t>
            </a:fld>
            <a:endParaRPr lang="en" dirty="0"/>
          </a:p>
        </p:txBody>
      </p:sp>
      <p:pic>
        <p:nvPicPr>
          <p:cNvPr id="2" name="Graphic 1">
            <a:extLst>
              <a:ext uri="{FF2B5EF4-FFF2-40B4-BE49-F238E27FC236}">
                <a16:creationId xmlns:a16="http://schemas.microsoft.com/office/drawing/2014/main" id="{56E2791F-0FB1-3CAB-EED9-84110EA8F62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133600" y="3590365"/>
            <a:ext cx="6858000" cy="1409700"/>
          </a:xfrm>
          <a:prstGeom prst="rect">
            <a:avLst/>
          </a:prstGeom>
        </p:spPr>
      </p:pic>
      <p:pic>
        <p:nvPicPr>
          <p:cNvPr id="3" name="Graphic 2">
            <a:extLst>
              <a:ext uri="{FF2B5EF4-FFF2-40B4-BE49-F238E27FC236}">
                <a16:creationId xmlns:a16="http://schemas.microsoft.com/office/drawing/2014/main" id="{FCB4838E-8E54-16AC-EC78-3C1C5BC8BAE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84202" y="321272"/>
            <a:ext cx="4448979" cy="746809"/>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preserve="1" userDrawn="1">
  <p:cSld name="Logo">
    <p:bg>
      <p:bgPr>
        <a:gradFill>
          <a:gsLst>
            <a:gs pos="0">
              <a:schemeClr val="accent2"/>
            </a:gs>
            <a:gs pos="100000">
              <a:schemeClr val="tx2"/>
            </a:gs>
          </a:gsLst>
          <a:lin ang="5400000" scaled="1"/>
        </a:gradFill>
        <a:effectLst/>
      </p:bgPr>
    </p:bg>
    <p:spTree>
      <p:nvGrpSpPr>
        <p:cNvPr id="1" name="Shape 15"/>
        <p:cNvGrpSpPr/>
        <p:nvPr/>
      </p:nvGrpSpPr>
      <p:grpSpPr>
        <a:xfrm>
          <a:off x="0" y="0"/>
          <a:ext cx="0" cy="0"/>
          <a:chOff x="0" y="0"/>
          <a:chExt cx="0" cy="0"/>
        </a:xfrm>
      </p:grpSpPr>
      <p:pic>
        <p:nvPicPr>
          <p:cNvPr id="2" name="Graphic 1">
            <a:extLst>
              <a:ext uri="{FF2B5EF4-FFF2-40B4-BE49-F238E27FC236}">
                <a16:creationId xmlns:a16="http://schemas.microsoft.com/office/drawing/2014/main" id="{6ADAC272-CA47-6095-A867-F1C06A88191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133600" y="3590365"/>
            <a:ext cx="6858000" cy="1409700"/>
          </a:xfrm>
          <a:prstGeom prst="rect">
            <a:avLst/>
          </a:prstGeom>
        </p:spPr>
      </p:pic>
      <p:pic>
        <p:nvPicPr>
          <p:cNvPr id="4" name="Graphic 3">
            <a:extLst>
              <a:ext uri="{FF2B5EF4-FFF2-40B4-BE49-F238E27FC236}">
                <a16:creationId xmlns:a16="http://schemas.microsoft.com/office/drawing/2014/main" id="{E3E84D2B-CA2A-9653-CC19-1893309402D7}"/>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608243" y="376518"/>
            <a:ext cx="3927514" cy="4164746"/>
          </a:xfrm>
          <a:prstGeom prst="rect">
            <a:avLst/>
          </a:prstGeom>
        </p:spPr>
      </p:pic>
    </p:spTree>
    <p:extLst>
      <p:ext uri="{BB962C8B-B14F-4D97-AF65-F5344CB8AC3E}">
        <p14:creationId xmlns:p14="http://schemas.microsoft.com/office/powerpoint/2010/main" val="945635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solidFill>
          <a:schemeClr val="lt1"/>
        </a:solidFill>
        <a:effectLst/>
      </p:bgPr>
    </p:bg>
    <p:spTree>
      <p:nvGrpSpPr>
        <p:cNvPr id="1" name="Shape 20"/>
        <p:cNvGrpSpPr/>
        <p:nvPr/>
      </p:nvGrpSpPr>
      <p:grpSpPr>
        <a:xfrm>
          <a:off x="0" y="0"/>
          <a:ext cx="0" cy="0"/>
          <a:chOff x="0" y="0"/>
          <a:chExt cx="0" cy="0"/>
        </a:xfrm>
      </p:grpSpPr>
      <p:sp>
        <p:nvSpPr>
          <p:cNvPr id="22" name="Google Shape;22;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solidFill>
                  <a:schemeClr val="accent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dirty="0"/>
          </a:p>
        </p:txBody>
      </p:sp>
      <p:sp>
        <p:nvSpPr>
          <p:cNvPr id="23" name="Google Shape;23;p4"/>
          <p:cNvSpPr txBox="1">
            <a:spLocks noGrp="1"/>
          </p:cNvSpPr>
          <p:nvPr>
            <p:ph type="body" idx="1"/>
          </p:nvPr>
        </p:nvSpPr>
        <p:spPr>
          <a:xfrm>
            <a:off x="311700" y="1152475"/>
            <a:ext cx="8520600" cy="3317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dirty="0"/>
          </a:p>
        </p:txBody>
      </p:sp>
      <p:sp>
        <p:nvSpPr>
          <p:cNvPr id="2" name="Google Shape;19;p3">
            <a:extLst>
              <a:ext uri="{FF2B5EF4-FFF2-40B4-BE49-F238E27FC236}">
                <a16:creationId xmlns:a16="http://schemas.microsoft.com/office/drawing/2014/main" id="{36387CF0-2049-99DF-B823-C0C3B9029DF1}"/>
              </a:ext>
            </a:extLst>
          </p:cNvPr>
          <p:cNvSpPr txBox="1">
            <a:spLocks noGrp="1"/>
          </p:cNvSpPr>
          <p:nvPr>
            <p:ph type="sldNum" idx="12"/>
          </p:nvPr>
        </p:nvSpPr>
        <p:spPr>
          <a:xfrm>
            <a:off x="7068554" y="4415193"/>
            <a:ext cx="548700" cy="393600"/>
          </a:xfrm>
          <a:prstGeom prst="rect">
            <a:avLst/>
          </a:prstGeom>
        </p:spPr>
        <p:txBody>
          <a:bodyPr spcFirstLastPara="1" wrap="square" lIns="91425" tIns="91425" rIns="91425" bIns="91425" anchor="ctr" anchorCtr="0">
            <a:normAutofit/>
          </a:bodyPr>
          <a:lstStyle>
            <a:lvl1pPr lvl="0" rtl="0">
              <a:buNone/>
              <a:defRPr>
                <a:solidFill>
                  <a:srgbClr val="000000"/>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fld id="{00000000-1234-1234-1234-123412341234}" type="slidenum">
              <a:rPr lang="en" smtClean="0"/>
              <a:pPr/>
              <a:t>‹#›</a:t>
            </a:fld>
            <a:endParaRPr lang="en" dirty="0"/>
          </a:p>
        </p:txBody>
      </p:sp>
      <p:pic>
        <p:nvPicPr>
          <p:cNvPr id="4" name="Graphic 3">
            <a:extLst>
              <a:ext uri="{FF2B5EF4-FFF2-40B4-BE49-F238E27FC236}">
                <a16:creationId xmlns:a16="http://schemas.microsoft.com/office/drawing/2014/main" id="{FA151EFB-3EB2-0267-39B6-F7FF0449C8A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133600" y="3590365"/>
            <a:ext cx="6858000" cy="1409700"/>
          </a:xfrm>
          <a:prstGeom prst="rect">
            <a:avLst/>
          </a:prstGeom>
        </p:spPr>
      </p:pic>
      <p:pic>
        <p:nvPicPr>
          <p:cNvPr id="5" name="Graphic 4">
            <a:extLst>
              <a:ext uri="{FF2B5EF4-FFF2-40B4-BE49-F238E27FC236}">
                <a16:creationId xmlns:a16="http://schemas.microsoft.com/office/drawing/2014/main" id="{D260FB80-5C3B-8A42-F58C-D990BACAFE0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07362" y="4557526"/>
            <a:ext cx="1429230" cy="523507"/>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solidFill>
          <a:schemeClr val="lt1"/>
        </a:solidFill>
        <a:effectLst/>
      </p:bgPr>
    </p:bg>
    <p:spTree>
      <p:nvGrpSpPr>
        <p:cNvPr id="1" name="Shape 26"/>
        <p:cNvGrpSpPr/>
        <p:nvPr/>
      </p:nvGrpSpPr>
      <p:grpSpPr>
        <a:xfrm>
          <a:off x="0" y="0"/>
          <a:ext cx="0" cy="0"/>
          <a:chOff x="0" y="0"/>
          <a:chExt cx="0" cy="0"/>
        </a:xfrm>
      </p:grpSpPr>
      <p:sp>
        <p:nvSpPr>
          <p:cNvPr id="30" name="Google Shape;30;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solidFill>
                  <a:schemeClr val="accent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dirty="0"/>
          </a:p>
        </p:txBody>
      </p:sp>
      <p:sp>
        <p:nvSpPr>
          <p:cNvPr id="31" name="Google Shape;31;p5"/>
          <p:cNvSpPr txBox="1">
            <a:spLocks noGrp="1"/>
          </p:cNvSpPr>
          <p:nvPr>
            <p:ph type="body" idx="1"/>
          </p:nvPr>
        </p:nvSpPr>
        <p:spPr>
          <a:xfrm>
            <a:off x="311700" y="1152475"/>
            <a:ext cx="3999900" cy="3317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2" name="Google Shape;32;p5"/>
          <p:cNvSpPr txBox="1">
            <a:spLocks noGrp="1"/>
          </p:cNvSpPr>
          <p:nvPr>
            <p:ph type="body" idx="2"/>
          </p:nvPr>
        </p:nvSpPr>
        <p:spPr>
          <a:xfrm>
            <a:off x="4832400" y="1152475"/>
            <a:ext cx="3999900" cy="3317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5" name="Google Shape;19;p3">
            <a:extLst>
              <a:ext uri="{FF2B5EF4-FFF2-40B4-BE49-F238E27FC236}">
                <a16:creationId xmlns:a16="http://schemas.microsoft.com/office/drawing/2014/main" id="{E519B8B2-AD45-6401-455F-EB2E64C7629F}"/>
              </a:ext>
            </a:extLst>
          </p:cNvPr>
          <p:cNvSpPr txBox="1">
            <a:spLocks noGrp="1"/>
          </p:cNvSpPr>
          <p:nvPr>
            <p:ph type="sldNum" idx="12"/>
          </p:nvPr>
        </p:nvSpPr>
        <p:spPr>
          <a:xfrm>
            <a:off x="7068554" y="4415193"/>
            <a:ext cx="548700" cy="393600"/>
          </a:xfrm>
          <a:prstGeom prst="rect">
            <a:avLst/>
          </a:prstGeom>
        </p:spPr>
        <p:txBody>
          <a:bodyPr spcFirstLastPara="1" wrap="square" lIns="91425" tIns="91425" rIns="91425" bIns="91425" anchor="ctr" anchorCtr="0">
            <a:normAutofit/>
          </a:bodyPr>
          <a:lstStyle>
            <a:lvl1pPr lvl="0" rtl="0">
              <a:buNone/>
              <a:defRPr>
                <a:solidFill>
                  <a:srgbClr val="000000"/>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fld id="{00000000-1234-1234-1234-123412341234}" type="slidenum">
              <a:rPr lang="en" smtClean="0"/>
              <a:pPr/>
              <a:t>‹#›</a:t>
            </a:fld>
            <a:endParaRPr lang="en" dirty="0"/>
          </a:p>
        </p:txBody>
      </p:sp>
      <p:pic>
        <p:nvPicPr>
          <p:cNvPr id="6" name="Graphic 5">
            <a:extLst>
              <a:ext uri="{FF2B5EF4-FFF2-40B4-BE49-F238E27FC236}">
                <a16:creationId xmlns:a16="http://schemas.microsoft.com/office/drawing/2014/main" id="{1F967617-9957-628E-9E70-A9B5A74FBEA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133600" y="3590365"/>
            <a:ext cx="6858000" cy="1409700"/>
          </a:xfrm>
          <a:prstGeom prst="rect">
            <a:avLst/>
          </a:prstGeom>
        </p:spPr>
      </p:pic>
      <p:pic>
        <p:nvPicPr>
          <p:cNvPr id="2" name="Graphic 1">
            <a:extLst>
              <a:ext uri="{FF2B5EF4-FFF2-40B4-BE49-F238E27FC236}">
                <a16:creationId xmlns:a16="http://schemas.microsoft.com/office/drawing/2014/main" id="{45536D48-D47B-3ACB-535D-355E7A21DDA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07362" y="4557526"/>
            <a:ext cx="1429230" cy="523507"/>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solidFill>
          <a:schemeClr val="lt1"/>
        </a:solidFill>
        <a:effectLst/>
      </p:bgPr>
    </p:bg>
    <p:spTree>
      <p:nvGrpSpPr>
        <p:cNvPr id="1" name="Shape 33"/>
        <p:cNvGrpSpPr/>
        <p:nvPr/>
      </p:nvGrpSpPr>
      <p:grpSpPr>
        <a:xfrm>
          <a:off x="0" y="0"/>
          <a:ext cx="0" cy="0"/>
          <a:chOff x="0" y="0"/>
          <a:chExt cx="0" cy="0"/>
        </a:xfrm>
      </p:grpSpPr>
      <p:sp>
        <p:nvSpPr>
          <p:cNvPr id="37" name="Google Shape;37;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solidFill>
                  <a:schemeClr val="accent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dirty="0"/>
          </a:p>
        </p:txBody>
      </p:sp>
      <p:sp>
        <p:nvSpPr>
          <p:cNvPr id="5" name="Google Shape;19;p3">
            <a:extLst>
              <a:ext uri="{FF2B5EF4-FFF2-40B4-BE49-F238E27FC236}">
                <a16:creationId xmlns:a16="http://schemas.microsoft.com/office/drawing/2014/main" id="{9F802429-5505-033B-4C8D-9B0EE281C459}"/>
              </a:ext>
            </a:extLst>
          </p:cNvPr>
          <p:cNvSpPr txBox="1">
            <a:spLocks noGrp="1"/>
          </p:cNvSpPr>
          <p:nvPr>
            <p:ph type="sldNum" idx="12"/>
          </p:nvPr>
        </p:nvSpPr>
        <p:spPr>
          <a:xfrm>
            <a:off x="7068554" y="4415193"/>
            <a:ext cx="548700" cy="393600"/>
          </a:xfrm>
          <a:prstGeom prst="rect">
            <a:avLst/>
          </a:prstGeom>
        </p:spPr>
        <p:txBody>
          <a:bodyPr spcFirstLastPara="1" wrap="square" lIns="91425" tIns="91425" rIns="91425" bIns="91425" anchor="ctr" anchorCtr="0">
            <a:normAutofit/>
          </a:bodyPr>
          <a:lstStyle>
            <a:lvl1pPr lvl="0" rtl="0">
              <a:buNone/>
              <a:defRPr>
                <a:solidFill>
                  <a:srgbClr val="000000"/>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fld id="{00000000-1234-1234-1234-123412341234}" type="slidenum">
              <a:rPr lang="en" smtClean="0"/>
              <a:pPr/>
              <a:t>‹#›</a:t>
            </a:fld>
            <a:endParaRPr lang="en" dirty="0"/>
          </a:p>
        </p:txBody>
      </p:sp>
      <p:pic>
        <p:nvPicPr>
          <p:cNvPr id="6" name="Graphic 5">
            <a:extLst>
              <a:ext uri="{FF2B5EF4-FFF2-40B4-BE49-F238E27FC236}">
                <a16:creationId xmlns:a16="http://schemas.microsoft.com/office/drawing/2014/main" id="{92371285-E883-C0FB-220F-F791F00B944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133600" y="3590365"/>
            <a:ext cx="6858000" cy="1409700"/>
          </a:xfrm>
          <a:prstGeom prst="rect">
            <a:avLst/>
          </a:prstGeom>
        </p:spPr>
      </p:pic>
      <p:pic>
        <p:nvPicPr>
          <p:cNvPr id="2" name="Graphic 1">
            <a:extLst>
              <a:ext uri="{FF2B5EF4-FFF2-40B4-BE49-F238E27FC236}">
                <a16:creationId xmlns:a16="http://schemas.microsoft.com/office/drawing/2014/main" id="{25CFB803-3BD5-1AAE-8E32-56773BE3C43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07362" y="4557526"/>
            <a:ext cx="1429230" cy="523507"/>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8"/>
        <p:cNvGrpSpPr/>
        <p:nvPr/>
      </p:nvGrpSpPr>
      <p:grpSpPr>
        <a:xfrm>
          <a:off x="0" y="0"/>
          <a:ext cx="0" cy="0"/>
          <a:chOff x="0" y="0"/>
          <a:chExt cx="0" cy="0"/>
        </a:xfrm>
      </p:grpSpPr>
      <p:sp>
        <p:nvSpPr>
          <p:cNvPr id="2" name="Google Shape;24;p4">
            <a:extLst>
              <a:ext uri="{FF2B5EF4-FFF2-40B4-BE49-F238E27FC236}">
                <a16:creationId xmlns:a16="http://schemas.microsoft.com/office/drawing/2014/main" id="{49D136C1-ED83-77FA-87EE-D9A2F465A3A0}"/>
              </a:ext>
            </a:extLst>
          </p:cNvPr>
          <p:cNvSpPr txBox="1">
            <a:spLocks/>
          </p:cNvSpPr>
          <p:nvPr userDrawn="1"/>
        </p:nvSpPr>
        <p:spPr>
          <a:xfrm>
            <a:off x="8430417" y="4604624"/>
            <a:ext cx="548700" cy="393600"/>
          </a:xfrm>
          <a:prstGeom prst="rect">
            <a:avLst/>
          </a:prstGeom>
          <a:noFill/>
          <a:ln>
            <a:noFill/>
          </a:ln>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bg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lt1"/>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lt1"/>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lt1"/>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lt1"/>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lt1"/>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lt1"/>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lt1"/>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lt1"/>
                </a:solidFill>
                <a:latin typeface="Arial"/>
                <a:ea typeface="Arial"/>
                <a:cs typeface="Arial"/>
                <a:sym typeface="Arial"/>
              </a:defRPr>
            </a:lvl9pPr>
          </a:lstStyle>
          <a:p>
            <a:fld id="{00000000-1234-1234-1234-123412341234}" type="slidenum">
              <a:rPr lang="en" smtClean="0"/>
              <a:pPr/>
              <a:t>‹#›</a:t>
            </a:fld>
            <a:endParaRPr lang="en" dirty="0"/>
          </a:p>
        </p:txBody>
      </p:sp>
      <p:pic>
        <p:nvPicPr>
          <p:cNvPr id="4" name="Graphic 3">
            <a:extLst>
              <a:ext uri="{FF2B5EF4-FFF2-40B4-BE49-F238E27FC236}">
                <a16:creationId xmlns:a16="http://schemas.microsoft.com/office/drawing/2014/main" id="{00C6E7AE-C009-76F0-FC65-95B436DF87E4}"/>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92101" y="4392603"/>
            <a:ext cx="3677971" cy="617387"/>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body" type="tx">
  <p:cSld name="WHITE_STATEMENT">
    <p:bg>
      <p:bgPr>
        <a:solidFill>
          <a:schemeClr val="lt1"/>
        </a:solidFill>
        <a:effectLst/>
      </p:bgPr>
    </p:bg>
    <p:spTree>
      <p:nvGrpSpPr>
        <p:cNvPr id="1" name="Shape 20"/>
        <p:cNvGrpSpPr/>
        <p:nvPr/>
      </p:nvGrpSpPr>
      <p:grpSpPr>
        <a:xfrm>
          <a:off x="0" y="0"/>
          <a:ext cx="0" cy="0"/>
          <a:chOff x="0" y="0"/>
          <a:chExt cx="0" cy="0"/>
        </a:xfrm>
      </p:grpSpPr>
      <p:sp>
        <p:nvSpPr>
          <p:cNvPr id="22" name="Google Shape;22;p4"/>
          <p:cNvSpPr txBox="1">
            <a:spLocks noGrp="1"/>
          </p:cNvSpPr>
          <p:nvPr>
            <p:ph type="title"/>
          </p:nvPr>
        </p:nvSpPr>
        <p:spPr>
          <a:xfrm>
            <a:off x="311700" y="1450000"/>
            <a:ext cx="8520600" cy="1500000"/>
          </a:xfrm>
          <a:prstGeom prst="rect">
            <a:avLst/>
          </a:prstGeom>
        </p:spPr>
        <p:txBody>
          <a:bodyPr spcFirstLastPara="1" wrap="square" lIns="91425" tIns="91425" rIns="91425" bIns="91425" anchor="ctr" anchorCtr="0">
            <a:normAutofit/>
          </a:bodyPr>
          <a:lstStyle>
            <a:lvl1pPr marL="0" lvl="0" indent="0" algn="ctr">
              <a:spcBef>
                <a:spcPts val="0"/>
              </a:spcBef>
              <a:spcAft>
                <a:spcPts val="0"/>
              </a:spcAft>
              <a:buSzPts val="2800"/>
              <a:buNone/>
              <a:defRPr sz="3200">
                <a:solidFill>
                  <a:srgbClr val="000000"/>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dirty="0"/>
          </a:p>
        </p:txBody>
      </p:sp>
      <p:sp>
        <p:nvSpPr>
          <p:cNvPr id="23" name="Google Shape;23;p4"/>
          <p:cNvSpPr txBox="1">
            <a:spLocks noGrp="1"/>
          </p:cNvSpPr>
          <p:nvPr>
            <p:ph type="body" idx="1"/>
          </p:nvPr>
        </p:nvSpPr>
        <p:spPr>
          <a:xfrm>
            <a:off x="311700" y="2950000"/>
            <a:ext cx="8520600" cy="1200000"/>
          </a:xfrm>
          <a:prstGeom prst="rect">
            <a:avLst/>
          </a:prstGeom>
        </p:spPr>
        <p:txBody>
          <a:bodyPr spcFirstLastPara="1" wrap="square" lIns="91425" tIns="91425" rIns="91425" bIns="91425" anchor="ctr" anchorCtr="0">
            <a:normAutofit/>
          </a:bodyPr>
          <a:lstStyle>
            <a:lvl1pPr marL="0" lvl="0" indent="0" algn="ctr">
              <a:spcBef>
                <a:spcPts val="0"/>
              </a:spcBef>
              <a:spcAft>
                <a:spcPts val="0"/>
              </a:spcAft>
              <a:buSzPts val="1800"/>
              <a:buNone/>
              <a:defRPr sz="2400">
                <a:solidFill>
                  <a:srgbClr val="000000"/>
                </a:solidFill>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dirty="0"/>
          </a:p>
        </p:txBody>
      </p:sp>
      <p:sp>
        <p:nvSpPr>
          <p:cNvPr id="2" name="Google Shape;19;p3">
            <a:extLst>
              <a:ext uri="{FF2B5EF4-FFF2-40B4-BE49-F238E27FC236}">
                <a16:creationId xmlns:a16="http://schemas.microsoft.com/office/drawing/2014/main" id="{36387CF0-2049-99DF-B823-C0C3B9029DF1}"/>
              </a:ext>
            </a:extLst>
          </p:cNvPr>
          <p:cNvSpPr txBox="1">
            <a:spLocks noGrp="1"/>
          </p:cNvSpPr>
          <p:nvPr>
            <p:ph type="sldNum" idx="12"/>
          </p:nvPr>
        </p:nvSpPr>
        <p:spPr>
          <a:xfrm>
            <a:off x="7068554" y="4415193"/>
            <a:ext cx="548700" cy="393600"/>
          </a:xfrm>
          <a:prstGeom prst="rect">
            <a:avLst/>
          </a:prstGeom>
        </p:spPr>
        <p:txBody>
          <a:bodyPr spcFirstLastPara="1" wrap="square" lIns="91425" tIns="91425" rIns="91425" bIns="91425" anchor="ctr" anchorCtr="0">
            <a:normAutofit/>
          </a:bodyPr>
          <a:lstStyle>
            <a:lvl1pPr lvl="0" rtl="0">
              <a:buNone/>
              <a:defRPr>
                <a:solidFill>
                  <a:srgbClr val="000000"/>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fld id="{00000000-1234-1234-1234-123412341234}" type="slidenum">
              <a:rPr lang="en" smtClean="0"/>
              <a:pPr/>
              <a:t>‹#›</a:t>
            </a:fld>
            <a:endParaRPr lang="en" dirty="0"/>
          </a:p>
        </p:txBody>
      </p:sp>
      <p:pic>
        <p:nvPicPr>
          <p:cNvPr id="4" name="Graphic 3">
            <a:extLst>
              <a:ext uri="{FF2B5EF4-FFF2-40B4-BE49-F238E27FC236}">
                <a16:creationId xmlns:a16="http://schemas.microsoft.com/office/drawing/2014/main" id="{FA151EFB-3EB2-0267-39B6-F7FF0449C8A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133600" y="3590365"/>
            <a:ext cx="6858000" cy="1409700"/>
          </a:xfrm>
          <a:prstGeom prst="rect">
            <a:avLst/>
          </a:prstGeom>
        </p:spPr>
      </p:pic>
      <p:pic>
        <p:nvPicPr>
          <p:cNvPr id="5" name="Graphic 4">
            <a:extLst>
              <a:ext uri="{FF2B5EF4-FFF2-40B4-BE49-F238E27FC236}">
                <a16:creationId xmlns:a16="http://schemas.microsoft.com/office/drawing/2014/main" id="{D260FB80-5C3B-8A42-F58C-D990BACAFE0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07362" y="4557526"/>
            <a:ext cx="1429230" cy="523507"/>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accent1"/>
              </a:buClr>
              <a:buSzPts val="2800"/>
              <a:buNone/>
              <a:defRPr sz="2800">
                <a:solidFill>
                  <a:schemeClr val="accent1"/>
                </a:solidFill>
              </a:defRPr>
            </a:lvl1pPr>
            <a:lvl2pPr lvl="1">
              <a:spcBef>
                <a:spcPts val="0"/>
              </a:spcBef>
              <a:spcAft>
                <a:spcPts val="0"/>
              </a:spcAft>
              <a:buClr>
                <a:schemeClr val="accent1"/>
              </a:buClr>
              <a:buSzPts val="2800"/>
              <a:buNone/>
              <a:defRPr sz="2800">
                <a:solidFill>
                  <a:schemeClr val="accent1"/>
                </a:solidFill>
              </a:defRPr>
            </a:lvl2pPr>
            <a:lvl3pPr lvl="2">
              <a:spcBef>
                <a:spcPts val="0"/>
              </a:spcBef>
              <a:spcAft>
                <a:spcPts val="0"/>
              </a:spcAft>
              <a:buClr>
                <a:schemeClr val="accent1"/>
              </a:buClr>
              <a:buSzPts val="2800"/>
              <a:buNone/>
              <a:defRPr sz="2800">
                <a:solidFill>
                  <a:schemeClr val="accent1"/>
                </a:solidFill>
              </a:defRPr>
            </a:lvl3pPr>
            <a:lvl4pPr lvl="3">
              <a:spcBef>
                <a:spcPts val="0"/>
              </a:spcBef>
              <a:spcAft>
                <a:spcPts val="0"/>
              </a:spcAft>
              <a:buClr>
                <a:schemeClr val="accent1"/>
              </a:buClr>
              <a:buSzPts val="2800"/>
              <a:buNone/>
              <a:defRPr sz="2800">
                <a:solidFill>
                  <a:schemeClr val="accent1"/>
                </a:solidFill>
              </a:defRPr>
            </a:lvl4pPr>
            <a:lvl5pPr lvl="4">
              <a:spcBef>
                <a:spcPts val="0"/>
              </a:spcBef>
              <a:spcAft>
                <a:spcPts val="0"/>
              </a:spcAft>
              <a:buClr>
                <a:schemeClr val="accent1"/>
              </a:buClr>
              <a:buSzPts val="2800"/>
              <a:buNone/>
              <a:defRPr sz="2800">
                <a:solidFill>
                  <a:schemeClr val="accent1"/>
                </a:solidFill>
              </a:defRPr>
            </a:lvl5pPr>
            <a:lvl6pPr lvl="5">
              <a:spcBef>
                <a:spcPts val="0"/>
              </a:spcBef>
              <a:spcAft>
                <a:spcPts val="0"/>
              </a:spcAft>
              <a:buClr>
                <a:schemeClr val="accent1"/>
              </a:buClr>
              <a:buSzPts val="2800"/>
              <a:buNone/>
              <a:defRPr sz="2800">
                <a:solidFill>
                  <a:schemeClr val="accent1"/>
                </a:solidFill>
              </a:defRPr>
            </a:lvl6pPr>
            <a:lvl7pPr lvl="6">
              <a:spcBef>
                <a:spcPts val="0"/>
              </a:spcBef>
              <a:spcAft>
                <a:spcPts val="0"/>
              </a:spcAft>
              <a:buClr>
                <a:schemeClr val="accent1"/>
              </a:buClr>
              <a:buSzPts val="2800"/>
              <a:buNone/>
              <a:defRPr sz="2800">
                <a:solidFill>
                  <a:schemeClr val="accent1"/>
                </a:solidFill>
              </a:defRPr>
            </a:lvl7pPr>
            <a:lvl8pPr lvl="7">
              <a:spcBef>
                <a:spcPts val="0"/>
              </a:spcBef>
              <a:spcAft>
                <a:spcPts val="0"/>
              </a:spcAft>
              <a:buClr>
                <a:schemeClr val="accent1"/>
              </a:buClr>
              <a:buSzPts val="2800"/>
              <a:buNone/>
              <a:defRPr sz="2800">
                <a:solidFill>
                  <a:schemeClr val="accent1"/>
                </a:solidFill>
              </a:defRPr>
            </a:lvl8pPr>
            <a:lvl9pPr lvl="8">
              <a:spcBef>
                <a:spcPts val="0"/>
              </a:spcBef>
              <a:spcAft>
                <a:spcPts val="0"/>
              </a:spcAft>
              <a:buClr>
                <a:schemeClr val="accent1"/>
              </a:buClr>
              <a:buSzPts val="2800"/>
              <a:buNone/>
              <a:defRPr sz="2800">
                <a:solidFill>
                  <a:schemeClr val="accent1"/>
                </a:solidFill>
              </a:defRPr>
            </a:lvl9pPr>
          </a:lstStyle>
          <a:p>
            <a:endParaRPr dirty="0"/>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dirty="0"/>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5" r:id="rId3"/>
    <p:sldLayoutId id="2147483650" r:id="rId4"/>
    <p:sldLayoutId id="2147483651" r:id="rId5"/>
    <p:sldLayoutId id="2147483652" r:id="rId6"/>
    <p:sldLayoutId id="2147483653" r:id="rId7"/>
    <p:sldLayoutId id="2147483656"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tx1"/>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accent3"/>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dirty="0"/>
              <a:t>The Boring Layer: What AI Is Building On, and Who Owns It</a:t>
            </a:r>
          </a:p>
        </p:txBody>
      </p:sp>
      <p:sp>
        <p:nvSpPr>
          <p:cNvPr id="3" name="Subtitle 2"/>
          <p:cNvSpPr>
            <a:spLocks noGrp="1"/>
          </p:cNvSpPr>
          <p:nvPr>
            <p:ph type="subTitle" idx="1"/>
          </p:nvPr>
        </p:nvSpPr>
        <p:spPr/>
        <p:txBody>
          <a:bodyPr/>
          <a:lstStyle/>
          <a:p>
            <a:r>
              <a:rPr dirty="0"/>
              <a:t>Madelyn Olson, Valkey maintainer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4472" y="1556325"/>
            <a:ext cx="4260300" cy="1500000"/>
          </a:xfrm>
        </p:spPr>
        <p:txBody>
          <a:bodyPr/>
          <a:lstStyle/>
          <a:p>
            <a:r>
              <a:rPr dirty="0"/>
              <a:t>Everyone is building their own software</a:t>
            </a:r>
          </a:p>
        </p:txBody>
      </p:sp>
      <p:pic>
        <p:nvPicPr>
          <p:cNvPr id="6" name="Picture 5">
            <a:extLst>
              <a:ext uri="{FF2B5EF4-FFF2-40B4-BE49-F238E27FC236}">
                <a16:creationId xmlns:a16="http://schemas.microsoft.com/office/drawing/2014/main" id="{FFE835B1-2D2E-814E-0385-109369B0C391}"/>
              </a:ext>
            </a:extLst>
          </p:cNvPr>
          <p:cNvPicPr>
            <a:picLocks noChangeAspect="1"/>
          </p:cNvPicPr>
          <p:nvPr/>
        </p:nvPicPr>
        <p:blipFill>
          <a:blip r:embed="rId3"/>
          <a:stretch>
            <a:fillRect/>
          </a:stretch>
        </p:blipFill>
        <p:spPr>
          <a:xfrm rot="752772">
            <a:off x="5573525" y="-651589"/>
            <a:ext cx="3938612" cy="854591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400"/>
              <a:t>AI won't say no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1 in 6 AI agents built their own cache</a:t>
            </a:r>
          </a:p>
        </p:txBody>
      </p:sp>
      <p:pic>
        <p:nvPicPr>
          <p:cNvPr id="3" name="Google Shape;66;p3" title="Press Release Images - GL (2).png">
            <a:extLst>
              <a:ext uri="{FF2B5EF4-FFF2-40B4-BE49-F238E27FC236}">
                <a16:creationId xmlns:a16="http://schemas.microsoft.com/office/drawing/2014/main" id="{6B6CD99F-587F-6722-EBE2-081213184860}"/>
              </a:ext>
            </a:extLst>
          </p:cNvPr>
          <p:cNvPicPr preferRelativeResize="0"/>
          <p:nvPr/>
        </p:nvPicPr>
        <p:blipFill rotWithShape="1">
          <a:blip r:embed="rId3">
            <a:alphaModFix/>
          </a:blip>
          <a:srcRect t="26344" r="16604" b="26729"/>
          <a:stretch/>
        </p:blipFill>
        <p:spPr>
          <a:xfrm>
            <a:off x="1079558" y="2440100"/>
            <a:ext cx="5633484" cy="1658824"/>
          </a:xfrm>
          <a:prstGeom prst="rect">
            <a:avLst/>
          </a:prstGeom>
          <a:noFill/>
          <a:ln>
            <a:noFill/>
          </a:ln>
        </p:spPr>
      </p:pic>
      <p:pic>
        <p:nvPicPr>
          <p:cNvPr id="4" name="Google Shape;67;p3" title="Press Release Images - GL (3).png">
            <a:extLst>
              <a:ext uri="{FF2B5EF4-FFF2-40B4-BE49-F238E27FC236}">
                <a16:creationId xmlns:a16="http://schemas.microsoft.com/office/drawing/2014/main" id="{BCD3807C-C0F5-8746-A542-EA6F0BE16881}"/>
              </a:ext>
            </a:extLst>
          </p:cNvPr>
          <p:cNvPicPr preferRelativeResize="0"/>
          <p:nvPr/>
        </p:nvPicPr>
        <p:blipFill rotWithShape="1">
          <a:blip r:embed="rId4">
            <a:alphaModFix/>
          </a:blip>
          <a:srcRect l="34802" t="16579" r="37535" b="12388"/>
          <a:stretch/>
        </p:blipFill>
        <p:spPr>
          <a:xfrm>
            <a:off x="6619008" y="2519513"/>
            <a:ext cx="1116258" cy="15000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2000"/>
                                        <p:tgtEl>
                                          <p:spTgt spid="4"/>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AI will make unstable infrastructure</a:t>
            </a:r>
            <a:r>
              <a:rPr lang="en-US" dirty="0"/>
              <a:t> choices</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700" y="1450000"/>
            <a:ext cx="8520600" cy="1500000"/>
          </a:xfrm>
        </p:spPr>
        <p:txBody>
          <a:bodyPr/>
          <a:lstStyle/>
          <a:p>
            <a:r>
              <a:rPr dirty="0"/>
              <a:t>You're responsible to maintain your software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400"/>
              <a:t>Maintainers say no</a:t>
            </a:r>
          </a:p>
        </p:txBody>
      </p:sp>
      <p:pic>
        <p:nvPicPr>
          <p:cNvPr id="3" name="Google Shape;88;p7" title="Press Release Images - GL (3).png">
            <a:extLst>
              <a:ext uri="{FF2B5EF4-FFF2-40B4-BE49-F238E27FC236}">
                <a16:creationId xmlns:a16="http://schemas.microsoft.com/office/drawing/2014/main" id="{DC0CC499-A8F7-DA0C-188C-E88B3CD4F019}"/>
              </a:ext>
            </a:extLst>
          </p:cNvPr>
          <p:cNvPicPr preferRelativeResize="0"/>
          <p:nvPr/>
        </p:nvPicPr>
        <p:blipFill rotWithShape="1">
          <a:blip r:embed="rId3">
            <a:alphaModFix/>
          </a:blip>
          <a:srcRect l="34802" t="16579" r="37535" b="12388"/>
          <a:stretch/>
        </p:blipFill>
        <p:spPr>
          <a:xfrm>
            <a:off x="4013875" y="2679038"/>
            <a:ext cx="1116258" cy="15000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2" fill="hold" nodeType="clickEffect">
                                  <p:stCondLst>
                                    <p:cond delay="0"/>
                                  </p:stCondLst>
                                  <p:childTnLst>
                                    <p:anim calcmode="lin" valueType="num">
                                      <p:cBhvr additive="base">
                                        <p:cTn id="6" dur="2000"/>
                                        <p:tgtEl>
                                          <p:spTgt spid="3"/>
                                        </p:tgtEl>
                                        <p:attrNameLst>
                                          <p:attrName>ppt_x</p:attrName>
                                        </p:attrNameLst>
                                      </p:cBhvr>
                                      <p:tavLst>
                                        <p:tav tm="0">
                                          <p:val>
                                            <p:strVal val="#ppt_x"/>
                                          </p:val>
                                        </p:tav>
                                        <p:tav tm="100000">
                                          <p:val>
                                            <p:strVal val="#ppt_x+1"/>
                                          </p:val>
                                        </p:tav>
                                      </p:tavLst>
                                    </p:anim>
                                    <p:set>
                                      <p:cBhvr>
                                        <p:cTn id="7" dur="1" fill="hold">
                                          <p:stCondLst>
                                            <p:cond delay="2000"/>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You should channel your inner maintainer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AI is writing a lot of your software.</a:t>
            </a:r>
            <a:br/>
            <a:r>
              <a:t>Make sure it's building on a good foundation.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24957" y="250000"/>
            <a:ext cx="6494085" cy="769441"/>
          </a:xfrm>
          <a:prstGeom prst="rect">
            <a:avLst/>
          </a:prstGeom>
          <a:noFill/>
        </p:spPr>
        <p:txBody>
          <a:bodyPr wrap="none">
            <a:spAutoFit/>
          </a:bodyPr>
          <a:lstStyle/>
          <a:p>
            <a:pPr algn="ctr"/>
            <a:r>
              <a:rPr sz="4400" dirty="0">
                <a:solidFill>
                  <a:srgbClr val="000000"/>
                </a:solidFill>
              </a:rPr>
              <a:t>Learn more about Valkey</a:t>
            </a:r>
          </a:p>
        </p:txBody>
      </p:sp>
      <p:pic>
        <p:nvPicPr>
          <p:cNvPr id="3" name="Picture 2" descr="qr-valkey-io.png"/>
          <p:cNvPicPr>
            <a:picLocks noChangeAspect="1"/>
          </p:cNvPicPr>
          <p:nvPr/>
        </p:nvPicPr>
        <p:blipFill>
          <a:blip r:embed="rId3"/>
          <a:stretch>
            <a:fillRect/>
          </a:stretch>
        </p:blipFill>
        <p:spPr>
          <a:xfrm>
            <a:off x="1772000" y="1100000"/>
            <a:ext cx="2300000" cy="2300000"/>
          </a:xfrm>
          <a:prstGeom prst="rect">
            <a:avLst/>
          </a:prstGeom>
        </p:spPr>
      </p:pic>
      <p:sp>
        <p:nvSpPr>
          <p:cNvPr id="4" name="TextBox 3"/>
          <p:cNvSpPr txBox="1"/>
          <p:nvPr/>
        </p:nvSpPr>
        <p:spPr>
          <a:xfrm>
            <a:off x="1772000" y="3480000"/>
            <a:ext cx="2300000" cy="400000"/>
          </a:xfrm>
          <a:prstGeom prst="rect">
            <a:avLst/>
          </a:prstGeom>
          <a:noFill/>
        </p:spPr>
        <p:txBody>
          <a:bodyPr wrap="none">
            <a:spAutoFit/>
          </a:bodyPr>
          <a:lstStyle/>
          <a:p>
            <a:pPr algn="ctr"/>
            <a:r>
              <a:rPr sz="2000">
                <a:solidFill>
                  <a:srgbClr val="000000"/>
                </a:solidFill>
              </a:rPr>
              <a:t>valkey.io</a:t>
            </a:r>
          </a:p>
        </p:txBody>
      </p:sp>
      <p:pic>
        <p:nvPicPr>
          <p:cNvPr id="5" name="Picture 4" descr="qr-trivia.png"/>
          <p:cNvPicPr>
            <a:picLocks noChangeAspect="1"/>
          </p:cNvPicPr>
          <p:nvPr/>
        </p:nvPicPr>
        <p:blipFill>
          <a:blip r:embed="rId4"/>
          <a:stretch>
            <a:fillRect/>
          </a:stretch>
        </p:blipFill>
        <p:spPr>
          <a:xfrm>
            <a:off x="5072000" y="1100000"/>
            <a:ext cx="2300000" cy="2300000"/>
          </a:xfrm>
          <a:prstGeom prst="rect">
            <a:avLst/>
          </a:prstGeom>
        </p:spPr>
      </p:pic>
      <p:sp>
        <p:nvSpPr>
          <p:cNvPr id="6" name="TextBox 5"/>
          <p:cNvSpPr txBox="1"/>
          <p:nvPr/>
        </p:nvSpPr>
        <p:spPr>
          <a:xfrm>
            <a:off x="5072000" y="3480000"/>
            <a:ext cx="2300000" cy="400000"/>
          </a:xfrm>
          <a:prstGeom prst="rect">
            <a:avLst/>
          </a:prstGeom>
          <a:noFill/>
        </p:spPr>
        <p:txBody>
          <a:bodyPr wrap="none">
            <a:spAutoFit/>
          </a:bodyPr>
          <a:lstStyle/>
          <a:p>
            <a:pPr algn="ctr"/>
            <a:r>
              <a:rPr sz="2000">
                <a:solidFill>
                  <a:srgbClr val="000000"/>
                </a:solidFill>
              </a:rPr>
              <a:t>Trivia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dirty="0"/>
              <a:t>Thank you!</a:t>
            </a:r>
          </a:p>
        </p:txBody>
      </p:sp>
      <p:sp>
        <p:nvSpPr>
          <p:cNvPr id="3" name="Subtitle 2"/>
          <p:cNvSpPr>
            <a:spLocks noGrp="1"/>
          </p:cNvSpPr>
          <p:nvPr>
            <p:ph type="subTitle" idx="1"/>
          </p:nvPr>
        </p:nvSpPr>
        <p:spPr/>
        <p:txBody>
          <a:bodyPr>
            <a:noAutofit/>
          </a:bodyPr>
          <a:lstStyle/>
          <a:p>
            <a:r>
              <a:rPr sz="2000" b="1" dirty="0"/>
              <a:t>Madelyn Olson</a:t>
            </a:r>
          </a:p>
          <a:p>
            <a:r>
              <a:rPr sz="2000" b="0" dirty="0"/>
              <a:t>Valkey maintainer · Principal engineer at AWS</a:t>
            </a:r>
          </a:p>
        </p:txBody>
      </p:sp>
    </p:spTree>
  </p:cSld>
  <p:clrMapOvr>
    <a:masterClrMapping/>
  </p:clrMapOvr>
</p:sld>
</file>

<file path=ppt/theme/theme1.xml><?xml version="1.0" encoding="utf-8"?>
<a:theme xmlns:a="http://schemas.openxmlformats.org/drawingml/2006/main" name="OSSNA24">
  <a:themeElements>
    <a:clrScheme name="Custom 6">
      <a:dk1>
        <a:srgbClr val="003841"/>
      </a:dk1>
      <a:lt1>
        <a:srgbClr val="FFFFFF"/>
      </a:lt1>
      <a:dk2>
        <a:srgbClr val="0DA89D"/>
      </a:dk2>
      <a:lt2>
        <a:srgbClr val="E58570"/>
      </a:lt2>
      <a:accent1>
        <a:srgbClr val="0A5560"/>
      </a:accent1>
      <a:accent2>
        <a:srgbClr val="E05845"/>
      </a:accent2>
      <a:accent3>
        <a:srgbClr val="0DA99E"/>
      </a:accent3>
      <a:accent4>
        <a:srgbClr val="77CCC8"/>
      </a:accent4>
      <a:accent5>
        <a:srgbClr val="FFFFFF"/>
      </a:accent5>
      <a:accent6>
        <a:srgbClr val="FFE7BE"/>
      </a:accent6>
      <a:hlink>
        <a:srgbClr val="00384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1829</TotalTime>
  <Words>681</Words>
  <Application>Microsoft Macintosh PowerPoint</Application>
  <PresentationFormat>On-screen Show (16:9)</PresentationFormat>
  <Paragraphs>36</Paragraphs>
  <Slides>11</Slides>
  <Notes>9</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11</vt:i4>
      </vt:variant>
    </vt:vector>
  </HeadingPairs>
  <TitlesOfParts>
    <vt:vector size="13" baseType="lpstr">
      <vt:lpstr>Arial</vt:lpstr>
      <vt:lpstr>OSSNA24</vt:lpstr>
      <vt:lpstr>The Boring Layer: What AI Is Building On, and Who Owns It</vt:lpstr>
      <vt:lpstr>Everyone is building their own software</vt:lpstr>
      <vt:lpstr>AI won't say no</vt:lpstr>
      <vt:lpstr>1 in 6 AI agents built their own cache</vt:lpstr>
      <vt:lpstr>AI will make unstable infrastructure choices</vt:lpstr>
      <vt:lpstr>You're responsible to maintain your software</vt:lpstr>
      <vt:lpstr>Maintainers say no</vt:lpstr>
      <vt:lpstr>You should channel your inner maintainer</vt:lpstr>
      <vt:lpstr>AI is writing a lot of your software. Make sure it's building on a good foundation.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Olson, Madelyn</cp:lastModifiedBy>
  <cp:revision>32</cp:revision>
  <dcterms:modified xsi:type="dcterms:W3CDTF">2026-10-08T21:19:22Z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9e68092-05df-4271-8e3e-b2a4c82ba797_Enabled">
    <vt:lpwstr>true</vt:lpwstr>
  </property>
  <property fmtid="{D5CDD505-2E9C-101B-9397-08002B2CF9AE}" pid="3" name="MSIP_Label_19e68092-05df-4271-8e3e-b2a4c82ba797_SetDate">
    <vt:lpwstr>2026-10-08T12:32:16Z</vt:lpwstr>
  </property>
  <property fmtid="{D5CDD505-2E9C-101B-9397-08002B2CF9AE}" pid="4" name="MSIP_Label_19e68092-05df-4271-8e3e-b2a4c82ba797_Method">
    <vt:lpwstr>Standard</vt:lpwstr>
  </property>
  <property fmtid="{D5CDD505-2E9C-101B-9397-08002B2CF9AE}" pid="5" name="MSIP_Label_19e68092-05df-4271-8e3e-b2a4c82ba797_Name">
    <vt:lpwstr>Amazon Confidential</vt:lpwstr>
  </property>
  <property fmtid="{D5CDD505-2E9C-101B-9397-08002B2CF9AE}" pid="6" name="MSIP_Label_19e68092-05df-4271-8e3e-b2a4c82ba797_SiteId">
    <vt:lpwstr>5280104a-472d-4538-9ccf-1e1d0efe8b1b</vt:lpwstr>
  </property>
  <property fmtid="{D5CDD505-2E9C-101B-9397-08002B2CF9AE}" pid="7" name="MSIP_Label_19e68092-05df-4271-8e3e-b2a4c82ba797_ActionId">
    <vt:lpwstr>4edbd1a0-5053-4f54-94fb-4d3b35342f4e</vt:lpwstr>
  </property>
  <property fmtid="{D5CDD505-2E9C-101B-9397-08002B2CF9AE}" pid="8" name="MSIP_Label_19e68092-05df-4271-8e3e-b2a4c82ba797_ContentBits">
    <vt:lpwstr>0</vt:lpwstr>
  </property>
  <property fmtid="{D5CDD505-2E9C-101B-9397-08002B2CF9AE}" pid="9" name="MSIP_Label_19e68092-05df-4271-8e3e-b2a4c82ba797_Tag">
    <vt:lpwstr>50, 3, 0, 1</vt:lpwstr>
  </property>
</Properties>
</file>