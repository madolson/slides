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8.svg" ContentType="image/svg+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5"/>
  </p:notesMasterIdLst>
  <p:handoutMasterIdLst>
    <p:handoutMasterId r:id="rId46"/>
  </p:handoutMasterIdLst>
  <p:sldIdLst>
    <p:sldId id="256" r:id="rId15"/>
    <p:sldId id="257" r:id="rId16"/>
    <p:sldId id="258" r:id="rId17"/>
    <p:sldId id="259" r:id="rId18"/>
    <p:sldId id="260" r:id="rId19"/>
    <p:sldId id="261" r:id="rId20"/>
    <p:sldId id="262" r:id="rId21"/>
    <p:sldId id="263" r:id="rId22"/>
    <p:sldId id="264" r:id="rId23"/>
    <p:sldId id="265" r:id="rId24"/>
    <p:sldId id="266" r:id="rId25"/>
    <p:sldId id="267" r:id="rId26"/>
    <p:sldId id="268" r:id="rId27"/>
    <p:sldId id="269" r:id="rId28"/>
    <p:sldId id="270" r:id="rId29"/>
    <p:sldId id="271" r:id="rId30"/>
    <p:sldId id="272" r:id="rId31"/>
    <p:sldId id="273" r:id="rId32"/>
    <p:sldId id="274" r:id="rId33"/>
    <p:sldId id="275" r:id="rId34"/>
    <p:sldId id="276" r:id="rId35"/>
    <p:sldId id="277" r:id="rId36"/>
    <p:sldId id="278" r:id="rId37"/>
    <p:sldId id="279" r:id="rId38"/>
    <p:sldId id="280" r:id="rId39"/>
    <p:sldId id="281" r:id="rId40"/>
    <p:sldId id="282" r:id="rId41"/>
    <p:sldId id="283" r:id="rId42"/>
    <p:sldId id="284" r:id="rId43"/>
    <p:sldId id="285" r:id="rId44"/>
    <p:sldId id="286" r:id="rId14"/>
    <p:sldId id="287" r:id="rId13"/>
    <p:sldId id="288" r:id="rId12"/>
    <p:sldId id="289" r:id="rId11"/>
    <p:sldId id="290" r:id="rId10"/>
    <p:sldId id="291" r:id="rId9"/>
    <p:sldId id="292" r:id="rId8"/>
    <p:sldId id="293" r:id="rId7"/>
    <p:sldId id="294" r:id="rId53"/>
    <p:sldId id="295" r:id="rId54"/>
  </p:sldIdLst>
  <p:sldSz cx="12192000" cy="6858000"/>
  <p:notesSz cx="6858000" cy="9144000"/>
  <p:embeddedFontLst>
    <p:embeddedFont>
      <p:font typeface="Arial" panose="020B0502020202020204" pitchFamily="34" charset="0"/>
      <p:regular r:id="rId47"/>
      <p:bold r:id="rId48"/>
      <p:italic r:id="rId49"/>
      <p:boldItalic r:id="rId50"/>
    </p:embeddedFont>
    <p:embeddedFont>
      <p:font typeface="Arial"/>
      <p:regular r:id="rId51"/>
      <p:bold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Opening" id="{71C13CDF-F838-59AB-B102-5A5AA2189C5B}">
          <p14:sldIdLst>
            <p14:sldId id="256"/>
            <p14:sldId id="257"/>
            <p14:sldId id="258"/>
            <p14:sldId id="259"/>
            <p14:sldId id="260"/>
            <p14:sldId id="261"/>
          </p14:sldIdLst>
        </p14:section>
        <p14:section name="Act 1: CVEs aren't so special anymore" id="{4DF7F1DB-50D0-5780-8086-2B5CA0D782FE}">
          <p14:sldIdLst>
            <p14:sldId id="262"/>
            <p14:sldId id="263"/>
            <p14:sldId id="264"/>
            <p14:sldId id="265"/>
            <p14:sldId id="266"/>
            <p14:sldId id="267"/>
            <p14:sldId id="268"/>
            <p14:sldId id="269"/>
          </p14:sldIdLst>
        </p14:section>
        <p14:section name="Act 2: Find bugs before they do" id="{A43C24E4-73C9-5F77-B70B-A7838E2C81F5}">
          <p14:sldIdLst>
            <p14:sldId id="270"/>
            <p14:sldId id="271"/>
            <p14:sldId id="272"/>
            <p14:sldId id="273"/>
            <p14:sldId id="274"/>
            <p14:sldId id="275"/>
            <p14:sldId id="276"/>
            <p14:sldId id="277"/>
            <p14:sldId id="278"/>
            <p14:sldId id="279"/>
            <p14:sldId id="280"/>
            <p14:sldId id="281"/>
            <p14:sldId id="282"/>
            <p14:sldId id="283"/>
            <p14:sldId id="284"/>
          </p14:sldIdLst>
        </p14:section>
        <p14:section name="Act 3: React fast" id="{D2643FCE-CC29-5192-A265-EC150DB74EE8}">
          <p14:sldIdLst>
            <p14:sldId id="285"/>
            <p14:sldId id="286"/>
            <p14:sldId id="287"/>
            <p14:sldId id="288"/>
            <p14:sldId id="289"/>
            <p14:sldId id="290"/>
            <p14:sldId id="291"/>
          </p14:sldIdLst>
        </p14:section>
        <p14:section name="Close" id="{76585A84-3A85-5ACF-9ADD-D8925126EC93}">
          <p14:sldIdLst>
            <p14:sldId id="292"/>
            <p14:sldId id="293"/>
            <p14:sldId id="294"/>
            <p14:sldId id="295"/>
          </p14:sldIdLst>
        </p14:section>
      </p14:sectionLst>
    </p:ex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6" roundtripDataSignature="AMtx7mgBjwdw4Z9xz+EjAItyouivSXpbzw=="/>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030"/>
    <p:restoredTop sz="87225"/>
  </p:normalViewPr>
  <p:slideViewPr>
    <p:cSldViewPr snapToGrid="0">
      <p:cViewPr varScale="1">
        <p:scale>
          <a:sx n="68" d="100"/>
          <a:sy n="68" d="100"/>
        </p:scale>
        <p:origin x="232" y="2848"/>
      </p:cViewPr>
      <p:guideLst/>
    </p:cSldViewPr>
  </p:slideViewPr>
  <p:notesTextViewPr>
    <p:cViewPr>
      <p:scale>
        <a:sx n="1" d="1"/>
        <a:sy n="1" d="1"/>
      </p:scale>
      <p:origin x="0" y="0"/>
    </p:cViewPr>
  </p:notesTextViewPr>
  <p:notesViewPr>
    <p:cSldViewPr snapToGrid="0">
      <p:cViewPr varScale="1">
        <p:scale>
          <a:sx n="165" d="100"/>
          <a:sy n="165" d="100"/>
        </p:scale>
        <p:origin x="5296" y="21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38.xml"/><Relationship Id="rId8" Type="http://schemas.openxmlformats.org/officeDocument/2006/relationships/slide" Target="slides/slide37.xml"/><Relationship Id="rId9" Type="http://schemas.openxmlformats.org/officeDocument/2006/relationships/slide" Target="slides/slide36.xml"/><Relationship Id="rId10" Type="http://schemas.openxmlformats.org/officeDocument/2006/relationships/slide" Target="slides/slide35.xml"/><Relationship Id="rId11" Type="http://schemas.openxmlformats.org/officeDocument/2006/relationships/slide" Target="slides/slide34.xml"/><Relationship Id="rId12" Type="http://schemas.openxmlformats.org/officeDocument/2006/relationships/slide" Target="slides/slide33.xml"/><Relationship Id="rId13" Type="http://schemas.openxmlformats.org/officeDocument/2006/relationships/slide" Target="slides/slide32.xml"/><Relationship Id="rId14" Type="http://schemas.openxmlformats.org/officeDocument/2006/relationships/slide" Target="slides/slide31.xml"/><Relationship Id="rId15" Type="http://schemas.openxmlformats.org/officeDocument/2006/relationships/slide" Target="slides/slide1.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slide" Target="slides/slide10.xml"/><Relationship Id="rId25" Type="http://schemas.openxmlformats.org/officeDocument/2006/relationships/slide" Target="slides/slide11.xml"/><Relationship Id="rId26" Type="http://schemas.openxmlformats.org/officeDocument/2006/relationships/slide" Target="slides/slide12.xml"/><Relationship Id="rId27" Type="http://schemas.openxmlformats.org/officeDocument/2006/relationships/slide" Target="slides/slide13.xml"/><Relationship Id="rId28" Type="http://schemas.openxmlformats.org/officeDocument/2006/relationships/slide" Target="slides/slide14.xml"/><Relationship Id="rId29" Type="http://schemas.openxmlformats.org/officeDocument/2006/relationships/slide" Target="slides/slide15.xml"/><Relationship Id="rId30" Type="http://schemas.openxmlformats.org/officeDocument/2006/relationships/slide" Target="slides/slide16.xml"/><Relationship Id="rId31" Type="http://schemas.openxmlformats.org/officeDocument/2006/relationships/slide" Target="slides/slide17.xml"/><Relationship Id="rId32" Type="http://schemas.openxmlformats.org/officeDocument/2006/relationships/slide" Target="slides/slide18.xml"/><Relationship Id="rId33" Type="http://schemas.openxmlformats.org/officeDocument/2006/relationships/slide" Target="slides/slide19.xml"/><Relationship Id="rId34" Type="http://schemas.openxmlformats.org/officeDocument/2006/relationships/slide" Target="slides/slide20.xml"/><Relationship Id="rId35" Type="http://schemas.openxmlformats.org/officeDocument/2006/relationships/slide" Target="slides/slide21.xml"/><Relationship Id="rId36" Type="http://schemas.openxmlformats.org/officeDocument/2006/relationships/slide" Target="slides/slide22.xml"/><Relationship Id="rId37" Type="http://schemas.openxmlformats.org/officeDocument/2006/relationships/slide" Target="slides/slide23.xml"/><Relationship Id="rId38" Type="http://schemas.openxmlformats.org/officeDocument/2006/relationships/slide" Target="slides/slide24.xml"/><Relationship Id="rId39" Type="http://schemas.openxmlformats.org/officeDocument/2006/relationships/slide" Target="slides/slide25.xml"/><Relationship Id="rId40" Type="http://schemas.openxmlformats.org/officeDocument/2006/relationships/slide" Target="slides/slide26.xml"/><Relationship Id="rId41" Type="http://schemas.openxmlformats.org/officeDocument/2006/relationships/slide" Target="slides/slide27.xml"/><Relationship Id="rId42" Type="http://schemas.openxmlformats.org/officeDocument/2006/relationships/slide" Target="slides/slide28.xml"/><Relationship Id="rId43" Type="http://schemas.openxmlformats.org/officeDocument/2006/relationships/slide" Target="slides/slide29.xml"/><Relationship Id="rId44" Type="http://schemas.openxmlformats.org/officeDocument/2006/relationships/slide" Target="slides/slide30.xml"/><Relationship Id="rId45" Type="http://schemas.openxmlformats.org/officeDocument/2006/relationships/notesMaster" Target="notesMasters/notesMaster1.xml"/><Relationship Id="rId46" Type="http://schemas.openxmlformats.org/officeDocument/2006/relationships/handoutMaster" Target="handoutMasters/handoutMaster1.xml"/><Relationship Id="rId47" Type="http://schemas.openxmlformats.org/officeDocument/2006/relationships/font" Target="fonts/font1.fntdata"/><Relationship Id="rId48" Type="http://schemas.openxmlformats.org/officeDocument/2006/relationships/font" Target="fonts/font2.fntdata"/><Relationship Id="rId49" Type="http://schemas.openxmlformats.org/officeDocument/2006/relationships/font" Target="fonts/font3.fntdata"/><Relationship Id="rId50" Type="http://schemas.openxmlformats.org/officeDocument/2006/relationships/font" Target="fonts/font4.fntdata"/><Relationship Id="rId51" Type="http://schemas.openxmlformats.org/officeDocument/2006/relationships/font" Target="fonts/font5.fntdata"/><Relationship Id="rId52" Type="http://schemas.openxmlformats.org/officeDocument/2006/relationships/font" Target="fonts/font6.fntdata"/><Relationship Id="rId53" Type="http://schemas.openxmlformats.org/officeDocument/2006/relationships/slide" Target="slides/slide39.xml"/><Relationship Id="rId54" Type="http://schemas.openxmlformats.org/officeDocument/2006/relationships/slide" Target="slides/slide40.xml"/><Relationship Id="rId56" Type="http://customschemas.google.com/relationships/presentationmetadata" Target="metadata"/><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advisories</c:v>
                </c:pt>
              </c:strCache>
            </c:strRef>
          </c:tx>
          <c:dPt>
            <c:idx val="0"/>
            <c:spPr>
              <a:solidFill>
                <a:schemeClr val="accent5"/>
              </a:solidFill>
            </c:spPr>
          </c:dPt>
          <c:dPt>
            <c:idx val="1"/>
            <c:spPr>
              <a:solidFill>
                <a:schemeClr val="accent5"/>
              </a:solidFill>
            </c:spPr>
          </c:dPt>
          <c:dPt>
            <c:idx val="2"/>
            <c:spPr>
              <a:solidFill>
                <a:schemeClr val="accent1"/>
              </a:solidFill>
            </c:spPr>
          </c:dPt>
          <c:cat>
            <c:strRef>
              <c:f>Sheet1!$A$2:$A$4</c:f>
              <c:strCache>
                <c:ptCount val="3"/>
                <c:pt idx="0">
                  <c:v>2024</c:v>
                </c:pt>
                <c:pt idx="1">
                  <c:v>2025</c:v>
                </c:pt>
                <c:pt idx="2">
                  <c:v>2026</c:v>
                </c:pt>
              </c:strCache>
            </c:strRef>
          </c:cat>
          <c:val>
            <c:numRef>
              <c:f>Sheet1!$B$2:$B$4</c:f>
              <c:numCache>
                <c:formatCode>General</c:formatCode>
                <c:ptCount val="3"/>
                <c:pt idx="0">
                  <c:v>3</c:v>
                </c:pt>
                <c:pt idx="1">
                  <c:v>2</c:v>
                </c:pt>
                <c:pt idx="2">
                  <c:v>7</c:v>
                </c:pt>
              </c:numCache>
            </c:numRef>
          </c:val>
        </c:ser>
        <c:dLbls>
          <c:numFmt formatCode="0" sourceLinked="0"/>
          <c:txPr>
            <a:bodyPr/>
            <a:lstStyle/>
            <a:p>
              <a:pPr>
                <a:defRPr sz="2800" b="1"/>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chemeClr val="dk2"/>
            </a:solidFill>
          </a:ln>
        </c:spPr>
        <c:crossAx val="-2113994440"/>
        <c:crosses val="autoZero"/>
        <c:auto val="1"/>
        <c:lblAlgn val="ctr"/>
        <c:lblOffset val="100"/>
        <c:noMultiLvlLbl val="0"/>
      </c:catAx>
      <c:valAx>
        <c:axId val="-2113994440"/>
        <c:scaling>
          <c:min val="0.0"/>
        </c:scaling>
        <c:delete/>
        <c:axPos val="l"/>
        <c:majorTickMark val="out"/>
        <c:minorTickMark val="none"/>
        <c:tickLblPos val="nextTo"/>
        <c:crossAx val="-2068027336"/>
        <c:crosses val="autoZero"/>
      </c:valAx>
    </c:plotArea>
    <c:dispBlanksAs val="gap"/>
  </c:chart>
  <c:txPr>
    <a:bodyPr/>
    <a:lstStyle/>
    <a:p>
      <a:pPr>
        <a:defRPr sz="2000">
          <a:latin typeface="Aria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60A7F18-A111-AB6A-97B8-B13BD21983D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E721FC1-A360-DBB8-0D4E-F8382AEAEE4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A8BFF4-3DC3-D34C-B801-A1856919C1BB}" type="datetimeFigureOut">
              <a:rPr lang="en-US" smtClean="0"/>
              <a:t>5/22/26</a:t>
            </a:fld>
            <a:endParaRPr lang="en-US"/>
          </a:p>
        </p:txBody>
      </p:sp>
      <p:sp>
        <p:nvSpPr>
          <p:cNvPr id="4" name="Footer Placeholder 3">
            <a:extLst>
              <a:ext uri="{FF2B5EF4-FFF2-40B4-BE49-F238E27FC236}">
                <a16:creationId xmlns:a16="http://schemas.microsoft.com/office/drawing/2014/main" id="{23CAE0C6-45D2-84B2-2F94-5D3078BB1BB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B69EAEC-8756-8E23-D948-BCAD92B39E9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4A76D86-3DF6-9345-A4E1-DF218D7231BC}" type="slidenum">
              <a:rPr lang="en-US" smtClean="0"/>
              <a:t>‹#›</a:t>
            </a:fld>
            <a:endParaRPr lang="en-US"/>
          </a:p>
        </p:txBody>
      </p:sp>
    </p:spTree>
    <p:extLst>
      <p:ext uri="{BB962C8B-B14F-4D97-AF65-F5344CB8AC3E}">
        <p14:creationId xmlns:p14="http://schemas.microsoft.com/office/powerpoint/2010/main" val="13043166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304800" algn="l" rtl="0">
              <a:spcBef>
                <a:spcPts val="3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spcBef>
                <a:spcPts val="3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spcBef>
                <a:spcPts val="3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spcBef>
                <a:spcPts val="3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228600" algn="l" rtl="0">
              <a:spcBef>
                <a:spcPts val="30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en-US" sz="1000" b="0" i="0" u="none" strike="noStrike" cap="none">
                <a:solidFill>
                  <a:schemeClr val="dk1"/>
                </a:solidFill>
                <a:latin typeface="Arial"/>
                <a:ea typeface="Arial"/>
                <a:cs typeface="Arial"/>
                <a:sym typeface="Arial"/>
              </a:rPr>
              <a:t>‹#›</a:t>
            </a:fld>
            <a:endParaRPr sz="10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extLst>
    <p:ext uri="{620B2872-D7B9-4A21-9093-7833F8D536E1}">
      <p15:sldGuideLst xmlns:p15="http://schemas.microsoft.com/office/powerpoint/2012/main">
        <p15:guide id="1" pos="2160">
          <p15:clr>
            <a:srgbClr val="F26B43"/>
          </p15:clr>
        </p15:guide>
        <p15:guide id="2" orient="horz" pos="2880">
          <p15:clr>
            <a:srgbClr val="F26B43"/>
          </p15:clr>
        </p15:guide>
        <p15:guide id="3" pos="264">
          <p15:clr>
            <a:srgbClr val="F26B43"/>
          </p15:clr>
        </p15:guide>
        <p15:guide id="4" pos="4056">
          <p15:clr>
            <a:srgbClr val="F26B43"/>
          </p15:clr>
        </p15:guide>
        <p15:guide id="5" orient="horz" pos="288">
          <p15:clr>
            <a:srgbClr val="F26B43"/>
          </p15:clr>
        </p15:guide>
        <p15:guide id="6" orient="horz" pos="2640">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year has been very interesting for all the open source projects in terms of security. Tsunami of CVE requests hitting the maintainers constantly. I, Harkrishn Patro, Valkey maintainer joined by Madelyn Olson, a Valkey maintainer as well. We’re here to talk about how we went about the onslaught of CVEs and came out of it stronger, better, faster.</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Your next security vulnerability could be just a tweet, It might not go through the security workflow you had designed.</a:t>
            </a:r>
          </a:p>
          <a:p>
            <a:r>
              <a:t>A security researcher discovered a vulnerability using agents and published a proof of concept all under 30 minutes.</a:t>
            </a:r>
          </a:p>
          <a:p>
            <a:r>
              <a:t>Both the attackers and defenders updated at the same time.</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And it’s not just that. We’ve observed a increase in advisory in Valkey this year. GitHub published more security advisories this year than the combined advisories from the last two years.</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has been the theme of this year. A never ending stream of CVE requests by security researchers.</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Three researchers who didn't know about each other reported the same use-after-free in the script debugger, all inside two weeks. Finding bugs is real cheap now. What follows next is expensive.</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Finding is the only step a model made cheap. Every step after it is maintainer judgement or coordination, and none of them scale with the number of reports.</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thesis of the act. If every crash gets a CVE, the ones that matter drown in the noise, for us and for every operator reading advisories.</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Below the line is what an authenticated client can already do. Above it is what crosses a permission boundary. Out-of-bounds reads cross the line because the leaked bytes can belong to another client. We’re raising the bar for what counts as a CVE.</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Prior to this surge anything touching availability, confidentiality, or integrity got an advisory. We are more careful going forward with assigning a CVE to a vulnerability.</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Clients talk to every node on the client port. Nodes talk to each other on the cluster bus, over a different port. The nodes exchange messages between them. It blindly trusts all incoming traffic on this port, there is no application level authentication over the link. It’s the operator’s responsibility to secure it. The connections are to be secured behind private networks or use mutual TLS.</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An attacker who can reach the bus can already hijack slots, so a crash there gives them nothing new.</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default embargo used to be 30 days, that’s too long in the current generation. As I mentioned 3 requests had the same vulnerability discovered all within two weeks. So, we need to get the patch out sooner to users to secure their system</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And to get more hands to help with some of the steps after finding the bugs, we have expanded the trusted set of people beyond the maintainers and formed a new security group.</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AI threat generation proposes candidate bugs, then AI review argues against each. Most die at verification: the first model misread the code, or the impact is trivial. The harness is deterministic: crash, ASAN failure, replica desync. If the harness can't tell, the model can't prove it.</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AI threat generation proposes candidate bugs, then AI review argues against each. Most die at verification: the first model misread the code, or the impact is trivial. The harness is deterministic: crash, ASAN failure, replica desync. If the harness can't tell, the model can't prove it.</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AI threat generation proposes candidate bugs, then AI review argues against each. Most die at verification: the first model misread the code, or the impact is trivial. The harness is deterministic: crash, ASAN failure, replica desync. If the harness can't tell, the model can't prove it.</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AI threat generation proposes candidate bugs, then AI review argues against each. Most die at verification: the first model misread the code, or the impact is trivial. The harness is deterministic: crash, ASAN failure, replica desync. If the harness can't tell, the model can't prove it.</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Audits run periodically on several frontier models. Goal is before every release.</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listIter caches the next node. tlsHandleEvent can run CLIENT KILL -&gt; freeClient -&gt; connTLSClose -&gt; listDelNode, freeing that cached node. The next listNext() reads freed memory.</a:t>
            </a:r>
          </a:p>
          <a:p/>
          <a:p>
            <a:r>
              <a:t>The fix pops each connection off the head before handling it, bounded by the length captured on entry. Commit "Fix use-after-free in tlsProcessPendingData() on CLIENT KILL (#4234)", GHSA-53mc-f3m3-99vh.</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TLS can decrypt more than one command's worth of data, so connections with unread data go on a list walked once per event loop pass. The walk holds a pointer to the next connection.</a:t>
            </a:r>
          </a:p>
          <a:p/>
          <a:p>
            <a:r>
              <a:t>The freed object is one the server calls through, so attacker bytes there plausibly mean code execution. That's why it's a CVE under Act 1's rule.</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TLS can decrypt more than one command's worth of data, so connections with unread data go on a list walked once per event loop pass. The walk holds a pointer to the next connection.</a:t>
            </a:r>
          </a:p>
          <a:p/>
          <a:p>
            <a:r>
              <a:t>The freed object is one the server calls through, so attacker bytes there plausibly mean code execution. That's why it's a CVE under Act 1's rule.</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TLS can decrypt more than one command's worth of data, so connections with unread data go on a list walked once per event loop pass. The walk holds a pointer to the next connection.</a:t>
            </a:r>
          </a:p>
          <a:p/>
          <a:p>
            <a:r>
              <a:t>The freed object is one the server calls through, so attacker bytes there plausibly mean code execution. That's why it's a CVE under Act 1's rule.</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TLS can decrypt more than one command's worth of data, so connections with unread data go on a list walked once per event loop pass. The walk holds a pointer to the next connection.</a:t>
            </a:r>
          </a:p>
          <a:p/>
          <a:p>
            <a:r>
              <a:t>The freed object is one the server calls through, so attacker bytes there plausibly mean code execution. That's why it's a CVE under Act 1's rule.</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Someone is going to ask. Memory-safe languages are the obvious answer to a use-after-free, so take the question head on.</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Same loop as the C. handle_event needs &amp;mut server because it can remove from the list, and the iterator already holds a borrow of it. Checked with rustc --edition 2021; the error is real output, wrapped to fit.</a:t>
            </a:r>
          </a:p>
          <a:p/>
          <a:p>
            <a:r>
              <a:t>The version that compiles is the shape of the C fix: pop_front() each connection, bounded by the length on entry. The compiler forces the fix that took us a CVE to find.</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Same loop as the C. handle_event needs &amp;mut server because it can remove from the list, and the iterator already holds a borrow of it. Checked with rustc --edition 2021; the error is real output, wrapped to fit.</a:t>
            </a:r>
          </a:p>
          <a:p/>
          <a:p>
            <a:r>
              <a:t>The version that compiles is the shape of the C fix: pop_front() each connection, bounded by the length on entry. The compiler forces the fix that took us a CVE to find.</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TLS bug was a use after free, and safe Rust won't compile it. Out-of-bounds access is checked at runtime: it becomes a panic, so no leaked bytes, but still a crash. Panics, hangs, and a permission check in the wrong place all still ship.</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Triage is codified as prompts, per the Valkey blog. AI reproduces the report against the target build and sorts it with the Act 1 rule before a maintainer spends time on it. Only advisories go to the maintainer queue as security work.</a:t>
            </a:r>
          </a:p>
          <a:p/>
          <a:p>
            <a:r>
              <a:t>TODO: confirm the triage steps and outcomes with how Valkey actually runs it.</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Anthropic: the Cyber Verification Program, expanded 6 October 2026. For security teams, critical infrastructure operators, open-source maintainers, red teams and pen-testers. Vetted defenders get Opus 5.5, Sonnet 5.5 and Mythos 5.1 with fewer cyber blocks, in three tiers: Defense Access, Red Team Access, Specialized Access. anthropic.com/news/cyber-verification-program</a:t>
            </a:r>
          </a:p>
          <a:p/>
          <a:p>
            <a:r>
              <a:t>OpenAI: Trusted Access for Cyber, 5 February 2026. An identity and trust-based framework for access to its most cyber-capable models, with $10M in API credits and the Cybersecurity Grant Program.</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Triage and release steps are codified as prompts. Goal is a zero-day fix shipped the same day.</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TLS fix, #4234, merged to unstable at 16:03 UTC on 21 July. The valkey-ci-agent bot opened backport sweeps from 16:05. All five release branches had it merged by 17:15. The same bot opened release-note PRs for 7.2.14, 8.0.10, 8.1.9, 9.0.5 and 9.1.1, all merged by 23:39. One fix, five releases, one day.</a:t>
            </a:r>
          </a:p>
          <a:p/>
          <a:p>
            <a:r>
              <a:t>7.2 needed an adapted fix: it lacks a flag the fix uses. The bot kept the security change, dropped the part that didn't apply, and flagged it for review on #4242.</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Blue is automation, rose is a person. Bots opened the backport sweeps and the release-note PRs for 7.2.14, 8.0.10, 8.1.9, 9.0.5 and 9.1.1. A maintainer published the five releases between 21:35 and 23:41. Each publish triggered the release automation: hashes updated within a minute, and container and website PRs opened, all merged by 00:08 on 22 July.</a:t>
            </a:r>
          </a:p>
          <a:p/>
          <a:p>
            <a:r>
              <a:t>Fix merged to five releases published: 7 hours 38 minutes.</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Automation writes the backport. A person is accountable for it, more so in a security release.</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Operators: stay on current patches and make consuming updates routine; follow the hardening guide. Researchers: email security@lists.valkey.io with a reproducer against the target build, ideally with a fix. Maintainers: build the harness, write the policy, automate the backports.</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Plan for it. Every process in this talk is built on that assumption. Getting these tools to maintainers is what keeps open source secure.</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QR goes to the security post, which links the hardening guide.</a:t>
            </a:r>
          </a:p>
        </p:txBody>
      </p:sp>
      <p:sp>
        <p:nvSpPr>
          <p:cNvPr id="4" name="Slide Number Placeholder 3"/>
          <p:cNvSpPr>
            <a:spLocks noGrp="1"/>
          </p:cNvSpPr>
          <p:nvPr>
            <p:ph type="sldNum" idx="12"/>
          </p:nvPr>
        </p:nvSpPr>
        <p:spPr/>
      </p:sp>
    </p:spTree>
  </p:cSld>
  <p:clrMapOvr>
    <a:masterClrMapping/>
  </p:clrMapOvr>
</p:note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7.png"/><Relationship Id="rId4" Type="http://schemas.openxmlformats.org/officeDocument/2006/relationships/image" Target="../media/image8.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image" Target="../media/image15.png"/><Relationship Id="rId5" Type="http://schemas.openxmlformats.org/officeDocument/2006/relationships/image" Target="../media/image16.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image" Target="../media/image19.png"/><Relationship Id="rId5" Type="http://schemas.openxmlformats.org/officeDocument/2006/relationships/image" Target="../media/image20.svg"/><Relationship Id="rId6" Type="http://schemas.openxmlformats.org/officeDocument/2006/relationships/image" Target="../media/image21.png"/><Relationship Id="rId7" Type="http://schemas.openxmlformats.org/officeDocument/2006/relationships/image" Target="../media/image22.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s>
</file>

<file path=ppt/slideLayouts/slideLayout16.xml><?xml version="1.0" encoding="utf-8"?>
<p:sldLayout xmlns:p="http://schemas.openxmlformats.org/presentationml/2006/main" xmlns:a="http://schemas.openxmlformats.org/drawingml/2006/main" xmlns:r="http://schemas.openxmlformats.org/officeDocument/2006/relationships" type="cust" preserve="1">
  <p:cSld name="Valkey Title Only">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609600" y="400019"/>
            <a:ext cx="11062800" cy="443198"/>
          </a:xfrm>
          <a:prstGeom prst="rect">
            <a:avLst/>
          </a:prstGeom>
        </p:spPr>
        <p:txBody>
          <a:bodyPr wrap="square" lIns="0" tIns="0" rIns="0" bIns="0" anchor="ctr">
            <a:normAutofit/>
          </a:bodyPr>
          <a:lstStyle>
            <a:lvl1pPr algn="l" marL="0" indent="0">
              <a:buNone/>
              <a:defRPr sz="3200" b="1" i="0">
                <a:solidFill>
                  <a:schemeClr val="dk1"/>
                </a:solidFill>
                <a:latin typeface="Arial"/>
              </a:defRPr>
            </a:lvl1pPr>
          </a:lstStyle>
          <a:p>
            <a:r>
              <a:rPr lang="en-US" dirty="0"/>
              <a:t>Title is an assertion, not a label</a:t>
            </a:r>
          </a:p>
        </p:txBody>
      </p:sp>
    </p:spTree>
  </p:cSld>
  <p:clrMapOvr>
    <a:masterClrMapping/>
  </p:clrMapOvr>
</p:sldLayout>
</file>

<file path=ppt/slideLayouts/slideLayout17.xml><?xml version="1.0" encoding="utf-8"?>
<p:sldLayout xmlns:p="http://schemas.openxmlformats.org/presentationml/2006/main" xmlns:a="http://schemas.openxmlformats.org/drawingml/2006/main" xmlns:r="http://schemas.openxmlformats.org/officeDocument/2006/relationships" type="cust" preserve="1">
  <p:cSld name="Valkey Title Band">
    <p:spTree>
      <p:nvGrpSpPr>
        <p:cNvPr id="1" name=""/>
        <p:cNvGrpSpPr/>
        <p:nvPr/>
      </p:nvGrpSpPr>
      <p:grpSpPr>
        <a:xfrm>
          <a:off x="0" y="0"/>
          <a:ext cx="0" cy="0"/>
          <a:chOff x="0" y="0"/>
          <a:chExt cx="0" cy="0"/>
        </a:xfrm>
      </p:grpSpPr>
      <p:pic>
        <p:nvPicPr>
          <p:cNvPr id="2" name="Picture 1" descr="band-security-shield-clean.jpg"/>
          <p:cNvPicPr>
            <a:picLocks noChangeAspect="1"/>
          </p:cNvPicPr>
          <p:nvPr/>
        </p:nvPicPr>
        <p:blipFill>
          <a:blip r:embed="rId2"/>
          <a:stretch>
            <a:fillRect/>
          </a:stretch>
        </p:blipFill>
        <p:spPr>
          <a:xfrm>
            <a:off x="8077200" y="0"/>
            <a:ext cx="4114800" cy="6858000"/>
          </a:xfrm>
          <a:prstGeom prst="rect">
            <a:avLst/>
          </a:prstGeom>
        </p:spPr>
      </p:pic>
      <p:pic>
        <p:nvPicPr>
          <p:cNvPr id="3" name="valkey-stacked-white"/>
          <p:cNvPicPr>
            <a:picLocks noChangeAspect="1"/>
          </p:cNvPicPr>
          <p:nvPr/>
        </p:nvPicPr>
        <p:blipFill>
          <a:blip r:embed="rId3">
            <a:extLst>
              <a:ext uri="{96DAC541-7B7A-43D3-8B79-37D633B846F1}">
                <ns0:svgBlip xmlns:ns0="http://schemas.microsoft.com/office/drawing/2016/SVG/main" r:embed="rId4"/>
              </a:ext>
            </a:extLst>
          </a:blip>
          <a:stretch>
            <a:fillRect/>
          </a:stretch>
        </p:blipFill>
        <p:spPr>
          <a:xfrm>
            <a:off x="9204673" y="2628900"/>
            <a:ext cx="1859853" cy="1600200"/>
          </a:xfrm>
          <a:prstGeom prst="rect">
            <a:avLst/>
          </a:prstGeom>
        </p:spPr>
      </p:pic>
      <p:sp>
        <p:nvSpPr>
          <p:cNvPr id="4" name="Band image"/>
          <p:cNvSpPr>
            <a:spLocks noGrp="1"/>
          </p:cNvSpPr>
          <p:nvPr>
            <p:ph type="pic" idx="10" hasCustomPrompt="1"/>
          </p:nvPr>
        </p:nvSpPr>
        <p:spPr>
          <a:xfrm>
            <a:off x="8077200" y="0"/>
            <a:ext cx="4114800" cy="6858000"/>
          </a:xfrm>
          <a:prstGeom prst="rect">
            <a:avLst/>
          </a:prstGeom>
        </p:spPr>
        <p:txBody>
          <a:bodyPr wrap="square" lIns="0" tIns="0" rIns="0" bIns="0" anchor="t">
            <a:normAutofit/>
          </a:bodyPr>
          <a:lstStyle>
            <a:lvl1pPr algn="l" marL="0" indent="0">
              <a:buNone/>
              <a:defRPr sz="1400" b="0" i="0">
                <a:solidFill>
                  <a:schemeClr val="lt1"/>
                </a:solidFill>
                <a:latin typeface="Arial"/>
              </a:defRPr>
            </a:lvl1pPr>
          </a:lstStyle>
          <a:p>
            <a:r>
              <a:rPr lang="en-US" dirty="0"/>
              <a:t>Band image (optional)</a:t>
            </a:r>
          </a:p>
        </p:txBody>
      </p:sp>
      <p:sp>
        <p:nvSpPr>
          <p:cNvPr id="5" name="Title"/>
          <p:cNvSpPr>
            <a:spLocks noGrp="1"/>
          </p:cNvSpPr>
          <p:nvPr>
            <p:ph type="ctrTitle" hasCustomPrompt="1"/>
          </p:nvPr>
        </p:nvSpPr>
        <p:spPr>
          <a:xfrm>
            <a:off x="609600" y="2200000"/>
            <a:ext cx="6781800" cy="1117600"/>
          </a:xfrm>
          <a:prstGeom prst="rect">
            <a:avLst/>
          </a:prstGeom>
        </p:spPr>
        <p:txBody>
          <a:bodyPr wrap="square" lIns="0" tIns="0" rIns="0" bIns="0" anchor="t">
            <a:normAutofit/>
          </a:bodyPr>
          <a:lstStyle>
            <a:lvl1pPr algn="l" marL="0" indent="0">
              <a:lnSpc>
                <a:spcPct val="110000"/>
              </a:lnSpc>
              <a:buNone/>
              <a:defRPr sz="4000" b="1" i="0">
                <a:solidFill>
                  <a:schemeClr val="dk1"/>
                </a:solidFill>
                <a:latin typeface="Arial"/>
              </a:defRPr>
            </a:lvl1pPr>
          </a:lstStyle>
          <a:p>
            <a:r>
              <a:rPr lang="en-US" dirty="0"/>
              <a:t>Presentation title goes here</a:t>
            </a:r>
          </a:p>
        </p:txBody>
      </p:sp>
      <p:sp>
        <p:nvSpPr>
          <p:cNvPr id="6" name="Subtitle"/>
          <p:cNvSpPr>
            <a:spLocks noGrp="1"/>
          </p:cNvSpPr>
          <p:nvPr>
            <p:ph type="subTitle" idx="1" hasCustomPrompt="1"/>
          </p:nvPr>
        </p:nvSpPr>
        <p:spPr>
          <a:xfrm>
            <a:off x="609600" y="3447600"/>
            <a:ext cx="6781800" cy="400000"/>
          </a:xfrm>
          <a:prstGeom prst="rect">
            <a:avLst/>
          </a:prstGeom>
        </p:spPr>
        <p:txBody>
          <a:bodyPr wrap="square" lIns="0" tIns="0" rIns="0" bIns="0" anchor="t">
            <a:normAutofit/>
          </a:bodyPr>
          <a:lstStyle>
            <a:lvl1pPr algn="l" marL="0" indent="0">
              <a:buNone/>
              <a:defRPr sz="1800" b="0" i="0">
                <a:solidFill>
                  <a:schemeClr val="dk2"/>
                </a:solidFill>
                <a:latin typeface="Arial"/>
              </a:defRPr>
            </a:lvl1pPr>
          </a:lstStyle>
          <a:p>
            <a:r>
              <a:rPr lang="en-US" dirty="0"/>
              <a:t>A single line that sets up the talk</a:t>
            </a:r>
          </a:p>
        </p:txBody>
      </p:sp>
      <p:sp>
        <p:nvSpPr>
          <p:cNvPr id="7" name="Speaker 1"/>
          <p:cNvSpPr>
            <a:spLocks noGrp="1"/>
          </p:cNvSpPr>
          <p:nvPr>
            <p:ph type="body" idx="2" hasCustomPrompt="1"/>
          </p:nvPr>
        </p:nvSpPr>
        <p:spPr>
          <a:xfrm>
            <a:off x="609600" y="4017600"/>
            <a:ext cx="3290900" cy="300000"/>
          </a:xfrm>
          <a:prstGeom prst="rect">
            <a:avLst/>
          </a:prstGeom>
        </p:spPr>
        <p:txBody>
          <a:bodyPr wrap="square" lIns="0" tIns="0" rIns="0" bIns="0" anchor="t">
            <a:normAutofit/>
          </a:bodyPr>
          <a:lstStyle>
            <a:lvl1pPr algn="l" marL="0" indent="0">
              <a:buNone/>
              <a:defRPr sz="1600" b="1" i="0">
                <a:solidFill>
                  <a:schemeClr val="dk1"/>
                </a:solidFill>
                <a:latin typeface="Arial"/>
              </a:defRPr>
            </a:lvl1pPr>
          </a:lstStyle>
          <a:p>
            <a:r>
              <a:rPr lang="en-US" dirty="0"/>
              <a:t>Madelyn Olson</a:t>
            </a:r>
          </a:p>
        </p:txBody>
      </p:sp>
      <p:sp>
        <p:nvSpPr>
          <p:cNvPr id="8" name="Speaker 1 role"/>
          <p:cNvSpPr>
            <a:spLocks noGrp="1"/>
          </p:cNvSpPr>
          <p:nvPr>
            <p:ph type="body" idx="3" hasCustomPrompt="1"/>
          </p:nvPr>
        </p:nvSpPr>
        <p:spPr>
          <a:xfrm>
            <a:off x="609600" y="4347600"/>
            <a:ext cx="3290900" cy="300000"/>
          </a:xfrm>
          <a:prstGeom prst="rect">
            <a:avLst/>
          </a:prstGeom>
        </p:spPr>
        <p:txBody>
          <a:bodyPr wrap="square" lIns="0" tIns="0" rIns="0" bIns="0" anchor="t">
            <a:normAutofit/>
          </a:bodyPr>
          <a:lstStyle>
            <a:lvl1pPr algn="l" marL="0" indent="0">
              <a:buNone/>
              <a:defRPr sz="1300" b="0" i="0">
                <a:solidFill>
                  <a:schemeClr val="dk2"/>
                </a:solidFill>
                <a:latin typeface="Arial"/>
              </a:defRPr>
            </a:lvl1pPr>
          </a:lstStyle>
          <a:p>
            <a:r>
              <a:rPr lang="en-US" dirty="0"/>
              <a:t>Valkey Maintainer and Engineer</a:t>
            </a:r>
          </a:p>
        </p:txBody>
      </p:sp>
      <p:sp>
        <p:nvSpPr>
          <p:cNvPr id="9" name="Speaker 2"/>
          <p:cNvSpPr>
            <a:spLocks noGrp="1"/>
          </p:cNvSpPr>
          <p:nvPr>
            <p:ph type="body" idx="4" hasCustomPrompt="1"/>
          </p:nvPr>
        </p:nvSpPr>
        <p:spPr>
          <a:xfrm>
            <a:off x="4100500" y="4017600"/>
            <a:ext cx="3290900" cy="300000"/>
          </a:xfrm>
          <a:prstGeom prst="rect">
            <a:avLst/>
          </a:prstGeom>
        </p:spPr>
        <p:txBody>
          <a:bodyPr wrap="square" lIns="0" tIns="0" rIns="0" bIns="0" anchor="t">
            <a:normAutofit/>
          </a:bodyPr>
          <a:lstStyle>
            <a:lvl1pPr algn="l" marL="0" indent="0">
              <a:buNone/>
              <a:defRPr sz="1600" b="1" i="0">
                <a:solidFill>
                  <a:schemeClr val="dk1"/>
                </a:solidFill>
                <a:latin typeface="Arial"/>
              </a:defRPr>
            </a:lvl1pPr>
          </a:lstStyle>
          <a:p>
            <a:r>
              <a:rPr lang="en-US" dirty="0"/>
              <a:t>Second presenter</a:t>
            </a:r>
          </a:p>
        </p:txBody>
      </p:sp>
      <p:sp>
        <p:nvSpPr>
          <p:cNvPr id="10" name="Speaker 2 role"/>
          <p:cNvSpPr>
            <a:spLocks noGrp="1"/>
          </p:cNvSpPr>
          <p:nvPr>
            <p:ph type="body" idx="5" hasCustomPrompt="1"/>
          </p:nvPr>
        </p:nvSpPr>
        <p:spPr>
          <a:xfrm>
            <a:off x="4100500" y="4347600"/>
            <a:ext cx="3290900" cy="300000"/>
          </a:xfrm>
          <a:prstGeom prst="rect">
            <a:avLst/>
          </a:prstGeom>
        </p:spPr>
        <p:txBody>
          <a:bodyPr wrap="square" lIns="0" tIns="0" rIns="0" bIns="0" anchor="t">
            <a:normAutofit/>
          </a:bodyPr>
          <a:lstStyle>
            <a:lvl1pPr algn="l" marL="0" indent="0">
              <a:buNone/>
              <a:defRPr sz="1300" b="0" i="0">
                <a:solidFill>
                  <a:schemeClr val="dk2"/>
                </a:solidFill>
                <a:latin typeface="Arial"/>
              </a:defRPr>
            </a:lvl1pPr>
          </a:lstStyle>
          <a:p>
            <a:r>
              <a:rPr lang="en-US" dirty="0"/>
              <a:t>Role</a:t>
            </a:r>
          </a:p>
        </p:txBody>
      </p:sp>
    </p:spTree>
  </p:cSld>
  <p:clrMapOvr>
    <a:masterClrMapping/>
  </p:clrMapOvr>
</p:sldLayout>
</file>

<file path=ppt/slideLayouts/slideLayout18.xml><?xml version="1.0" encoding="utf-8"?>
<p:sldLayout xmlns:p="http://schemas.openxmlformats.org/presentationml/2006/main" xmlns:a="http://schemas.openxmlformats.org/drawingml/2006/main" xmlns:r="http://schemas.openxmlformats.org/officeDocument/2006/relationships" type="cust" preserve="1">
  <p:cSld name="Valkey Title Top Banner">
    <p:spTree>
      <p:nvGrpSpPr>
        <p:cNvPr id="1" name=""/>
        <p:cNvGrpSpPr/>
        <p:nvPr/>
      </p:nvGrpSpPr>
      <p:grpSpPr>
        <a:xfrm>
          <a:off x="0" y="0"/>
          <a:ext cx="0" cy="0"/>
          <a:chOff x="0" y="0"/>
          <a:chExt cx="0" cy="0"/>
        </a:xfrm>
      </p:grpSpPr>
      <p:sp>
        <p:nvSpPr>
          <p:cNvPr id="2" name="Rectangle 1"/>
          <p:cNvSpPr/>
          <p:nvPr/>
        </p:nvSpPr>
        <p:spPr>
          <a:xfrm>
            <a:off x="0" y="0"/>
            <a:ext cx="12192000" cy="182880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1828800"/>
            <a:ext cx="12192000"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valkey-horizontal-white"/>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9417792" y="548640"/>
            <a:ext cx="2164608" cy="731520"/>
          </a:xfrm>
          <a:prstGeom prst="rect">
            <a:avLst/>
          </a:prstGeom>
        </p:spPr>
      </p:pic>
      <p:sp>
        <p:nvSpPr>
          <p:cNvPr id="5" name="Title"/>
          <p:cNvSpPr>
            <a:spLocks noGrp="1"/>
          </p:cNvSpPr>
          <p:nvPr>
            <p:ph type="ctrTitle" hasCustomPrompt="1"/>
          </p:nvPr>
        </p:nvSpPr>
        <p:spPr>
          <a:xfrm>
            <a:off x="609600" y="2700000"/>
            <a:ext cx="9800000" cy="1600000"/>
          </a:xfrm>
          <a:prstGeom prst="rect">
            <a:avLst/>
          </a:prstGeom>
        </p:spPr>
        <p:txBody>
          <a:bodyPr wrap="square" lIns="0" tIns="0" rIns="0" bIns="0" anchor="t">
            <a:normAutofit/>
          </a:bodyPr>
          <a:lstStyle>
            <a:lvl1pPr algn="l" marL="0" indent="0">
              <a:lnSpc>
                <a:spcPct val="110000"/>
              </a:lnSpc>
              <a:buNone/>
              <a:defRPr sz="4400" b="1" i="0">
                <a:solidFill>
                  <a:schemeClr val="dk1"/>
                </a:solidFill>
                <a:latin typeface="Arial"/>
              </a:defRPr>
            </a:lvl1pPr>
          </a:lstStyle>
          <a:p>
            <a:r>
              <a:rPr lang="en-US" dirty="0"/>
              <a:t>Presentation title goes here</a:t>
            </a:r>
          </a:p>
        </p:txBody>
      </p:sp>
      <p:sp>
        <p:nvSpPr>
          <p:cNvPr id="6" name="Subtitle"/>
          <p:cNvSpPr>
            <a:spLocks noGrp="1"/>
          </p:cNvSpPr>
          <p:nvPr>
            <p:ph type="subTitle" idx="1" hasCustomPrompt="1"/>
          </p:nvPr>
        </p:nvSpPr>
        <p:spPr>
          <a:xfrm>
            <a:off x="609600" y="3700000"/>
            <a:ext cx="9800000" cy="400000"/>
          </a:xfrm>
          <a:prstGeom prst="rect">
            <a:avLst/>
          </a:prstGeom>
        </p:spPr>
        <p:txBody>
          <a:bodyPr wrap="square" lIns="0" tIns="0" rIns="0" bIns="0" anchor="t">
            <a:normAutofit/>
          </a:bodyPr>
          <a:lstStyle>
            <a:lvl1pPr algn="l" marL="0" indent="0">
              <a:buNone/>
              <a:defRPr sz="1800" b="0" i="0">
                <a:solidFill>
                  <a:schemeClr val="dk2"/>
                </a:solidFill>
                <a:latin typeface="Arial"/>
              </a:defRPr>
            </a:lvl1pPr>
          </a:lstStyle>
          <a:p>
            <a:r>
              <a:rPr lang="en-US" dirty="0"/>
              <a:t>A single line that sets up the talk</a:t>
            </a:r>
          </a:p>
        </p:txBody>
      </p:sp>
      <p:sp>
        <p:nvSpPr>
          <p:cNvPr id="7" name="Speaker"/>
          <p:cNvSpPr>
            <a:spLocks noGrp="1"/>
          </p:cNvSpPr>
          <p:nvPr>
            <p:ph type="body" idx="2" hasCustomPrompt="1"/>
          </p:nvPr>
        </p:nvSpPr>
        <p:spPr>
          <a:xfrm>
            <a:off x="609600" y="4600000"/>
            <a:ext cx="5000000" cy="300000"/>
          </a:xfrm>
          <a:prstGeom prst="rect">
            <a:avLst/>
          </a:prstGeom>
        </p:spPr>
        <p:txBody>
          <a:bodyPr wrap="square" lIns="0" tIns="0" rIns="0" bIns="0" anchor="t">
            <a:normAutofit/>
          </a:bodyPr>
          <a:lstStyle>
            <a:lvl1pPr algn="l" marL="0" indent="0">
              <a:buNone/>
              <a:defRPr sz="1600" b="1" i="0">
                <a:solidFill>
                  <a:schemeClr val="dk1"/>
                </a:solidFill>
                <a:latin typeface="Arial"/>
              </a:defRPr>
            </a:lvl1pPr>
          </a:lstStyle>
          <a:p>
            <a:r>
              <a:rPr lang="en-US" dirty="0"/>
              <a:t>Madelyn Olson</a:t>
            </a:r>
          </a:p>
        </p:txBody>
      </p:sp>
      <p:sp>
        <p:nvSpPr>
          <p:cNvPr id="8" name="Speaker role"/>
          <p:cNvSpPr>
            <a:spLocks noGrp="1"/>
          </p:cNvSpPr>
          <p:nvPr>
            <p:ph type="body" idx="3" hasCustomPrompt="1"/>
          </p:nvPr>
        </p:nvSpPr>
        <p:spPr>
          <a:xfrm>
            <a:off x="609600" y="4930000"/>
            <a:ext cx="5000000" cy="300000"/>
          </a:xfrm>
          <a:prstGeom prst="rect">
            <a:avLst/>
          </a:prstGeom>
        </p:spPr>
        <p:txBody>
          <a:bodyPr wrap="square" lIns="0" tIns="0" rIns="0" bIns="0" anchor="t">
            <a:normAutofit/>
          </a:bodyPr>
          <a:lstStyle>
            <a:lvl1pPr algn="l" marL="0" indent="0">
              <a:buNone/>
              <a:defRPr sz="1300" b="0" i="0">
                <a:solidFill>
                  <a:schemeClr val="dk2"/>
                </a:solidFill>
                <a:latin typeface="Arial"/>
              </a:defRPr>
            </a:lvl1pPr>
          </a:lstStyle>
          <a:p>
            <a:r>
              <a:rPr lang="en-US" dirty="0"/>
              <a:t>Valkey Maintainer and Engineer</a:t>
            </a:r>
          </a:p>
        </p:txBody>
      </p:sp>
    </p:spTree>
  </p:cSld>
  <p:clrMapOvr>
    <a:masterClrMapping/>
  </p:clrMapOvr>
</p:sldLayout>
</file>

<file path=ppt/slideLayouts/slideLayout19.xml><?xml version="1.0" encoding="utf-8"?>
<p:sldLayout xmlns:p="http://schemas.openxmlformats.org/presentationml/2006/main" xmlns:a="http://schemas.openxmlformats.org/drawingml/2006/main" xmlns:r="http://schemas.openxmlformats.org/officeDocument/2006/relationships" type="cust" preserve="1">
  <p:cSld name="Valkey Title Bottom Banner">
    <p:spTree>
      <p:nvGrpSpPr>
        <p:cNvPr id="1" name=""/>
        <p:cNvGrpSpPr/>
        <p:nvPr/>
      </p:nvGrpSpPr>
      <p:grpSpPr>
        <a:xfrm>
          <a:off x="0" y="0"/>
          <a:ext cx="0" cy="0"/>
          <a:chOff x="0" y="0"/>
          <a:chExt cx="0" cy="0"/>
        </a:xfrm>
      </p:grpSpPr>
      <p:sp>
        <p:nvSpPr>
          <p:cNvPr id="2" name="Rectangle 1"/>
          <p:cNvSpPr/>
          <p:nvPr/>
        </p:nvSpPr>
        <p:spPr>
          <a:xfrm>
            <a:off x="0" y="5669280"/>
            <a:ext cx="12192000" cy="118872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valkey-horizontal-color"/>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4607832" y="1100000"/>
            <a:ext cx="2976336" cy="1005840"/>
          </a:xfrm>
          <a:prstGeom prst="rect">
            <a:avLst/>
          </a:prstGeom>
        </p:spPr>
      </p:pic>
      <p:sp>
        <p:nvSpPr>
          <p:cNvPr id="4" name="Rectangle 3"/>
          <p:cNvSpPr/>
          <p:nvPr/>
        </p:nvSpPr>
        <p:spPr>
          <a:xfrm>
            <a:off x="5638800" y="3560000"/>
            <a:ext cx="914400" cy="4572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itle"/>
          <p:cNvSpPr>
            <a:spLocks noGrp="1"/>
          </p:cNvSpPr>
          <p:nvPr>
            <p:ph type="ctrTitle" hasCustomPrompt="1"/>
          </p:nvPr>
        </p:nvSpPr>
        <p:spPr>
          <a:xfrm>
            <a:off x="609600" y="2600000"/>
            <a:ext cx="11062800" cy="1300000"/>
          </a:xfrm>
          <a:prstGeom prst="rect">
            <a:avLst/>
          </a:prstGeom>
        </p:spPr>
        <p:txBody>
          <a:bodyPr wrap="square" lIns="0" tIns="0" rIns="0" bIns="0" anchor="t">
            <a:normAutofit/>
          </a:bodyPr>
          <a:lstStyle>
            <a:lvl1pPr algn="ctr" marL="0" indent="0">
              <a:lnSpc>
                <a:spcPct val="110000"/>
              </a:lnSpc>
              <a:buNone/>
              <a:defRPr sz="4000" b="1" i="0">
                <a:solidFill>
                  <a:schemeClr val="dk1"/>
                </a:solidFill>
                <a:latin typeface="Arial"/>
              </a:defRPr>
            </a:lvl1pPr>
          </a:lstStyle>
          <a:p>
            <a:r>
              <a:rPr lang="en-US" dirty="0"/>
              <a:t>Presentation title goes here</a:t>
            </a:r>
          </a:p>
        </p:txBody>
      </p:sp>
      <p:sp>
        <p:nvSpPr>
          <p:cNvPr id="6" name="Subtitle"/>
          <p:cNvSpPr>
            <a:spLocks noGrp="1"/>
          </p:cNvSpPr>
          <p:nvPr>
            <p:ph type="subTitle" idx="1" hasCustomPrompt="1"/>
          </p:nvPr>
        </p:nvSpPr>
        <p:spPr>
          <a:xfrm>
            <a:off x="609600" y="3900000"/>
            <a:ext cx="11062800" cy="400000"/>
          </a:xfrm>
          <a:prstGeom prst="rect">
            <a:avLst/>
          </a:prstGeom>
        </p:spPr>
        <p:txBody>
          <a:bodyPr wrap="square" lIns="0" tIns="0" rIns="0" bIns="0" anchor="t">
            <a:normAutofit/>
          </a:bodyPr>
          <a:lstStyle>
            <a:lvl1pPr algn="ctr" marL="0" indent="0">
              <a:buNone/>
              <a:defRPr sz="1800" b="0" i="0">
                <a:solidFill>
                  <a:schemeClr val="dk2"/>
                </a:solidFill>
                <a:latin typeface="Arial"/>
              </a:defRPr>
            </a:lvl1pPr>
          </a:lstStyle>
          <a:p>
            <a:r>
              <a:rPr lang="en-US" dirty="0"/>
              <a:t>A single line that sets up the talk</a:t>
            </a:r>
          </a:p>
        </p:txBody>
      </p:sp>
      <p:sp>
        <p:nvSpPr>
          <p:cNvPr id="7" name="Speaker"/>
          <p:cNvSpPr>
            <a:spLocks noGrp="1"/>
          </p:cNvSpPr>
          <p:nvPr>
            <p:ph type="body" idx="2" hasCustomPrompt="1"/>
          </p:nvPr>
        </p:nvSpPr>
        <p:spPr>
          <a:xfrm>
            <a:off x="609600" y="6069280"/>
            <a:ext cx="11062800" cy="400000"/>
          </a:xfrm>
          <a:prstGeom prst="rect">
            <a:avLst/>
          </a:prstGeom>
        </p:spPr>
        <p:txBody>
          <a:bodyPr wrap="square" lIns="0" tIns="0" rIns="0" bIns="0" anchor="t">
            <a:normAutofit/>
          </a:bodyPr>
          <a:lstStyle>
            <a:lvl1pPr algn="ctr" marL="0" indent="0">
              <a:buNone/>
              <a:defRPr sz="1800" b="1" i="0">
                <a:solidFill>
                  <a:schemeClr val="lt1"/>
                </a:solidFill>
                <a:latin typeface="Arial"/>
              </a:defRPr>
            </a:lvl1pPr>
          </a:lstStyle>
          <a:p>
            <a:r>
              <a:rPr lang="en-US" dirty="0"/>
              <a:t>Madelyn Olson</a:t>
            </a:r>
          </a:p>
        </p:txBody>
      </p:sp>
      <p:sp>
        <p:nvSpPr>
          <p:cNvPr id="8" name="Speaker role"/>
          <p:cNvSpPr>
            <a:spLocks noGrp="1"/>
          </p:cNvSpPr>
          <p:nvPr>
            <p:ph type="body" idx="3" hasCustomPrompt="1"/>
          </p:nvPr>
        </p:nvSpPr>
        <p:spPr>
          <a:xfrm>
            <a:off x="609600" y="6449280"/>
            <a:ext cx="11062800" cy="300000"/>
          </a:xfrm>
          <a:prstGeom prst="rect">
            <a:avLst/>
          </a:prstGeom>
        </p:spPr>
        <p:txBody>
          <a:bodyPr wrap="square" lIns="0" tIns="0" rIns="0" bIns="0" anchor="t">
            <a:normAutofit/>
          </a:bodyPr>
          <a:lstStyle>
            <a:lvl1pPr algn="ctr" marL="0" indent="0">
              <a:buNone/>
              <a:defRPr sz="1400" b="0" i="0">
                <a:solidFill>
                  <a:schemeClr val="lt1"/>
                </a:solidFill>
                <a:latin typeface="Arial"/>
              </a:defRPr>
            </a:lvl1pPr>
          </a:lstStyle>
          <a:p>
            <a:r>
              <a:rPr lang="en-US" dirty="0"/>
              <a:t>Valkey Maintainer and Engineer</a:t>
            </a:r>
          </a:p>
        </p:txBody>
      </p:sp>
    </p:spTree>
  </p:cSld>
  <p:clrMapOvr>
    <a:masterClrMapping/>
  </p:clrMapOvr>
</p:sldLayout>
</file>

<file path=ppt/slideLayouts/slideLayout20.xml><?xml version="1.0" encoding="utf-8"?>
<p:sldLayout xmlns:p="http://schemas.openxmlformats.org/presentationml/2006/main" xmlns:a="http://schemas.openxmlformats.org/drawingml/2006/main" xmlns:r="http://schemas.openxmlformats.org/officeDocument/2006/relationships" type="cust" preserve="1">
  <p:cSld name="Valkey Insight">
    <p:spTree>
      <p:nvGrpSpPr>
        <p:cNvPr id="1" name=""/>
        <p:cNvGrpSpPr/>
        <p:nvPr/>
      </p:nvGrpSpPr>
      <p:grpSpPr>
        <a:xfrm>
          <a:off x="0" y="0"/>
          <a:ext cx="0" cy="0"/>
          <a:chOff x="0" y="0"/>
          <a:chExt cx="0" cy="0"/>
        </a:xfrm>
      </p:grpSpPr>
      <p:sp>
        <p:nvSpPr>
          <p:cNvPr id="2" name="Rectangle 1"/>
          <p:cNvSpPr/>
          <p:nvPr/>
        </p:nvSpPr>
        <p:spPr>
          <a:xfrm>
            <a:off x="609600" y="2200000"/>
            <a:ext cx="1371600" cy="54864"/>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tatement"/>
          <p:cNvSpPr>
            <a:spLocks noGrp="1"/>
          </p:cNvSpPr>
          <p:nvPr>
            <p:ph type="body" idx="1" hasCustomPrompt="1"/>
          </p:nvPr>
        </p:nvSpPr>
        <p:spPr>
          <a:xfrm>
            <a:off x="609600" y="2500000"/>
            <a:ext cx="9144000" cy="1800000"/>
          </a:xfrm>
          <a:prstGeom prst="rect">
            <a:avLst/>
          </a:prstGeom>
        </p:spPr>
        <p:txBody>
          <a:bodyPr wrap="square" lIns="0" tIns="0" rIns="0" bIns="0" anchor="t">
            <a:normAutofit/>
          </a:bodyPr>
          <a:lstStyle>
            <a:lvl1pPr algn="l" marL="0" indent="0">
              <a:lnSpc>
                <a:spcPct val="114999"/>
              </a:lnSpc>
              <a:buNone/>
              <a:defRPr sz="4000" b="1" i="0">
                <a:solidFill>
                  <a:schemeClr val="dk1"/>
                </a:solidFill>
                <a:latin typeface="Arial"/>
              </a:defRPr>
            </a:lvl1pPr>
          </a:lstStyle>
          <a:p>
            <a:r>
              <a:rPr lang="en-US" dirty="0"/>
              <a:t>Steady state is a lie. The peak is the only number that matters.</a:t>
            </a:r>
          </a:p>
        </p:txBody>
      </p:sp>
      <p:sp>
        <p:nvSpPr>
          <p:cNvPr id="4" name="Caption"/>
          <p:cNvSpPr>
            <a:spLocks noGrp="1"/>
          </p:cNvSpPr>
          <p:nvPr>
            <p:ph type="body" idx="2" hasCustomPrompt="1"/>
          </p:nvPr>
        </p:nvSpPr>
        <p:spPr>
          <a:xfrm>
            <a:off x="609600" y="4400000"/>
            <a:ext cx="9144000" cy="400000"/>
          </a:xfrm>
          <a:prstGeom prst="rect">
            <a:avLst/>
          </a:prstGeom>
        </p:spPr>
        <p:txBody>
          <a:bodyPr wrap="square" lIns="0" tIns="0" rIns="0" bIns="0" anchor="t">
            <a:normAutofit/>
          </a:bodyPr>
          <a:lstStyle>
            <a:lvl1pPr algn="l" marL="0" indent="0">
              <a:buNone/>
              <a:defRPr sz="1600" b="0" i="0">
                <a:solidFill>
                  <a:schemeClr val="dk2"/>
                </a:solidFill>
                <a:latin typeface="Arial"/>
              </a:defRPr>
            </a:lvl1pPr>
          </a:lstStyle>
          <a:p>
            <a:r>
              <a:rPr lang="en-US" dirty="0"/>
              <a:t>Optional caption. Delete it if the line stands alone.</a:t>
            </a:r>
          </a:p>
        </p:txBody>
      </p:sp>
    </p:spTree>
  </p:cSld>
  <p:clrMapOvr>
    <a:masterClrMapping/>
  </p:clrMapOvr>
</p:sldLayout>
</file>

<file path=ppt/slideLayouts/slideLayout21.xml><?xml version="1.0" encoding="utf-8"?>
<p:sldLayout xmlns:p="http://schemas.openxmlformats.org/presentationml/2006/main" xmlns:a="http://schemas.openxmlformats.org/drawingml/2006/main" xmlns:r="http://schemas.openxmlformats.org/officeDocument/2006/relationships" type="cust" preserve="1">
  <p:cSld name="Valkey Insight Bo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valkey-horizontal-white"/>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10512716" y="5943597"/>
            <a:ext cx="1311447" cy="443198"/>
          </a:xfrm>
          <a:prstGeom prst="rect">
            <a:avLst/>
          </a:prstGeom>
        </p:spPr>
      </p:pic>
      <p:sp>
        <p:nvSpPr>
          <p:cNvPr id="4" name="Statement"/>
          <p:cNvSpPr>
            <a:spLocks noGrp="1"/>
          </p:cNvSpPr>
          <p:nvPr>
            <p:ph type="body" idx="1" hasCustomPrompt="1"/>
          </p:nvPr>
        </p:nvSpPr>
        <p:spPr>
          <a:xfrm>
            <a:off x="609600" y="2600000"/>
            <a:ext cx="11062800" cy="1800000"/>
          </a:xfrm>
          <a:prstGeom prst="rect">
            <a:avLst/>
          </a:prstGeom>
        </p:spPr>
        <p:txBody>
          <a:bodyPr wrap="square" lIns="0" tIns="0" rIns="0" bIns="0" anchor="t">
            <a:normAutofit/>
          </a:bodyPr>
          <a:lstStyle>
            <a:lvl1pPr algn="ctr" marL="0" indent="0">
              <a:lnSpc>
                <a:spcPct val="114999"/>
              </a:lnSpc>
              <a:buNone/>
              <a:defRPr sz="4000" b="1" i="0">
                <a:solidFill>
                  <a:schemeClr val="lt1"/>
                </a:solidFill>
                <a:latin typeface="Arial"/>
              </a:defRPr>
            </a:lvl1pPr>
          </a:lstStyle>
          <a:p>
            <a:r>
              <a:rPr lang="en-US" dirty="0"/>
              <a:t>You cannot provision your way out of a workload that moves.</a:t>
            </a:r>
          </a:p>
        </p:txBody>
      </p:sp>
      <p:sp>
        <p:nvSpPr>
          <p:cNvPr id="5" name="Caption"/>
          <p:cNvSpPr>
            <a:spLocks noGrp="1"/>
          </p:cNvSpPr>
          <p:nvPr>
            <p:ph type="body" idx="2" hasCustomPrompt="1"/>
          </p:nvPr>
        </p:nvSpPr>
        <p:spPr>
          <a:xfrm>
            <a:off x="609600" y="4500000"/>
            <a:ext cx="11062800" cy="400000"/>
          </a:xfrm>
          <a:prstGeom prst="rect">
            <a:avLst/>
          </a:prstGeom>
        </p:spPr>
        <p:txBody>
          <a:bodyPr wrap="square" lIns="0" tIns="0" rIns="0" bIns="0" anchor="t">
            <a:normAutofit/>
          </a:bodyPr>
          <a:lstStyle>
            <a:lvl1pPr algn="ctr" marL="0" indent="0">
              <a:buNone/>
              <a:defRPr sz="1600" b="0" i="0">
                <a:solidFill>
                  <a:schemeClr val="lt1"/>
                </a:solidFill>
                <a:latin typeface="Arial"/>
              </a:defRPr>
            </a:lvl1pPr>
          </a:lstStyle>
          <a:p>
            <a:r>
              <a:rPr lang="en-US" dirty="0"/>
              <a:t>Optional caption.</a:t>
            </a:r>
          </a:p>
        </p:txBody>
      </p:sp>
    </p:spTree>
  </p:cSld>
  <p:clrMapOvr>
    <a:masterClrMapping/>
  </p:clrMapOvr>
</p:sldLayout>
</file>

<file path=ppt/slideLayouts/slideLayout22.xml><?xml version="1.0" encoding="utf-8"?>
<p:sldLayout xmlns:p="http://schemas.openxmlformats.org/presentationml/2006/main" xmlns:a="http://schemas.openxmlformats.org/drawingml/2006/main" xmlns:r="http://schemas.openxmlformats.org/officeDocument/2006/relationships" type="cust" preserve="1">
  <p:cSld name="Valkey Big Number">
    <p:spTree>
      <p:nvGrpSpPr>
        <p:cNvPr id="1" name=""/>
        <p:cNvGrpSpPr/>
        <p:nvPr/>
      </p:nvGrpSpPr>
      <p:grpSpPr>
        <a:xfrm>
          <a:off x="0" y="0"/>
          <a:ext cx="0" cy="0"/>
          <a:chOff x="0" y="0"/>
          <a:chExt cx="0" cy="0"/>
        </a:xfrm>
      </p:grpSpPr>
      <p:sp>
        <p:nvSpPr>
          <p:cNvPr id="2" name="Number"/>
          <p:cNvSpPr>
            <a:spLocks noGrp="1"/>
          </p:cNvSpPr>
          <p:nvPr>
            <p:ph type="body" idx="1" hasCustomPrompt="1"/>
          </p:nvPr>
        </p:nvSpPr>
        <p:spPr>
          <a:xfrm>
            <a:off x="609600" y="1800000"/>
            <a:ext cx="11062800" cy="2100000"/>
          </a:xfrm>
          <a:prstGeom prst="rect">
            <a:avLst/>
          </a:prstGeom>
        </p:spPr>
        <p:txBody>
          <a:bodyPr wrap="square" lIns="0" tIns="0" rIns="0" bIns="0" anchor="t">
            <a:normAutofit/>
          </a:bodyPr>
          <a:lstStyle>
            <a:lvl1pPr algn="ctr" marL="0" indent="0">
              <a:lnSpc>
                <a:spcPct val="100000"/>
              </a:lnSpc>
              <a:buNone/>
              <a:defRPr sz="13000" b="1" i="0">
                <a:solidFill>
                  <a:schemeClr val="accent1"/>
                </a:solidFill>
                <a:latin typeface="Arial"/>
              </a:defRPr>
            </a:lvl1pPr>
          </a:lstStyle>
          <a:p>
            <a:r>
              <a:rPr lang="en-US" dirty="0"/>
              <a:t>3x</a:t>
            </a:r>
          </a:p>
        </p:txBody>
      </p:sp>
      <p:sp>
        <p:nvSpPr>
          <p:cNvPr id="3" name="Label"/>
          <p:cNvSpPr>
            <a:spLocks noGrp="1"/>
          </p:cNvSpPr>
          <p:nvPr>
            <p:ph type="body" idx="2" hasCustomPrompt="1"/>
          </p:nvPr>
        </p:nvSpPr>
        <p:spPr>
          <a:xfrm>
            <a:off x="609600" y="3950000"/>
            <a:ext cx="11062800" cy="500000"/>
          </a:xfrm>
          <a:prstGeom prst="rect">
            <a:avLst/>
          </a:prstGeom>
        </p:spPr>
        <p:txBody>
          <a:bodyPr wrap="square" lIns="0" tIns="0" rIns="0" bIns="0" anchor="t">
            <a:normAutofit/>
          </a:bodyPr>
          <a:lstStyle>
            <a:lvl1pPr algn="ctr" marL="0" indent="0">
              <a:buNone/>
              <a:defRPr sz="2800" b="1" i="0">
                <a:solidFill>
                  <a:schemeClr val="dk1"/>
                </a:solidFill>
                <a:latin typeface="Arial"/>
              </a:defRPr>
            </a:lvl1pPr>
          </a:lstStyle>
          <a:p>
            <a:r>
              <a:rPr lang="en-US" dirty="0"/>
              <a:t>throughput on the same hardware</a:t>
            </a:r>
          </a:p>
        </p:txBody>
      </p:sp>
      <p:sp>
        <p:nvSpPr>
          <p:cNvPr id="4" name="Source"/>
          <p:cNvSpPr>
            <a:spLocks noGrp="1"/>
          </p:cNvSpPr>
          <p:nvPr>
            <p:ph type="body" idx="3" hasCustomPrompt="1"/>
          </p:nvPr>
        </p:nvSpPr>
        <p:spPr>
          <a:xfrm>
            <a:off x="609600" y="4560000"/>
            <a:ext cx="11062800" cy="400000"/>
          </a:xfrm>
          <a:prstGeom prst="rect">
            <a:avLst/>
          </a:prstGeom>
        </p:spPr>
        <p:txBody>
          <a:bodyPr wrap="square" lIns="0" tIns="0" rIns="0" bIns="0" anchor="t">
            <a:normAutofit/>
          </a:bodyPr>
          <a:lstStyle>
            <a:lvl1pPr algn="ctr" marL="0" indent="0">
              <a:buNone/>
              <a:defRPr sz="1600" b="0" i="0">
                <a:solidFill>
                  <a:schemeClr val="dk2"/>
                </a:solidFill>
                <a:latin typeface="Arial"/>
              </a:defRPr>
            </a:lvl1pPr>
          </a:lstStyle>
          <a:p>
            <a:r>
              <a:rPr lang="en-US" dirty="0"/>
              <a:t>Source: valkey.io/blog/...</a:t>
            </a:r>
          </a:p>
        </p:txBody>
      </p:sp>
    </p:spTree>
  </p:cSld>
  <p:clrMapOvr>
    <a:masterClrMapping/>
  </p:clrMapOvr>
</p:sldLayout>
</file>

<file path=ppt/slideLayouts/slideLayout23.xml><?xml version="1.0" encoding="utf-8"?>
<p:sldLayout xmlns:p="http://schemas.openxmlformats.org/presentationml/2006/main" xmlns:a="http://schemas.openxmlformats.org/drawingml/2006/main" xmlns:r="http://schemas.openxmlformats.org/officeDocument/2006/relationships" type="cust" preserve="1">
  <p:cSld name="Valkey List Rows">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609600" y="400019"/>
            <a:ext cx="11062800" cy="443198"/>
          </a:xfrm>
          <a:prstGeom prst="rect">
            <a:avLst/>
          </a:prstGeom>
        </p:spPr>
        <p:txBody>
          <a:bodyPr wrap="square" lIns="0" tIns="0" rIns="0" bIns="0" anchor="ctr">
            <a:normAutofit/>
          </a:bodyPr>
          <a:lstStyle>
            <a:lvl1pPr algn="l" marL="0" indent="0">
              <a:buNone/>
              <a:defRPr sz="3200" b="1" i="0">
                <a:solidFill>
                  <a:schemeClr val="dk1"/>
                </a:solidFill>
                <a:latin typeface="Arial"/>
              </a:defRPr>
            </a:lvl1pPr>
          </a:lstStyle>
          <a:p>
            <a:r>
              <a:rPr lang="en-US" dirty="0"/>
              <a:t>Title is an assertion, not a label</a:t>
            </a:r>
          </a:p>
        </p:txBody>
      </p:sp>
      <p:sp>
        <p:nvSpPr>
          <p:cNvPr id="3" name="Row 1"/>
          <p:cNvSpPr>
            <a:spLocks noGrp="1"/>
          </p:cNvSpPr>
          <p:nvPr>
            <p:ph type="body" idx="1" hasCustomPrompt="1"/>
          </p:nvPr>
        </p:nvSpPr>
        <p:spPr>
          <a:xfrm>
            <a:off x="682752" y="1445931"/>
            <a:ext cx="10989648" cy="520000"/>
          </a:xfrm>
          <a:prstGeom prst="rect">
            <a:avLst/>
          </a:prstGeom>
          <a:solidFill>
            <a:schemeClr val="lt2"/>
          </a:solidFill>
        </p:spPr>
        <p:txBody>
          <a:bodyPr wrap="square" lIns="182880" tIns="0" rIns="182880" bIns="0" anchor="ctr">
            <a:normAutofit/>
          </a:bodyPr>
          <a:lstStyle>
            <a:lvl1pPr algn="l" marL="0" indent="0">
              <a:buNone/>
              <a:defRPr sz="1800" b="0" i="0">
                <a:solidFill>
                  <a:schemeClr val="dk1"/>
                </a:solidFill>
                <a:latin typeface="Arial"/>
              </a:defRPr>
            </a:lvl1pPr>
          </a:lstStyle>
          <a:p>
            <a:r>
              <a:rPr lang="en-US" dirty="0"/>
              <a:t>One idea, one line</a:t>
            </a:r>
          </a:p>
        </p:txBody>
      </p:sp>
      <p:sp>
        <p:nvSpPr>
          <p:cNvPr id="4" name="Row 2"/>
          <p:cNvSpPr>
            <a:spLocks noGrp="1"/>
          </p:cNvSpPr>
          <p:nvPr>
            <p:ph type="body" idx="2" hasCustomPrompt="1"/>
          </p:nvPr>
        </p:nvSpPr>
        <p:spPr>
          <a:xfrm>
            <a:off x="682752" y="2095931"/>
            <a:ext cx="10989648" cy="520000"/>
          </a:xfrm>
          <a:prstGeom prst="rect">
            <a:avLst/>
          </a:prstGeom>
          <a:solidFill>
            <a:schemeClr val="lt2"/>
          </a:solidFill>
        </p:spPr>
        <p:txBody>
          <a:bodyPr wrap="square" lIns="182880" tIns="0" rIns="182880" bIns="0" anchor="ctr">
            <a:normAutofit/>
          </a:bodyPr>
          <a:lstStyle>
            <a:lvl1pPr algn="l" marL="0" indent="0">
              <a:buNone/>
              <a:defRPr sz="1800" b="0" i="0">
                <a:solidFill>
                  <a:schemeClr val="dk1"/>
                </a:solidFill>
                <a:latin typeface="Arial"/>
              </a:defRPr>
            </a:lvl1pPr>
          </a:lstStyle>
          <a:p>
            <a:r>
              <a:rPr lang="en-US" dirty="0"/>
              <a:t>One idea, one line</a:t>
            </a:r>
          </a:p>
        </p:txBody>
      </p:sp>
      <p:sp>
        <p:nvSpPr>
          <p:cNvPr id="5" name="Row 3"/>
          <p:cNvSpPr>
            <a:spLocks noGrp="1"/>
          </p:cNvSpPr>
          <p:nvPr>
            <p:ph type="body" idx="3" hasCustomPrompt="1"/>
          </p:nvPr>
        </p:nvSpPr>
        <p:spPr>
          <a:xfrm>
            <a:off x="682752" y="2745931"/>
            <a:ext cx="10989648" cy="520000"/>
          </a:xfrm>
          <a:prstGeom prst="rect">
            <a:avLst/>
          </a:prstGeom>
          <a:solidFill>
            <a:schemeClr val="lt2"/>
          </a:solidFill>
        </p:spPr>
        <p:txBody>
          <a:bodyPr wrap="square" lIns="182880" tIns="0" rIns="182880" bIns="0" anchor="ctr">
            <a:normAutofit/>
          </a:bodyPr>
          <a:lstStyle>
            <a:lvl1pPr algn="l" marL="0" indent="0">
              <a:buNone/>
              <a:defRPr sz="1800" b="0" i="0">
                <a:solidFill>
                  <a:schemeClr val="dk1"/>
                </a:solidFill>
                <a:latin typeface="Arial"/>
              </a:defRPr>
            </a:lvl1pPr>
          </a:lstStyle>
          <a:p>
            <a:r>
              <a:rPr lang="en-US" dirty="0"/>
              <a:t>One idea, one line</a:t>
            </a:r>
          </a:p>
        </p:txBody>
      </p:sp>
      <p:sp>
        <p:nvSpPr>
          <p:cNvPr id="6" name="Row 4"/>
          <p:cNvSpPr>
            <a:spLocks noGrp="1"/>
          </p:cNvSpPr>
          <p:nvPr>
            <p:ph type="body" idx="4" hasCustomPrompt="1"/>
          </p:nvPr>
        </p:nvSpPr>
        <p:spPr>
          <a:xfrm>
            <a:off x="682752" y="3395931"/>
            <a:ext cx="10989648" cy="520000"/>
          </a:xfrm>
          <a:prstGeom prst="rect">
            <a:avLst/>
          </a:prstGeom>
          <a:solidFill>
            <a:schemeClr val="lt2"/>
          </a:solidFill>
        </p:spPr>
        <p:txBody>
          <a:bodyPr wrap="square" lIns="182880" tIns="0" rIns="182880" bIns="0" anchor="ctr">
            <a:normAutofit/>
          </a:bodyPr>
          <a:lstStyle>
            <a:lvl1pPr algn="l" marL="0" indent="0">
              <a:buNone/>
              <a:defRPr sz="1800" b="0" i="0">
                <a:solidFill>
                  <a:schemeClr val="dk1"/>
                </a:solidFill>
                <a:latin typeface="Arial"/>
              </a:defRPr>
            </a:lvl1pPr>
          </a:lstStyle>
          <a:p>
            <a:r>
              <a:rPr lang="en-US" dirty="0"/>
              <a:t>One idea, one line</a:t>
            </a:r>
          </a:p>
        </p:txBody>
      </p:sp>
      <p:sp>
        <p:nvSpPr>
          <p:cNvPr id="7" name="Row 5"/>
          <p:cNvSpPr>
            <a:spLocks noGrp="1"/>
          </p:cNvSpPr>
          <p:nvPr>
            <p:ph type="body" idx="5" hasCustomPrompt="1"/>
          </p:nvPr>
        </p:nvSpPr>
        <p:spPr>
          <a:xfrm>
            <a:off x="682752" y="4045931"/>
            <a:ext cx="10989648" cy="520000"/>
          </a:xfrm>
          <a:prstGeom prst="rect">
            <a:avLst/>
          </a:prstGeom>
          <a:solidFill>
            <a:schemeClr val="lt2"/>
          </a:solidFill>
        </p:spPr>
        <p:txBody>
          <a:bodyPr wrap="square" lIns="182880" tIns="0" rIns="182880" bIns="0" anchor="ctr">
            <a:normAutofit/>
          </a:bodyPr>
          <a:lstStyle>
            <a:lvl1pPr algn="l" marL="0" indent="0">
              <a:buNone/>
              <a:defRPr sz="1800" b="0" i="0">
                <a:solidFill>
                  <a:schemeClr val="dk1"/>
                </a:solidFill>
                <a:latin typeface="Arial"/>
              </a:defRPr>
            </a:lvl1pPr>
          </a:lstStyle>
          <a:p>
            <a:r>
              <a:rPr lang="en-US" dirty="0"/>
              <a:t>One idea, one line</a:t>
            </a:r>
          </a:p>
        </p:txBody>
      </p:sp>
    </p:spTree>
  </p:cSld>
  <p:clrMapOvr>
    <a:masterClrMapping/>
  </p:clrMapOvr>
</p:sldLayout>
</file>

<file path=ppt/slideLayouts/slideLayout24.xml><?xml version="1.0" encoding="utf-8"?>
<p:sldLayout xmlns:p="http://schemas.openxmlformats.org/presentationml/2006/main" xmlns:a="http://schemas.openxmlformats.org/drawingml/2006/main" xmlns:r="http://schemas.openxmlformats.org/officeDocument/2006/relationships" type="cust" preserve="1">
  <p:cSld name="Valkey List Rows with Image">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609600" y="400019"/>
            <a:ext cx="11062800" cy="443198"/>
          </a:xfrm>
          <a:prstGeom prst="rect">
            <a:avLst/>
          </a:prstGeom>
        </p:spPr>
        <p:txBody>
          <a:bodyPr wrap="square" lIns="0" tIns="0" rIns="0" bIns="0" anchor="ctr">
            <a:normAutofit/>
          </a:bodyPr>
          <a:lstStyle>
            <a:lvl1pPr algn="l" marL="0" indent="0">
              <a:buNone/>
              <a:defRPr sz="3200" b="1" i="0">
                <a:solidFill>
                  <a:schemeClr val="dk1"/>
                </a:solidFill>
                <a:latin typeface="Arial"/>
              </a:defRPr>
            </a:lvl1pPr>
          </a:lstStyle>
          <a:p>
            <a:r>
              <a:rPr lang="en-US" dirty="0"/>
              <a:t>Title is an assertion, not a label</a:t>
            </a:r>
          </a:p>
        </p:txBody>
      </p:sp>
      <p:sp>
        <p:nvSpPr>
          <p:cNvPr id="3" name="Row 1"/>
          <p:cNvSpPr>
            <a:spLocks noGrp="1"/>
          </p:cNvSpPr>
          <p:nvPr>
            <p:ph type="body" idx="1" hasCustomPrompt="1"/>
          </p:nvPr>
        </p:nvSpPr>
        <p:spPr>
          <a:xfrm>
            <a:off x="682752" y="1445931"/>
            <a:ext cx="7279648" cy="520000"/>
          </a:xfrm>
          <a:prstGeom prst="rect">
            <a:avLst/>
          </a:prstGeom>
          <a:solidFill>
            <a:schemeClr val="lt2"/>
          </a:solidFill>
        </p:spPr>
        <p:txBody>
          <a:bodyPr wrap="square" lIns="182880" tIns="0" rIns="182880" bIns="0" anchor="ctr">
            <a:normAutofit/>
          </a:bodyPr>
          <a:lstStyle>
            <a:lvl1pPr algn="l" marL="0" indent="0">
              <a:buNone/>
              <a:defRPr sz="1800" b="0" i="0">
                <a:solidFill>
                  <a:schemeClr val="dk1"/>
                </a:solidFill>
                <a:latin typeface="Arial"/>
              </a:defRPr>
            </a:lvl1pPr>
          </a:lstStyle>
          <a:p>
            <a:r>
              <a:rPr lang="en-US" dirty="0"/>
              <a:t>One idea, one line</a:t>
            </a:r>
          </a:p>
        </p:txBody>
      </p:sp>
      <p:sp>
        <p:nvSpPr>
          <p:cNvPr id="4" name="Row 2"/>
          <p:cNvSpPr>
            <a:spLocks noGrp="1"/>
          </p:cNvSpPr>
          <p:nvPr>
            <p:ph type="body" idx="2" hasCustomPrompt="1"/>
          </p:nvPr>
        </p:nvSpPr>
        <p:spPr>
          <a:xfrm>
            <a:off x="682752" y="2095931"/>
            <a:ext cx="7279648" cy="520000"/>
          </a:xfrm>
          <a:prstGeom prst="rect">
            <a:avLst/>
          </a:prstGeom>
          <a:solidFill>
            <a:schemeClr val="lt2"/>
          </a:solidFill>
        </p:spPr>
        <p:txBody>
          <a:bodyPr wrap="square" lIns="182880" tIns="0" rIns="182880" bIns="0" anchor="ctr">
            <a:normAutofit/>
          </a:bodyPr>
          <a:lstStyle>
            <a:lvl1pPr algn="l" marL="0" indent="0">
              <a:buNone/>
              <a:defRPr sz="1800" b="0" i="0">
                <a:solidFill>
                  <a:schemeClr val="dk1"/>
                </a:solidFill>
                <a:latin typeface="Arial"/>
              </a:defRPr>
            </a:lvl1pPr>
          </a:lstStyle>
          <a:p>
            <a:r>
              <a:rPr lang="en-US" dirty="0"/>
              <a:t>One idea, one line</a:t>
            </a:r>
          </a:p>
        </p:txBody>
      </p:sp>
      <p:sp>
        <p:nvSpPr>
          <p:cNvPr id="5" name="Row 3"/>
          <p:cNvSpPr>
            <a:spLocks noGrp="1"/>
          </p:cNvSpPr>
          <p:nvPr>
            <p:ph type="body" idx="3" hasCustomPrompt="1"/>
          </p:nvPr>
        </p:nvSpPr>
        <p:spPr>
          <a:xfrm>
            <a:off x="682752" y="2745931"/>
            <a:ext cx="7279648" cy="520000"/>
          </a:xfrm>
          <a:prstGeom prst="rect">
            <a:avLst/>
          </a:prstGeom>
          <a:solidFill>
            <a:schemeClr val="lt2"/>
          </a:solidFill>
        </p:spPr>
        <p:txBody>
          <a:bodyPr wrap="square" lIns="182880" tIns="0" rIns="182880" bIns="0" anchor="ctr">
            <a:normAutofit/>
          </a:bodyPr>
          <a:lstStyle>
            <a:lvl1pPr algn="l" marL="0" indent="0">
              <a:buNone/>
              <a:defRPr sz="1800" b="0" i="0">
                <a:solidFill>
                  <a:schemeClr val="dk1"/>
                </a:solidFill>
                <a:latin typeface="Arial"/>
              </a:defRPr>
            </a:lvl1pPr>
          </a:lstStyle>
          <a:p>
            <a:r>
              <a:rPr lang="en-US" dirty="0"/>
              <a:t>One idea, one line</a:t>
            </a:r>
          </a:p>
        </p:txBody>
      </p:sp>
      <p:sp>
        <p:nvSpPr>
          <p:cNvPr id="6" name="Row 4"/>
          <p:cNvSpPr>
            <a:spLocks noGrp="1"/>
          </p:cNvSpPr>
          <p:nvPr>
            <p:ph type="body" idx="4" hasCustomPrompt="1"/>
          </p:nvPr>
        </p:nvSpPr>
        <p:spPr>
          <a:xfrm>
            <a:off x="682752" y="3395931"/>
            <a:ext cx="7279648" cy="520000"/>
          </a:xfrm>
          <a:prstGeom prst="rect">
            <a:avLst/>
          </a:prstGeom>
          <a:solidFill>
            <a:schemeClr val="lt2"/>
          </a:solidFill>
        </p:spPr>
        <p:txBody>
          <a:bodyPr wrap="square" lIns="182880" tIns="0" rIns="182880" bIns="0" anchor="ctr">
            <a:normAutofit/>
          </a:bodyPr>
          <a:lstStyle>
            <a:lvl1pPr algn="l" marL="0" indent="0">
              <a:buNone/>
              <a:defRPr sz="1800" b="0" i="0">
                <a:solidFill>
                  <a:schemeClr val="dk1"/>
                </a:solidFill>
                <a:latin typeface="Arial"/>
              </a:defRPr>
            </a:lvl1pPr>
          </a:lstStyle>
          <a:p>
            <a:r>
              <a:rPr lang="en-US" dirty="0"/>
              <a:t>One idea, one line</a:t>
            </a:r>
          </a:p>
        </p:txBody>
      </p:sp>
      <p:sp>
        <p:nvSpPr>
          <p:cNvPr id="7" name="Row 5"/>
          <p:cNvSpPr>
            <a:spLocks noGrp="1"/>
          </p:cNvSpPr>
          <p:nvPr>
            <p:ph type="body" idx="5" hasCustomPrompt="1"/>
          </p:nvPr>
        </p:nvSpPr>
        <p:spPr>
          <a:xfrm>
            <a:off x="682752" y="4045931"/>
            <a:ext cx="7279648" cy="520000"/>
          </a:xfrm>
          <a:prstGeom prst="rect">
            <a:avLst/>
          </a:prstGeom>
          <a:solidFill>
            <a:schemeClr val="lt2"/>
          </a:solidFill>
        </p:spPr>
        <p:txBody>
          <a:bodyPr wrap="square" lIns="182880" tIns="0" rIns="182880" bIns="0" anchor="ctr">
            <a:normAutofit/>
          </a:bodyPr>
          <a:lstStyle>
            <a:lvl1pPr algn="l" marL="0" indent="0">
              <a:buNone/>
              <a:defRPr sz="1800" b="0" i="0">
                <a:solidFill>
                  <a:schemeClr val="dk1"/>
                </a:solidFill>
                <a:latin typeface="Arial"/>
              </a:defRPr>
            </a:lvl1pPr>
          </a:lstStyle>
          <a:p>
            <a:r>
              <a:rPr lang="en-US" dirty="0"/>
              <a:t>One idea, one line</a:t>
            </a:r>
          </a:p>
        </p:txBody>
      </p:sp>
      <p:sp>
        <p:nvSpPr>
          <p:cNvPr id="8" name="Image"/>
          <p:cNvSpPr>
            <a:spLocks noGrp="1"/>
          </p:cNvSpPr>
          <p:nvPr>
            <p:ph type="pic" idx="6" hasCustomPrompt="1"/>
          </p:nvPr>
        </p:nvSpPr>
        <p:spPr>
          <a:xfrm>
            <a:off x="8462400" y="1445931"/>
            <a:ext cx="3120000" cy="3120000"/>
          </a:xfrm>
          <a:prstGeom prst="rect">
            <a:avLst/>
          </a:prstGeom>
        </p:spPr>
        <p:txBody>
          <a:bodyPr wrap="square" lIns="0" tIns="0" rIns="0" bIns="0" anchor="ctr">
            <a:normAutofit/>
          </a:bodyPr>
          <a:lstStyle>
            <a:lvl1pPr algn="ctr" marL="0" indent="0">
              <a:buNone/>
              <a:defRPr sz="1400" b="0" i="0">
                <a:solidFill>
                  <a:schemeClr val="dk2"/>
                </a:solidFill>
                <a:latin typeface="Arial"/>
              </a:defRPr>
            </a:lvl1pPr>
          </a:lstStyle>
          <a:p>
            <a:r>
              <a:rPr lang="en-US" dirty="0"/>
              <a:t>Square image: QR, logo, screenshot</a:t>
            </a:r>
          </a:p>
        </p:txBody>
      </p:sp>
    </p:spTree>
  </p:cSld>
  <p:clrMapOvr>
    <a:masterClrMapping/>
  </p:clrMapOvr>
</p:sldLayout>
</file>

<file path=ppt/slideLayouts/slideLayout25.xml><?xml version="1.0" encoding="utf-8"?>
<p:sldLayout xmlns:p="http://schemas.openxmlformats.org/presentationml/2006/main" xmlns:a="http://schemas.openxmlformats.org/drawingml/2006/main" xmlns:r="http://schemas.openxmlformats.org/officeDocument/2006/relationships" type="cust" preserve="1">
  <p:cSld name="Valkey Two Box">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609600" y="400019"/>
            <a:ext cx="11062800" cy="443198"/>
          </a:xfrm>
          <a:prstGeom prst="rect">
            <a:avLst/>
          </a:prstGeom>
        </p:spPr>
        <p:txBody>
          <a:bodyPr wrap="square" lIns="0" tIns="0" rIns="0" bIns="0" anchor="ctr">
            <a:normAutofit/>
          </a:bodyPr>
          <a:lstStyle>
            <a:lvl1pPr algn="l" marL="0" indent="0">
              <a:buNone/>
              <a:defRPr sz="3200" b="1" i="0">
                <a:solidFill>
                  <a:schemeClr val="dk1"/>
                </a:solidFill>
                <a:latin typeface="Arial"/>
              </a:defRPr>
            </a:lvl1pPr>
          </a:lstStyle>
          <a:p>
            <a:r>
              <a:rPr lang="en-US" dirty="0"/>
              <a:t>Title is an assertion, not a label</a:t>
            </a:r>
          </a:p>
        </p:txBody>
      </p:sp>
      <p:sp>
        <p:nvSpPr>
          <p:cNvPr id="3" name="Rectangle 2"/>
          <p:cNvSpPr/>
          <p:nvPr/>
        </p:nvSpPr>
        <p:spPr>
          <a:xfrm>
            <a:off x="609600" y="1445931"/>
            <a:ext cx="5431400" cy="390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vertical-scaling"/>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792480" y="1628811"/>
            <a:ext cx="1097280" cy="1097280"/>
          </a:xfrm>
          <a:prstGeom prst="rect">
            <a:avLst/>
          </a:prstGeom>
        </p:spPr>
      </p:pic>
      <p:sp>
        <p:nvSpPr>
          <p:cNvPr id="5" name="Heading 1"/>
          <p:cNvSpPr>
            <a:spLocks noGrp="1"/>
          </p:cNvSpPr>
          <p:nvPr>
            <p:ph type="body" idx="1" hasCustomPrompt="1"/>
          </p:nvPr>
        </p:nvSpPr>
        <p:spPr>
          <a:xfrm>
            <a:off x="792480" y="2863251"/>
            <a:ext cx="5065640" cy="400110"/>
          </a:xfrm>
          <a:prstGeom prst="rect">
            <a:avLst/>
          </a:prstGeom>
        </p:spPr>
        <p:txBody>
          <a:bodyPr wrap="square" lIns="0" tIns="0" rIns="0" bIns="0" anchor="t">
            <a:normAutofit/>
          </a:bodyPr>
          <a:lstStyle>
            <a:lvl1pPr algn="l" marL="0" indent="0">
              <a:buNone/>
              <a:defRPr sz="1800" b="1" i="0">
                <a:solidFill>
                  <a:schemeClr val="accent2"/>
                </a:solidFill>
                <a:latin typeface="Arial"/>
              </a:defRPr>
            </a:lvl1pPr>
          </a:lstStyle>
          <a:p>
            <a:r>
              <a:rPr lang="en-US" dirty="0"/>
              <a:t>Heading one</a:t>
            </a:r>
          </a:p>
        </p:txBody>
      </p:sp>
      <p:sp>
        <p:nvSpPr>
          <p:cNvPr id="6" name="Body 1"/>
          <p:cNvSpPr>
            <a:spLocks noGrp="1"/>
          </p:cNvSpPr>
          <p:nvPr>
            <p:ph type="body" idx="2" hasCustomPrompt="1"/>
          </p:nvPr>
        </p:nvSpPr>
        <p:spPr>
          <a:xfrm>
            <a:off x="792480" y="3309081"/>
            <a:ext cx="5065640" cy="1853970"/>
          </a:xfrm>
          <a:prstGeom prst="rect">
            <a:avLst/>
          </a:prstGeom>
        </p:spPr>
        <p:txBody>
          <a:bodyPr wrap="square" lIns="0" tIns="0" rIns="0" bIns="0" anchor="t">
            <a:normAutofit/>
          </a:bodyPr>
          <a:lstStyle>
            <a:lvl1pPr algn="l" marL="0" indent="0">
              <a:lnSpc>
                <a:spcPct val="120000"/>
              </a:lnSpc>
              <a:buNone/>
              <a:defRPr sz="1300" b="0" i="0">
                <a:solidFill>
                  <a:schemeClr val="accent2"/>
                </a:solidFill>
                <a:latin typeface="Arial"/>
              </a:defRPr>
            </a:lvl1pPr>
          </a:lstStyle>
          <a:p>
            <a:r>
              <a:rPr lang="en-US" dirty="0"/>
              <a:t>Replace this with one supporting sentence. Keep it to a single idea so the card stays scannable from the back of the room.</a:t>
            </a:r>
          </a:p>
        </p:txBody>
      </p:sp>
      <p:sp>
        <p:nvSpPr>
          <p:cNvPr id="7" name="Rectangle 6"/>
          <p:cNvSpPr/>
          <p:nvPr/>
        </p:nvSpPr>
        <p:spPr>
          <a:xfrm>
            <a:off x="6241000" y="1445931"/>
            <a:ext cx="5431400" cy="3900000"/>
          </a:xfrm>
          <a:prstGeom prst="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horizontal-scaling"/>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6423880" y="1628811"/>
            <a:ext cx="1097280" cy="1097280"/>
          </a:xfrm>
          <a:prstGeom prst="rect">
            <a:avLst/>
          </a:prstGeom>
        </p:spPr>
      </p:pic>
      <p:sp>
        <p:nvSpPr>
          <p:cNvPr id="9" name="Heading 2"/>
          <p:cNvSpPr>
            <a:spLocks noGrp="1"/>
          </p:cNvSpPr>
          <p:nvPr>
            <p:ph type="body" idx="3" hasCustomPrompt="1"/>
          </p:nvPr>
        </p:nvSpPr>
        <p:spPr>
          <a:xfrm>
            <a:off x="6423880" y="2863251"/>
            <a:ext cx="5065640" cy="400110"/>
          </a:xfrm>
          <a:prstGeom prst="rect">
            <a:avLst/>
          </a:prstGeom>
        </p:spPr>
        <p:txBody>
          <a:bodyPr wrap="square" lIns="0" tIns="0" rIns="0" bIns="0" anchor="t">
            <a:normAutofit/>
          </a:bodyPr>
          <a:lstStyle>
            <a:lvl1pPr algn="l" marL="0" indent="0">
              <a:buNone/>
              <a:defRPr sz="1800" b="1" i="0">
                <a:solidFill>
                  <a:schemeClr val="dk1"/>
                </a:solidFill>
                <a:latin typeface="Arial"/>
              </a:defRPr>
            </a:lvl1pPr>
          </a:lstStyle>
          <a:p>
            <a:r>
              <a:rPr lang="en-US" dirty="0"/>
              <a:t>Heading two</a:t>
            </a:r>
          </a:p>
        </p:txBody>
      </p:sp>
      <p:sp>
        <p:nvSpPr>
          <p:cNvPr id="10" name="Body 2"/>
          <p:cNvSpPr>
            <a:spLocks noGrp="1"/>
          </p:cNvSpPr>
          <p:nvPr>
            <p:ph type="body" idx="4" hasCustomPrompt="1"/>
          </p:nvPr>
        </p:nvSpPr>
        <p:spPr>
          <a:xfrm>
            <a:off x="6423880" y="3309081"/>
            <a:ext cx="5065640" cy="1853970"/>
          </a:xfrm>
          <a:prstGeom prst="rect">
            <a:avLst/>
          </a:prstGeom>
        </p:spPr>
        <p:txBody>
          <a:bodyPr wrap="square" lIns="0" tIns="0" rIns="0" bIns="0" anchor="t">
            <a:normAutofit/>
          </a:bodyPr>
          <a:lstStyle>
            <a:lvl1pPr algn="l" marL="0" indent="0">
              <a:lnSpc>
                <a:spcPct val="120000"/>
              </a:lnSpc>
              <a:buNone/>
              <a:defRPr sz="1300" b="0" i="0">
                <a:solidFill>
                  <a:schemeClr val="dk1"/>
                </a:solidFill>
                <a:latin typeface="Arial"/>
              </a:defRPr>
            </a:lvl1pPr>
          </a:lstStyle>
          <a:p>
            <a:r>
              <a:rPr lang="en-US" dirty="0"/>
              <a:t>Replace this with one supporting sentence. Keep it to a single idea so the card stays scannable from the back of the room.</a:t>
            </a:r>
          </a:p>
        </p:txBody>
      </p:sp>
    </p:spTree>
  </p:cSld>
  <p:clrMapOvr>
    <a:masterClrMapping/>
  </p:clrMapOvr>
</p:sldLayout>
</file>

<file path=ppt/slideLayouts/slideLayout26.xml><?xml version="1.0" encoding="utf-8"?>
<p:sldLayout xmlns:p="http://schemas.openxmlformats.org/presentationml/2006/main" xmlns:a="http://schemas.openxmlformats.org/drawingml/2006/main" xmlns:r="http://schemas.openxmlformats.org/officeDocument/2006/relationships" type="cust" preserve="1">
  <p:cSld name="Valkey Three Box">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609600" y="400019"/>
            <a:ext cx="11062800" cy="443198"/>
          </a:xfrm>
          <a:prstGeom prst="rect">
            <a:avLst/>
          </a:prstGeom>
        </p:spPr>
        <p:txBody>
          <a:bodyPr wrap="square" lIns="0" tIns="0" rIns="0" bIns="0" anchor="ctr">
            <a:normAutofit/>
          </a:bodyPr>
          <a:lstStyle>
            <a:lvl1pPr algn="l" marL="0" indent="0">
              <a:buNone/>
              <a:defRPr sz="3200" b="1" i="0">
                <a:solidFill>
                  <a:schemeClr val="dk1"/>
                </a:solidFill>
                <a:latin typeface="Arial"/>
              </a:defRPr>
            </a:lvl1pPr>
          </a:lstStyle>
          <a:p>
            <a:r>
              <a:rPr lang="en-US" dirty="0"/>
              <a:t>Title is an assertion, not a label</a:t>
            </a:r>
          </a:p>
        </p:txBody>
      </p:sp>
      <p:sp>
        <p:nvSpPr>
          <p:cNvPr id="3" name="Rectangle 2"/>
          <p:cNvSpPr/>
          <p:nvPr/>
        </p:nvSpPr>
        <p:spPr>
          <a:xfrm>
            <a:off x="609600" y="1445931"/>
            <a:ext cx="3554266" cy="39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erformance"/>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792480" y="1628811"/>
            <a:ext cx="1097280" cy="1097280"/>
          </a:xfrm>
          <a:prstGeom prst="rect">
            <a:avLst/>
          </a:prstGeom>
        </p:spPr>
      </p:pic>
      <p:sp>
        <p:nvSpPr>
          <p:cNvPr id="5" name="Heading 1"/>
          <p:cNvSpPr>
            <a:spLocks noGrp="1"/>
          </p:cNvSpPr>
          <p:nvPr>
            <p:ph type="body" idx="1" hasCustomPrompt="1"/>
          </p:nvPr>
        </p:nvSpPr>
        <p:spPr>
          <a:xfrm>
            <a:off x="792480" y="2863251"/>
            <a:ext cx="3188506" cy="400110"/>
          </a:xfrm>
          <a:prstGeom prst="rect">
            <a:avLst/>
          </a:prstGeom>
        </p:spPr>
        <p:txBody>
          <a:bodyPr wrap="square" lIns="0" tIns="0" rIns="0" bIns="0" anchor="t">
            <a:normAutofit/>
          </a:bodyPr>
          <a:lstStyle>
            <a:lvl1pPr algn="l" marL="0" indent="0">
              <a:buNone/>
              <a:defRPr sz="1800" b="1" i="0">
                <a:solidFill>
                  <a:schemeClr val="accent2"/>
                </a:solidFill>
                <a:latin typeface="Arial"/>
              </a:defRPr>
            </a:lvl1pPr>
          </a:lstStyle>
          <a:p>
            <a:r>
              <a:rPr lang="en-US" dirty="0"/>
              <a:t>Heading one</a:t>
            </a:r>
          </a:p>
        </p:txBody>
      </p:sp>
      <p:sp>
        <p:nvSpPr>
          <p:cNvPr id="6" name="Body 1"/>
          <p:cNvSpPr>
            <a:spLocks noGrp="1"/>
          </p:cNvSpPr>
          <p:nvPr>
            <p:ph type="body" idx="2" hasCustomPrompt="1"/>
          </p:nvPr>
        </p:nvSpPr>
        <p:spPr>
          <a:xfrm>
            <a:off x="792480" y="3309081"/>
            <a:ext cx="3188506" cy="1853970"/>
          </a:xfrm>
          <a:prstGeom prst="rect">
            <a:avLst/>
          </a:prstGeom>
        </p:spPr>
        <p:txBody>
          <a:bodyPr wrap="square" lIns="0" tIns="0" rIns="0" bIns="0" anchor="t">
            <a:normAutofit/>
          </a:bodyPr>
          <a:lstStyle>
            <a:lvl1pPr algn="l" marL="0" indent="0">
              <a:lnSpc>
                <a:spcPct val="120000"/>
              </a:lnSpc>
              <a:buNone/>
              <a:defRPr sz="1300" b="0" i="0">
                <a:solidFill>
                  <a:schemeClr val="accent2"/>
                </a:solidFill>
                <a:latin typeface="Arial"/>
              </a:defRPr>
            </a:lvl1pPr>
          </a:lstStyle>
          <a:p>
            <a:r>
              <a:rPr lang="en-US" dirty="0"/>
              <a:t>Replace this with one supporting sentence. Keep it to a single idea so the card stays scannable from the back of the room.</a:t>
            </a:r>
          </a:p>
        </p:txBody>
      </p:sp>
      <p:sp>
        <p:nvSpPr>
          <p:cNvPr id="7" name="Rectangle 6"/>
          <p:cNvSpPr/>
          <p:nvPr/>
        </p:nvSpPr>
        <p:spPr>
          <a:xfrm>
            <a:off x="4363866" y="1445931"/>
            <a:ext cx="3554266" cy="39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security"/>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4546746" y="1628811"/>
            <a:ext cx="1097280" cy="1097280"/>
          </a:xfrm>
          <a:prstGeom prst="rect">
            <a:avLst/>
          </a:prstGeom>
        </p:spPr>
      </p:pic>
      <p:sp>
        <p:nvSpPr>
          <p:cNvPr id="9" name="Heading 2"/>
          <p:cNvSpPr>
            <a:spLocks noGrp="1"/>
          </p:cNvSpPr>
          <p:nvPr>
            <p:ph type="body" idx="3" hasCustomPrompt="1"/>
          </p:nvPr>
        </p:nvSpPr>
        <p:spPr>
          <a:xfrm>
            <a:off x="4546746" y="2863251"/>
            <a:ext cx="3188506" cy="400110"/>
          </a:xfrm>
          <a:prstGeom prst="rect">
            <a:avLst/>
          </a:prstGeom>
        </p:spPr>
        <p:txBody>
          <a:bodyPr wrap="square" lIns="0" tIns="0" rIns="0" bIns="0" anchor="t">
            <a:normAutofit/>
          </a:bodyPr>
          <a:lstStyle>
            <a:lvl1pPr algn="l" marL="0" indent="0">
              <a:buNone/>
              <a:defRPr sz="1800" b="1" i="0">
                <a:solidFill>
                  <a:schemeClr val="accent2"/>
                </a:solidFill>
                <a:latin typeface="Arial"/>
              </a:defRPr>
            </a:lvl1pPr>
          </a:lstStyle>
          <a:p>
            <a:r>
              <a:rPr lang="en-US" dirty="0"/>
              <a:t>Heading two</a:t>
            </a:r>
          </a:p>
        </p:txBody>
      </p:sp>
      <p:sp>
        <p:nvSpPr>
          <p:cNvPr id="10" name="Body 2"/>
          <p:cNvSpPr>
            <a:spLocks noGrp="1"/>
          </p:cNvSpPr>
          <p:nvPr>
            <p:ph type="body" idx="4" hasCustomPrompt="1"/>
          </p:nvPr>
        </p:nvSpPr>
        <p:spPr>
          <a:xfrm>
            <a:off x="4546746" y="3309081"/>
            <a:ext cx="3188506" cy="1853970"/>
          </a:xfrm>
          <a:prstGeom prst="rect">
            <a:avLst/>
          </a:prstGeom>
        </p:spPr>
        <p:txBody>
          <a:bodyPr wrap="square" lIns="0" tIns="0" rIns="0" bIns="0" anchor="t">
            <a:normAutofit/>
          </a:bodyPr>
          <a:lstStyle>
            <a:lvl1pPr algn="l" marL="0" indent="0">
              <a:lnSpc>
                <a:spcPct val="120000"/>
              </a:lnSpc>
              <a:buNone/>
              <a:defRPr sz="1300" b="0" i="0">
                <a:solidFill>
                  <a:schemeClr val="accent2"/>
                </a:solidFill>
                <a:latin typeface="Arial"/>
              </a:defRPr>
            </a:lvl1pPr>
          </a:lstStyle>
          <a:p>
            <a:r>
              <a:rPr lang="en-US" dirty="0"/>
              <a:t>Replace this with one supporting sentence. Keep it to a single idea so the card stays scannable from the back of the room.</a:t>
            </a:r>
          </a:p>
        </p:txBody>
      </p:sp>
      <p:sp>
        <p:nvSpPr>
          <p:cNvPr id="11" name="Rectangle 10"/>
          <p:cNvSpPr/>
          <p:nvPr/>
        </p:nvSpPr>
        <p:spPr>
          <a:xfrm>
            <a:off x="8118132" y="1445931"/>
            <a:ext cx="3554266" cy="39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reliability"/>
          <p:cNvPicPr>
            <a:picLocks noChangeAspect="1"/>
          </p:cNvPicPr>
          <p:nvPr/>
        </p:nvPicPr>
        <p:blipFill>
          <a:blip r:embed="rId6">
            <a:extLst>
              <a:ext uri="{96DAC541-7B7A-43D3-8B79-37D633B846F1}">
                <ns2:svgBlip xmlns:ns2="http://schemas.microsoft.com/office/drawing/2016/SVG/main" r:embed="rId7"/>
              </a:ext>
            </a:extLst>
          </a:blip>
          <a:stretch>
            <a:fillRect/>
          </a:stretch>
        </p:blipFill>
        <p:spPr>
          <a:xfrm>
            <a:off x="8301012" y="1628811"/>
            <a:ext cx="1097280" cy="1097280"/>
          </a:xfrm>
          <a:prstGeom prst="rect">
            <a:avLst/>
          </a:prstGeom>
        </p:spPr>
      </p:pic>
      <p:sp>
        <p:nvSpPr>
          <p:cNvPr id="13" name="Heading 3"/>
          <p:cNvSpPr>
            <a:spLocks noGrp="1"/>
          </p:cNvSpPr>
          <p:nvPr>
            <p:ph type="body" idx="5" hasCustomPrompt="1"/>
          </p:nvPr>
        </p:nvSpPr>
        <p:spPr>
          <a:xfrm>
            <a:off x="8301012" y="2863251"/>
            <a:ext cx="3188506" cy="400110"/>
          </a:xfrm>
          <a:prstGeom prst="rect">
            <a:avLst/>
          </a:prstGeom>
        </p:spPr>
        <p:txBody>
          <a:bodyPr wrap="square" lIns="0" tIns="0" rIns="0" bIns="0" anchor="t">
            <a:normAutofit/>
          </a:bodyPr>
          <a:lstStyle>
            <a:lvl1pPr algn="l" marL="0" indent="0">
              <a:buNone/>
              <a:defRPr sz="1800" b="1" i="0">
                <a:solidFill>
                  <a:schemeClr val="accent2"/>
                </a:solidFill>
                <a:latin typeface="Arial"/>
              </a:defRPr>
            </a:lvl1pPr>
          </a:lstStyle>
          <a:p>
            <a:r>
              <a:rPr lang="en-US" dirty="0"/>
              <a:t>Heading three</a:t>
            </a:r>
          </a:p>
        </p:txBody>
      </p:sp>
      <p:sp>
        <p:nvSpPr>
          <p:cNvPr id="14" name="Body 3"/>
          <p:cNvSpPr>
            <a:spLocks noGrp="1"/>
          </p:cNvSpPr>
          <p:nvPr>
            <p:ph type="body" idx="6" hasCustomPrompt="1"/>
          </p:nvPr>
        </p:nvSpPr>
        <p:spPr>
          <a:xfrm>
            <a:off x="8301012" y="3309081"/>
            <a:ext cx="3188506" cy="1853970"/>
          </a:xfrm>
          <a:prstGeom prst="rect">
            <a:avLst/>
          </a:prstGeom>
        </p:spPr>
        <p:txBody>
          <a:bodyPr wrap="square" lIns="0" tIns="0" rIns="0" bIns="0" anchor="t">
            <a:normAutofit/>
          </a:bodyPr>
          <a:lstStyle>
            <a:lvl1pPr algn="l" marL="0" indent="0">
              <a:lnSpc>
                <a:spcPct val="120000"/>
              </a:lnSpc>
              <a:buNone/>
              <a:defRPr sz="1300" b="0" i="0">
                <a:solidFill>
                  <a:schemeClr val="accent2"/>
                </a:solidFill>
                <a:latin typeface="Arial"/>
              </a:defRPr>
            </a:lvl1pPr>
          </a:lstStyle>
          <a:p>
            <a:r>
              <a:rPr lang="en-US" dirty="0"/>
              <a:t>Replace this with one supporting sentence. Keep it to a single idea so the card stays scannable from the back of the room.</a:t>
            </a:r>
          </a:p>
        </p:txBody>
      </p:sp>
    </p:spTree>
  </p:cSld>
  <p:clrMapOvr>
    <a:masterClrMapping/>
  </p:clrMapOvr>
</p:sldLayout>
</file>

<file path=ppt/slideLayouts/slideLayout27.xml><?xml version="1.0" encoding="utf-8"?>
<p:sldLayout xmlns:p="http://schemas.openxmlformats.org/presentationml/2006/main" xmlns:a="http://schemas.openxmlformats.org/drawingml/2006/main" xmlns:r="http://schemas.openxmlformats.org/officeDocument/2006/relationships" type="cust" preserve="1">
  <p:cSld name="Valkey Thank You">
    <p:spTree>
      <p:nvGrpSpPr>
        <p:cNvPr id="1" name=""/>
        <p:cNvGrpSpPr/>
        <p:nvPr/>
      </p:nvGrpSpPr>
      <p:grpSpPr>
        <a:xfrm>
          <a:off x="0" y="0"/>
          <a:ext cx="0" cy="0"/>
          <a:chOff x="0" y="0"/>
          <a:chExt cx="0" cy="0"/>
        </a:xfrm>
      </p:grpSpPr>
      <p:sp>
        <p:nvSpPr>
          <p:cNvPr id="2" name="Rectangle 1"/>
          <p:cNvSpPr/>
          <p:nvPr/>
        </p:nvSpPr>
        <p:spPr>
          <a:xfrm>
            <a:off x="0" y="5669280"/>
            <a:ext cx="12192000" cy="118872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609600" y="3100000"/>
            <a:ext cx="1371600" cy="54864"/>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valkey-horizontal-white"/>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5194080" y="5958840"/>
            <a:ext cx="1803840" cy="609600"/>
          </a:xfrm>
          <a:prstGeom prst="rect">
            <a:avLst/>
          </a:prstGeom>
        </p:spPr>
      </p:pic>
      <p:sp>
        <p:nvSpPr>
          <p:cNvPr id="5" name="Closing"/>
          <p:cNvSpPr>
            <a:spLocks noGrp="1"/>
          </p:cNvSpPr>
          <p:nvPr>
            <p:ph type="body" idx="1" hasCustomPrompt="1"/>
          </p:nvPr>
        </p:nvSpPr>
        <p:spPr>
          <a:xfrm>
            <a:off x="609600" y="1900000"/>
            <a:ext cx="11062800" cy="1000000"/>
          </a:xfrm>
          <a:prstGeom prst="rect">
            <a:avLst/>
          </a:prstGeom>
        </p:spPr>
        <p:txBody>
          <a:bodyPr wrap="square" lIns="0" tIns="0" rIns="0" bIns="0" anchor="t">
            <a:normAutofit/>
          </a:bodyPr>
          <a:lstStyle>
            <a:lvl1pPr algn="l" marL="0" indent="0">
              <a:buNone/>
              <a:defRPr sz="5400" b="1" i="0">
                <a:solidFill>
                  <a:schemeClr val="dk1"/>
                </a:solidFill>
                <a:latin typeface="Arial"/>
              </a:defRPr>
            </a:lvl1pPr>
          </a:lstStyle>
          <a:p>
            <a:r>
              <a:rPr lang="en-US" dirty="0"/>
              <a:t>Thank you</a:t>
            </a:r>
          </a:p>
        </p:txBody>
      </p:sp>
      <p:sp>
        <p:nvSpPr>
          <p:cNvPr id="6" name="Speaker 1"/>
          <p:cNvSpPr>
            <a:spLocks noGrp="1"/>
          </p:cNvSpPr>
          <p:nvPr>
            <p:ph type="body" idx="2" hasCustomPrompt="1"/>
          </p:nvPr>
        </p:nvSpPr>
        <p:spPr>
          <a:xfrm>
            <a:off x="609600" y="3400000"/>
            <a:ext cx="5331400" cy="400000"/>
          </a:xfrm>
          <a:prstGeom prst="rect">
            <a:avLst/>
          </a:prstGeom>
        </p:spPr>
        <p:txBody>
          <a:bodyPr wrap="square" lIns="0" tIns="0" rIns="0" bIns="0" anchor="t">
            <a:normAutofit/>
          </a:bodyPr>
          <a:lstStyle>
            <a:lvl1pPr algn="l" marL="0" indent="0">
              <a:buNone/>
              <a:defRPr sz="1800" b="1" i="0">
                <a:solidFill>
                  <a:schemeClr val="dk1"/>
                </a:solidFill>
                <a:latin typeface="Arial"/>
              </a:defRPr>
            </a:lvl1pPr>
          </a:lstStyle>
          <a:p>
            <a:r>
              <a:rPr lang="en-US" dirty="0"/>
              <a:t>Madelyn Olson</a:t>
            </a:r>
          </a:p>
        </p:txBody>
      </p:sp>
      <p:sp>
        <p:nvSpPr>
          <p:cNvPr id="7" name="Speaker 1 contact 1"/>
          <p:cNvSpPr>
            <a:spLocks noGrp="1"/>
          </p:cNvSpPr>
          <p:nvPr>
            <p:ph type="body" idx="3" hasCustomPrompt="1"/>
          </p:nvPr>
        </p:nvSpPr>
        <p:spPr>
          <a:xfrm>
            <a:off x="609600" y="3820000"/>
            <a:ext cx="5331400" cy="340000"/>
          </a:xfrm>
          <a:prstGeom prst="rect">
            <a:avLst/>
          </a:prstGeom>
        </p:spPr>
        <p:txBody>
          <a:bodyPr wrap="square" lIns="0" tIns="0" rIns="0" bIns="0" anchor="t">
            <a:normAutofit/>
          </a:bodyPr>
          <a:lstStyle>
            <a:lvl1pPr algn="l" marL="0" indent="0">
              <a:buNone/>
              <a:defRPr sz="1600" b="0" i="0">
                <a:solidFill>
                  <a:schemeClr val="dk2"/>
                </a:solidFill>
                <a:latin typeface="Arial"/>
              </a:defRPr>
            </a:lvl1pPr>
          </a:lstStyle>
          <a:p>
            <a:r>
              <a:rPr lang="en-US" dirty="0"/>
              <a:t>@reconditerose</a:t>
            </a:r>
          </a:p>
        </p:txBody>
      </p:sp>
      <p:sp>
        <p:nvSpPr>
          <p:cNvPr id="8" name="Speaker 1 contact 2"/>
          <p:cNvSpPr>
            <a:spLocks noGrp="1"/>
          </p:cNvSpPr>
          <p:nvPr>
            <p:ph type="body" idx="4" hasCustomPrompt="1"/>
          </p:nvPr>
        </p:nvSpPr>
        <p:spPr>
          <a:xfrm>
            <a:off x="609600" y="4160000"/>
            <a:ext cx="5331400" cy="340000"/>
          </a:xfrm>
          <a:prstGeom prst="rect">
            <a:avLst/>
          </a:prstGeom>
        </p:spPr>
        <p:txBody>
          <a:bodyPr wrap="square" lIns="0" tIns="0" rIns="0" bIns="0" anchor="t">
            <a:normAutofit/>
          </a:bodyPr>
          <a:lstStyle>
            <a:lvl1pPr algn="l" marL="0" indent="0">
              <a:buNone/>
              <a:defRPr sz="1600" b="0" i="0">
                <a:solidFill>
                  <a:schemeClr val="dk2"/>
                </a:solidFill>
                <a:latin typeface="Arial"/>
              </a:defRPr>
            </a:lvl1pPr>
          </a:lstStyle>
          <a:p>
            <a:r>
              <a:rPr lang="en-US" dirty="0"/>
              <a:t>github.com/madolson</a:t>
            </a:r>
          </a:p>
        </p:txBody>
      </p:sp>
      <p:sp>
        <p:nvSpPr>
          <p:cNvPr id="9" name="Speaker 1 contact 3"/>
          <p:cNvSpPr>
            <a:spLocks noGrp="1"/>
          </p:cNvSpPr>
          <p:nvPr>
            <p:ph type="body" idx="5" hasCustomPrompt="1"/>
          </p:nvPr>
        </p:nvSpPr>
        <p:spPr>
          <a:xfrm>
            <a:off x="609600" y="4500000"/>
            <a:ext cx="5331400" cy="340000"/>
          </a:xfrm>
          <a:prstGeom prst="rect">
            <a:avLst/>
          </a:prstGeom>
        </p:spPr>
        <p:txBody>
          <a:bodyPr wrap="square" lIns="0" tIns="0" rIns="0" bIns="0" anchor="t">
            <a:normAutofit/>
          </a:bodyPr>
          <a:lstStyle>
            <a:lvl1pPr algn="l" marL="0" indent="0">
              <a:buNone/>
              <a:defRPr sz="1600" b="0" i="0">
                <a:solidFill>
                  <a:schemeClr val="dk2"/>
                </a:solidFill>
                <a:latin typeface="Arial"/>
              </a:defRPr>
            </a:lvl1pPr>
          </a:lstStyle>
          <a:p>
            <a:r>
              <a:rPr lang="en-US" dirty="0"/>
              <a:t>Contact</a:t>
            </a:r>
          </a:p>
        </p:txBody>
      </p:sp>
      <p:sp>
        <p:nvSpPr>
          <p:cNvPr id="10" name="Speaker 2"/>
          <p:cNvSpPr>
            <a:spLocks noGrp="1"/>
          </p:cNvSpPr>
          <p:nvPr>
            <p:ph type="body" idx="6" hasCustomPrompt="1"/>
          </p:nvPr>
        </p:nvSpPr>
        <p:spPr>
          <a:xfrm>
            <a:off x="6341000" y="3400000"/>
            <a:ext cx="5331400" cy="400000"/>
          </a:xfrm>
          <a:prstGeom prst="rect">
            <a:avLst/>
          </a:prstGeom>
        </p:spPr>
        <p:txBody>
          <a:bodyPr wrap="square" lIns="0" tIns="0" rIns="0" bIns="0" anchor="t">
            <a:normAutofit/>
          </a:bodyPr>
          <a:lstStyle>
            <a:lvl1pPr algn="l" marL="0" indent="0">
              <a:buNone/>
              <a:defRPr sz="1800" b="1" i="0">
                <a:solidFill>
                  <a:schemeClr val="dk1"/>
                </a:solidFill>
                <a:latin typeface="Arial"/>
              </a:defRPr>
            </a:lvl1pPr>
          </a:lstStyle>
          <a:p>
            <a:r>
              <a:rPr lang="en-US" dirty="0"/>
              <a:t>Second presenter</a:t>
            </a:r>
          </a:p>
        </p:txBody>
      </p:sp>
      <p:sp>
        <p:nvSpPr>
          <p:cNvPr id="11" name="Speaker 2 contact 1"/>
          <p:cNvSpPr>
            <a:spLocks noGrp="1"/>
          </p:cNvSpPr>
          <p:nvPr>
            <p:ph type="body" idx="7" hasCustomPrompt="1"/>
          </p:nvPr>
        </p:nvSpPr>
        <p:spPr>
          <a:xfrm>
            <a:off x="6341000" y="3820000"/>
            <a:ext cx="5331400" cy="340000"/>
          </a:xfrm>
          <a:prstGeom prst="rect">
            <a:avLst/>
          </a:prstGeom>
        </p:spPr>
        <p:txBody>
          <a:bodyPr wrap="square" lIns="0" tIns="0" rIns="0" bIns="0" anchor="t">
            <a:normAutofit/>
          </a:bodyPr>
          <a:lstStyle>
            <a:lvl1pPr algn="l" marL="0" indent="0">
              <a:buNone/>
              <a:defRPr sz="1600" b="0" i="0">
                <a:solidFill>
                  <a:schemeClr val="dk2"/>
                </a:solidFill>
                <a:latin typeface="Arial"/>
              </a:defRPr>
            </a:lvl1pPr>
          </a:lstStyle>
          <a:p>
            <a:r>
              <a:rPr lang="en-US" dirty="0"/>
              <a:t>Contact</a:t>
            </a:r>
          </a:p>
        </p:txBody>
      </p:sp>
      <p:sp>
        <p:nvSpPr>
          <p:cNvPr id="12" name="Speaker 2 contact 2"/>
          <p:cNvSpPr>
            <a:spLocks noGrp="1"/>
          </p:cNvSpPr>
          <p:nvPr>
            <p:ph type="body" idx="8" hasCustomPrompt="1"/>
          </p:nvPr>
        </p:nvSpPr>
        <p:spPr>
          <a:xfrm>
            <a:off x="6341000" y="4160000"/>
            <a:ext cx="5331400" cy="340000"/>
          </a:xfrm>
          <a:prstGeom prst="rect">
            <a:avLst/>
          </a:prstGeom>
        </p:spPr>
        <p:txBody>
          <a:bodyPr wrap="square" lIns="0" tIns="0" rIns="0" bIns="0" anchor="t">
            <a:normAutofit/>
          </a:bodyPr>
          <a:lstStyle>
            <a:lvl1pPr algn="l" marL="0" indent="0">
              <a:buNone/>
              <a:defRPr sz="1600" b="0" i="0">
                <a:solidFill>
                  <a:schemeClr val="dk2"/>
                </a:solidFill>
                <a:latin typeface="Arial"/>
              </a:defRPr>
            </a:lvl1pPr>
          </a:lstStyle>
          <a:p>
            <a:r>
              <a:rPr lang="en-US" dirty="0"/>
              <a:t>Contact</a:t>
            </a:r>
          </a:p>
        </p:txBody>
      </p:sp>
      <p:sp>
        <p:nvSpPr>
          <p:cNvPr id="13" name="Speaker 2 contact 3"/>
          <p:cNvSpPr>
            <a:spLocks noGrp="1"/>
          </p:cNvSpPr>
          <p:nvPr>
            <p:ph type="body" idx="9" hasCustomPrompt="1"/>
          </p:nvPr>
        </p:nvSpPr>
        <p:spPr>
          <a:xfrm>
            <a:off x="6341000" y="4500000"/>
            <a:ext cx="5331400" cy="340000"/>
          </a:xfrm>
          <a:prstGeom prst="rect">
            <a:avLst/>
          </a:prstGeom>
        </p:spPr>
        <p:txBody>
          <a:bodyPr wrap="square" lIns="0" tIns="0" rIns="0" bIns="0" anchor="t">
            <a:normAutofit/>
          </a:bodyPr>
          <a:lstStyle>
            <a:lvl1pPr algn="l" marL="0" indent="0">
              <a:buNone/>
              <a:defRPr sz="1600" b="0" i="0">
                <a:solidFill>
                  <a:schemeClr val="dk2"/>
                </a:solidFill>
                <a:latin typeface="Arial"/>
              </a:defRPr>
            </a:lvl1pPr>
          </a:lstStyle>
          <a:p>
            <a:r>
              <a:rPr lang="en-US" dirty="0"/>
              <a:t>Contact</a:t>
            </a:r>
          </a:p>
        </p:txBody>
      </p:sp>
    </p:spTree>
  </p:cSld>
  <p:clrMapOvr>
    <a:masterClrMapping/>
  </p:clrMapOvr>
</p:sldLayout>
</file>

<file path=ppt/slideMasters/_rels/slideMaster1.xml.rels><?xml version='1.0' encoding='UTF-8' standalone='yes'?>
<Relationships xmlns="http://schemas.openxmlformats.org/package/2006/relationships"><Relationship Id="rId16" Type="http://schemas.openxmlformats.org/officeDocument/2006/relationships/theme" Target="../theme/theme1.xml"/><Relationship Id="rId17" Type="http://schemas.openxmlformats.org/officeDocument/2006/relationships/image" Target="../media/image1.png"/><Relationship Id="rId18" Type="http://schemas.openxmlformats.org/officeDocument/2006/relationships/slideLayout" Target="../slideLayouts/slideLayout16.xml"/><Relationship Id="rId19" Type="http://schemas.openxmlformats.org/officeDocument/2006/relationships/slideLayout" Target="../slideLayouts/slideLayout17.xml"/><Relationship Id="rId20" Type="http://schemas.openxmlformats.org/officeDocument/2006/relationships/slideLayout" Target="../slideLayouts/slideLayout18.xml"/><Relationship Id="rId21" Type="http://schemas.openxmlformats.org/officeDocument/2006/relationships/slideLayout" Target="../slideLayouts/slideLayout19.xml"/><Relationship Id="rId22" Type="http://schemas.openxmlformats.org/officeDocument/2006/relationships/slideLayout" Target="../slideLayouts/slideLayout20.xml"/><Relationship Id="rId23" Type="http://schemas.openxmlformats.org/officeDocument/2006/relationships/slideLayout" Target="../slideLayouts/slideLayout21.xml"/><Relationship Id="rId24" Type="http://schemas.openxmlformats.org/officeDocument/2006/relationships/slideLayout" Target="../slideLayouts/slideLayout22.xml"/><Relationship Id="rId25" Type="http://schemas.openxmlformats.org/officeDocument/2006/relationships/slideLayout" Target="../slideLayouts/slideLayout23.xml"/><Relationship Id="rId26" Type="http://schemas.openxmlformats.org/officeDocument/2006/relationships/slideLayout" Target="../slideLayouts/slideLayout24.xml"/><Relationship Id="rId27" Type="http://schemas.openxmlformats.org/officeDocument/2006/relationships/slideLayout" Target="../slideLayouts/slideLayout25.xml"/><Relationship Id="rId28" Type="http://schemas.openxmlformats.org/officeDocument/2006/relationships/slideLayout" Target="../slideLayouts/slideLayout26.xml"/><Relationship Id="rId29"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
        <p:cNvGrpSpPr/>
        <p:nvPr/>
      </p:nvGrpSpPr>
      <p:grpSpPr>
        <a:xfrm>
          <a:off x="0" y="0"/>
          <a:ext cx="0" cy="0"/>
          <a:chOff x="0" y="0"/>
          <a:chExt cx="0" cy="0"/>
        </a:xfrm>
      </p:grpSpPr>
      <p:sp>
        <p:nvSpPr>
          <p:cNvPr id="7" name="Google Shape;7;p38"/>
          <p:cNvSpPr txBox="1">
            <a:spLocks noGrp="1"/>
          </p:cNvSpPr>
          <p:nvPr>
            <p:ph type="title"/>
          </p:nvPr>
        </p:nvSpPr>
        <p:spPr>
          <a:xfrm>
            <a:off x="609600" y="914403"/>
            <a:ext cx="10972800" cy="443198"/>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chemeClr val="dk1"/>
              </a:buClr>
              <a:buSzPts val="3200"/>
              <a:buFont typeface="Arial"/>
              <a:buNone/>
              <a:defRPr sz="3200" b="1"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8" name="Google Shape;8;p38"/>
          <p:cNvSpPr txBox="1">
            <a:spLocks noGrp="1"/>
          </p:cNvSpPr>
          <p:nvPr>
            <p:ph type="body" idx="1"/>
          </p:nvPr>
        </p:nvSpPr>
        <p:spPr>
          <a:xfrm>
            <a:off x="609600" y="1718985"/>
            <a:ext cx="10972800" cy="369332"/>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chemeClr val="dk1"/>
              </a:buClr>
              <a:buSzPts val="2160"/>
              <a:buFont typeface="Arial"/>
              <a:buNone/>
              <a:defRPr sz="24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chemeClr val="dk1"/>
              </a:buClr>
              <a:buSzPts val="1800"/>
              <a:buFont typeface="Arial"/>
              <a:buNone/>
              <a:defRPr sz="20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9pPr>
          </a:lstStyle>
          <a:p>
            <a:endParaRPr dirty="0"/>
          </a:p>
        </p:txBody>
      </p:sp>
      <p:pic>
        <p:nvPicPr>
          <p:cNvPr id="9" name="Google Shape;9;p38" descr="pasted-movie.png"/>
          <p:cNvPicPr preferRelativeResize="0"/>
          <p:nvPr/>
        </p:nvPicPr>
        <p:blipFill rotWithShape="1">
          <a:blip r:embed="rId17">
            <a:alphaModFix/>
          </a:blip>
          <a:srcRect/>
          <a:stretch/>
        </p:blipFill>
        <p:spPr>
          <a:xfrm>
            <a:off x="10389732" y="5943597"/>
            <a:ext cx="1434431" cy="44319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mj-l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384">
          <p15:clr>
            <a:srgbClr val="F26B43"/>
          </p15:clr>
        </p15:guide>
        <p15:guide id="2" pos="7296">
          <p15:clr>
            <a:srgbClr val="F26B43"/>
          </p15:clr>
        </p15:guide>
        <p15:guide id="3" orient="horz" pos="192">
          <p15:clr>
            <a:srgbClr val="F26B43"/>
          </p15:clr>
        </p15:guide>
        <p15:guide id="4" orient="horz" pos="3912">
          <p15:clr>
            <a:srgbClr val="F26B43"/>
          </p15:clr>
        </p15:guide>
        <p15:guide id="5" orient="horz" pos="1080">
          <p15:clr>
            <a:srgbClr val="F26B43"/>
          </p15:clr>
        </p15:guide>
        <p15:guide id="6" orient="horz" pos="57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23.png"/><Relationship Id="rId3" Type="http://schemas.openxmlformats.org/officeDocument/2006/relationships/image" Target="../media/image24.sv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25.png"/><Relationship Id="rId3" Type="http://schemas.openxmlformats.org/officeDocument/2006/relationships/image" Target="../media/image26.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27.png"/><Relationship Id="rId3" Type="http://schemas.openxmlformats.org/officeDocument/2006/relationships/image" Target="../media/image28.svg"/><Relationship Id="rId4" Type="http://schemas.openxmlformats.org/officeDocument/2006/relationships/image" Target="../media/image29.png"/><Relationship Id="rId5" Type="http://schemas.openxmlformats.org/officeDocument/2006/relationships/image" Target="../media/image30.svg"/><Relationship Id="rId6"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31.png"/><Relationship Id="rId3" Type="http://schemas.openxmlformats.org/officeDocument/2006/relationships/image" Target="../media/image32.svg"/><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27.png"/><Relationship Id="rId3" Type="http://schemas.openxmlformats.org/officeDocument/2006/relationships/image" Target="../media/image28.svg"/><Relationship Id="rId4" Type="http://schemas.openxmlformats.org/officeDocument/2006/relationships/image" Target="../media/image33.png"/><Relationship Id="rId5" Type="http://schemas.openxmlformats.org/officeDocument/2006/relationships/image" Target="../media/image34.svg"/><Relationship Id="rId6"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35.png"/><Relationship Id="rId3" Type="http://schemas.openxmlformats.org/officeDocument/2006/relationships/image" Target="../media/image36.svg"/><Relationship Id="rId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35.png"/><Relationship Id="rId3" Type="http://schemas.openxmlformats.org/officeDocument/2006/relationships/image" Target="../media/image36.svg"/><Relationship Id="rId4"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37.png"/><Relationship Id="rId3" Type="http://schemas.openxmlformats.org/officeDocument/2006/relationships/image" Target="../media/image38.svg"/><Relationship Id="rId4"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3.png"/><Relationship Id="rId3"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23.png"/><Relationship Id="rId3" Type="http://schemas.openxmlformats.org/officeDocument/2006/relationships/image" Target="../media/image24.svg"/><Relationship Id="rId4"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25.png"/><Relationship Id="rId3" Type="http://schemas.openxmlformats.org/officeDocument/2006/relationships/image" Target="../media/image26.svg"/><Relationship Id="rId4" Type="http://schemas.openxmlformats.org/officeDocument/2006/relationships/image" Target="../media/image39.png"/><Relationship Id="rId5" Type="http://schemas.openxmlformats.org/officeDocument/2006/relationships/image" Target="../media/image40.svg"/><Relationship Id="rId6"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39.png"/><Relationship Id="rId3" Type="http://schemas.openxmlformats.org/officeDocument/2006/relationships/image" Target="../media/image40.svg"/><Relationship Id="rId4"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25.png"/><Relationship Id="rId3" Type="http://schemas.openxmlformats.org/officeDocument/2006/relationships/image" Target="../media/image26.svg"/><Relationship Id="rId4"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41.png"/><Relationship Id="rId3" Type="http://schemas.openxmlformats.org/officeDocument/2006/relationships/image" Target="../media/image42.svg"/><Relationship Id="rId4" Type="http://schemas.openxmlformats.org/officeDocument/2006/relationships/image" Target="../media/image33.png"/><Relationship Id="rId5" Type="http://schemas.openxmlformats.org/officeDocument/2006/relationships/image" Target="../media/image34.svg"/><Relationship Id="rId6" Type="http://schemas.openxmlformats.org/officeDocument/2006/relationships/image" Target="../media/image43.png"/><Relationship Id="rId7" Type="http://schemas.openxmlformats.org/officeDocument/2006/relationships/image" Target="../media/image44.svg"/><Relationship Id="rId8"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image" Target="../media/image45.png"/><Relationship Id="rId3"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ctrTitle"/>
          </p:nvPr>
        </p:nvSpPr>
        <p:spPr/>
        <p:txBody>
          <a:bodyPr/>
          <a:lstStyle/>
          <a:p>
            <a:r>
              <a:rPr>
                <a:latin typeface="Arial"/>
              </a:rPr>
              <a:t>Open-Source Maintainers</a:t>
            </a:r>
          </a:p>
          <a:p>
            <a:r>
              <a:rPr>
                <a:latin typeface="Arial"/>
              </a:rPr>
              <a:t>vs. The CVE Tsunami</a:t>
            </a:r>
          </a:p>
        </p:txBody>
      </p:sp>
      <p:sp>
        <p:nvSpPr>
          <p:cNvPr id="5" name="Text Placeholder 4"/>
          <p:cNvSpPr>
            <a:spLocks noGrp="1"/>
          </p:cNvSpPr>
          <p:nvPr>
            <p:ph type="body" idx="2"/>
          </p:nvPr>
        </p:nvSpPr>
        <p:spPr/>
        <p:txBody>
          <a:bodyPr/>
          <a:lstStyle/>
          <a:p>
            <a:r>
              <a:rPr>
                <a:latin typeface="Arial"/>
              </a:rPr>
              <a:t>Madelyn Olson</a:t>
            </a:r>
          </a:p>
        </p:txBody>
      </p:sp>
      <p:sp>
        <p:nvSpPr>
          <p:cNvPr id="6" name="Text Placeholder 5"/>
          <p:cNvSpPr>
            <a:spLocks noGrp="1"/>
          </p:cNvSpPr>
          <p:nvPr>
            <p:ph type="body" idx="3"/>
          </p:nvPr>
        </p:nvSpPr>
        <p:spPr/>
        <p:txBody>
          <a:bodyPr/>
          <a:lstStyle/>
          <a:p>
            <a:r>
              <a:rPr>
                <a:latin typeface="Arial"/>
              </a:rPr>
              <a:t>Valkey maintainer</a:t>
            </a:r>
          </a:p>
        </p:txBody>
      </p:sp>
      <p:sp>
        <p:nvSpPr>
          <p:cNvPr id="7" name="Text Placeholder 6"/>
          <p:cNvSpPr>
            <a:spLocks noGrp="1"/>
          </p:cNvSpPr>
          <p:nvPr>
            <p:ph type="body" idx="4"/>
          </p:nvPr>
        </p:nvSpPr>
        <p:spPr/>
        <p:txBody>
          <a:bodyPr/>
          <a:lstStyle/>
          <a:p>
            <a:r>
              <a:rPr>
                <a:latin typeface="Arial"/>
              </a:rPr>
              <a:t>Harkrishn Patro</a:t>
            </a:r>
          </a:p>
        </p:txBody>
      </p:sp>
      <p:sp>
        <p:nvSpPr>
          <p:cNvPr id="8" name="Text Placeholder 7"/>
          <p:cNvSpPr>
            <a:spLocks noGrp="1"/>
          </p:cNvSpPr>
          <p:nvPr>
            <p:ph type="body" idx="5"/>
          </p:nvPr>
        </p:nvSpPr>
        <p:spPr/>
        <p:txBody>
          <a:bodyPr/>
          <a:lstStyle/>
          <a:p>
            <a:r>
              <a:rPr>
                <a:latin typeface="Arial"/>
              </a:rPr>
              <a:t>Valkey maintainer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Your next disclosure might be a tweet</a:t>
            </a:r>
          </a:p>
        </p:txBody>
      </p:sp>
      <p:pic>
        <p:nvPicPr>
          <p:cNvPr id="3" name="Picture 2" descr="kimi-k3-redis-0day-tweet.png"/>
          <p:cNvPicPr>
            <a:picLocks noChangeAspect="1"/>
          </p:cNvPicPr>
          <p:nvPr/>
        </p:nvPicPr>
        <p:blipFill>
          <a:blip r:embed="rId2"/>
          <a:stretch>
            <a:fillRect/>
          </a:stretch>
        </p:blipFill>
        <p:spPr>
          <a:xfrm>
            <a:off x="3975258" y="1080000"/>
            <a:ext cx="4241484" cy="4750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2026 already has more advisories than 2024 and 2025 combined</a:t>
            </a:r>
          </a:p>
        </p:txBody>
      </p:sp>
      <p:graphicFrame>
        <p:nvGraphicFramePr>
          <p:cNvPr id="3" name="Chart 2"/>
          <p:cNvGraphicFramePr>
            <a:graphicFrameLocks noGrp="1"/>
          </p:cNvGraphicFramePr>
          <p:nvPr/>
        </p:nvGraphicFramePr>
        <p:xfrm>
          <a:off x="1809600" y="1350000"/>
          <a:ext cx="8572800" cy="4500000"/>
        </p:xfrm>
        <a:graphic>
          <a:graphicData uri="http://schemas.openxmlformats.org/drawingml/2006/chart">
            <c:chart xmlns:c="http://schemas.openxmlformats.org/drawingml/2006/chart" r:id="rId2"/>
          </a:graphicData>
        </a:graphic>
      </p:graphicFrame>
      <p:sp>
        <p:nvSpPr>
          <p:cNvPr id="4" name="TextBox 3"/>
          <p:cNvSpPr txBox="1"/>
          <p:nvPr/>
        </p:nvSpPr>
        <p:spPr>
          <a:xfrm>
            <a:off x="609600" y="5943597"/>
            <a:ext cx="11062800" cy="300000"/>
          </a:xfrm>
          <a:prstGeom prst="rect">
            <a:avLst/>
          </a:prstGeom>
          <a:noFill/>
        </p:spPr>
        <p:txBody>
          <a:bodyPr wrap="square" lIns="0" rIns="0" tIns="0" bIns="0" anchor="t">
            <a:spAutoFit/>
          </a:bodyPr>
          <a:lstStyle/>
          <a:p>
            <a:pPr algn="l"/>
            <a:r>
              <a:rPr sz="1000" b="0" i="1">
                <a:solidFill>
                  <a:schemeClr val="dk1"/>
                </a:solidFill>
                <a:latin typeface="Arial"/>
              </a:rPr>
              <a:t>Source: github.com/valkey-io/valkey/security/advisories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rPr sz="3200">
                <a:latin typeface="Arial"/>
              </a:rPr>
              <a:t>“a seemingly unending deluge of vulnerability reports from researchers using LLMs to mine for security gold in our software”</a:t>
            </a:r>
          </a:p>
        </p:txBody>
      </p:sp>
      <p:sp>
        <p:nvSpPr>
          <p:cNvPr id="3" name="Text Placeholder 2"/>
          <p:cNvSpPr>
            <a:spLocks noGrp="1"/>
          </p:cNvSpPr>
          <p:nvPr>
            <p:ph type="body" idx="2"/>
          </p:nvPr>
        </p:nvSpPr>
        <p:spPr/>
        <p:txBody>
          <a:bodyPr/>
          <a:lstStyle/>
          <a:p>
            <a:r>
              <a:rPr>
                <a:latin typeface="Arial"/>
              </a:rPr>
              <a:t>Jeremy Stanley, OpenStack, oss-security, April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Finding bugs got easy</a:t>
            </a:r>
          </a:p>
        </p:txBody>
      </p:sp>
      <p:sp>
        <p:nvSpPr>
          <p:cNvPr id="3" name="Rectangle 2"/>
          <p:cNvSpPr/>
          <p:nvPr/>
        </p:nvSpPr>
        <p:spPr>
          <a:xfrm>
            <a:off x="6900000" y="3079000"/>
            <a:ext cx="4300000" cy="100000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900000" y="3079000"/>
            <a:ext cx="4300000" cy="1000000"/>
          </a:xfrm>
          <a:prstGeom prst="rect">
            <a:avLst/>
          </a:prstGeom>
          <a:noFill/>
        </p:spPr>
        <p:txBody>
          <a:bodyPr wrap="square" lIns="0" rIns="0" tIns="0" bIns="0" anchor="ctr">
            <a:spAutoFit/>
          </a:bodyPr>
          <a:lstStyle/>
          <a:p>
            <a:pPr algn="ctr"/>
            <a:r>
              <a:rPr sz="1800" b="1">
                <a:solidFill>
                  <a:schemeClr val="lt1"/>
                </a:solidFill>
                <a:latin typeface="Arial"/>
              </a:rPr>
              <a:t>script debugger use-after-free</a:t>
            </a:r>
          </a:p>
        </p:txBody>
      </p:sp>
      <p:pic>
        <p:nvPicPr>
          <p:cNvPr id="5" name="report"/>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1700000" y="1929000"/>
            <a:ext cx="900000" cy="900000"/>
          </a:xfrm>
          <a:prstGeom prst="rect">
            <a:avLst/>
          </a:prstGeom>
        </p:spPr>
      </p:pic>
      <p:cxnSp>
        <p:nvCxnSpPr>
          <p:cNvPr id="6" name="Connector 5"/>
          <p:cNvCxnSpPr/>
          <p:nvPr/>
        </p:nvCxnSpPr>
        <p:spPr>
          <a:xfrm>
            <a:off x="2750000" y="2379000"/>
            <a:ext cx="4050000" cy="1200000"/>
          </a:xfrm>
          <a:prstGeom prst="bentConnector3">
            <a:avLst/>
          </a:prstGeom>
          <a:ln w="1905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7" name="report"/>
          <p:cNvPicPr>
            <a:picLocks noChangeAspect="1"/>
          </p:cNvPicPr>
          <p:nvPr/>
        </p:nvPicPr>
        <p:blipFill>
          <a:blip r:embed="rId2">
            <a:extLst>
              <a:ext uri="{96DAC541-7B7A-43D3-8B79-37D633B846F1}">
                <ns2:svgBlip xmlns:ns2="http://schemas.microsoft.com/office/drawing/2016/SVG/main" r:embed="rId3"/>
              </a:ext>
            </a:extLst>
          </a:blip>
          <a:stretch>
            <a:fillRect/>
          </a:stretch>
        </p:blipFill>
        <p:spPr>
          <a:xfrm>
            <a:off x="1700000" y="3129000"/>
            <a:ext cx="900000" cy="900000"/>
          </a:xfrm>
          <a:prstGeom prst="rect">
            <a:avLst/>
          </a:prstGeom>
        </p:spPr>
      </p:pic>
      <p:cxnSp>
        <p:nvCxnSpPr>
          <p:cNvPr id="8" name="Connector 7"/>
          <p:cNvCxnSpPr/>
          <p:nvPr/>
        </p:nvCxnSpPr>
        <p:spPr>
          <a:xfrm>
            <a:off x="2750000" y="3579000"/>
            <a:ext cx="4050000" cy="0"/>
          </a:xfrm>
          <a:prstGeom prst="line">
            <a:avLst/>
          </a:prstGeom>
          <a:ln w="1905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9" name="report"/>
          <p:cNvPicPr>
            <a:picLocks noChangeAspect="1"/>
          </p:cNvPicPr>
          <p:nvPr/>
        </p:nvPicPr>
        <p:blipFill>
          <a:blip r:embed="rId2">
            <a:extLst>
              <a:ext uri="{96DAC541-7B7A-43D3-8B79-37D633B846F1}">
                <ns4:svgBlip xmlns:ns4="http://schemas.microsoft.com/office/drawing/2016/SVG/main" r:embed="rId3"/>
              </a:ext>
            </a:extLst>
          </a:blip>
          <a:stretch>
            <a:fillRect/>
          </a:stretch>
        </p:blipFill>
        <p:spPr>
          <a:xfrm>
            <a:off x="1700000" y="4329000"/>
            <a:ext cx="900000" cy="900000"/>
          </a:xfrm>
          <a:prstGeom prst="rect">
            <a:avLst/>
          </a:prstGeom>
        </p:spPr>
      </p:pic>
      <p:cxnSp>
        <p:nvCxnSpPr>
          <p:cNvPr id="10" name="Connector 9"/>
          <p:cNvCxnSpPr/>
          <p:nvPr/>
        </p:nvCxnSpPr>
        <p:spPr>
          <a:xfrm flipV="1">
            <a:off x="2750000" y="3579000"/>
            <a:ext cx="4050000" cy="1200000"/>
          </a:xfrm>
          <a:prstGeom prst="bentConnector3">
            <a:avLst/>
          </a:prstGeom>
          <a:ln w="1905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400000" y="5289000"/>
            <a:ext cx="1500000" cy="380000"/>
          </a:xfrm>
          <a:prstGeom prst="rect">
            <a:avLst/>
          </a:prstGeom>
          <a:noFill/>
        </p:spPr>
        <p:txBody>
          <a:bodyPr wrap="square" lIns="0" rIns="0" tIns="0" bIns="0" anchor="ctr">
            <a:spAutoFit/>
          </a:bodyPr>
          <a:lstStyle/>
          <a:p>
            <a:pPr algn="ctr"/>
            <a:r>
              <a:rPr sz="1600" b="0">
                <a:solidFill>
                  <a:schemeClr val="dk2"/>
                </a:solidFill>
                <a:latin typeface="Arial"/>
              </a:rPr>
              <a:t>2 weeks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Finding got cheap. Everything after it didn't.</a:t>
            </a:r>
          </a:p>
        </p:txBody>
      </p:sp>
      <p:sp>
        <p:nvSpPr>
          <p:cNvPr id="3" name="Rectangle 2"/>
          <p:cNvSpPr/>
          <p:nvPr/>
        </p:nvSpPr>
        <p:spPr>
          <a:xfrm>
            <a:off x="609600" y="2729000"/>
            <a:ext cx="760000" cy="170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09600" y="3729000"/>
            <a:ext cx="760000" cy="420000"/>
          </a:xfrm>
          <a:prstGeom prst="rect">
            <a:avLst/>
          </a:prstGeom>
          <a:noFill/>
        </p:spPr>
        <p:txBody>
          <a:bodyPr wrap="square" lIns="0" rIns="0" tIns="0" bIns="0" anchor="ctr">
            <a:spAutoFit/>
          </a:bodyPr>
          <a:lstStyle/>
          <a:p>
            <a:pPr algn="ctr"/>
            <a:r>
              <a:rPr sz="1600" b="1">
                <a:solidFill>
                  <a:schemeClr val="lt1"/>
                </a:solidFill>
                <a:latin typeface="Arial"/>
              </a:rPr>
              <a:t>find</a:t>
            </a:r>
          </a:p>
        </p:txBody>
      </p:sp>
      <p:sp>
        <p:nvSpPr>
          <p:cNvPr id="5" name="Rectangle 4"/>
          <p:cNvSpPr/>
          <p:nvPr/>
        </p:nvSpPr>
        <p:spPr>
          <a:xfrm>
            <a:off x="1449600" y="2729000"/>
            <a:ext cx="1622133" cy="1700000"/>
          </a:xfrm>
          <a:prstGeom prst="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erson"/>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1980666" y="3009000"/>
            <a:ext cx="560000" cy="560000"/>
          </a:xfrm>
          <a:prstGeom prst="rect">
            <a:avLst/>
          </a:prstGeom>
        </p:spPr>
      </p:pic>
      <p:sp>
        <p:nvSpPr>
          <p:cNvPr id="7" name="TextBox 6"/>
          <p:cNvSpPr txBox="1"/>
          <p:nvPr/>
        </p:nvSpPr>
        <p:spPr>
          <a:xfrm>
            <a:off x="1449600" y="3729000"/>
            <a:ext cx="1622133" cy="420000"/>
          </a:xfrm>
          <a:prstGeom prst="rect">
            <a:avLst/>
          </a:prstGeom>
          <a:noFill/>
        </p:spPr>
        <p:txBody>
          <a:bodyPr wrap="square" lIns="0" rIns="0" tIns="0" bIns="0" anchor="ctr">
            <a:spAutoFit/>
          </a:bodyPr>
          <a:lstStyle/>
          <a:p>
            <a:pPr algn="ctr"/>
            <a:r>
              <a:rPr sz="1600" b="1">
                <a:solidFill>
                  <a:schemeClr val="dk1"/>
                </a:solidFill>
                <a:latin typeface="Arial"/>
              </a:rPr>
              <a:t>reproduce</a:t>
            </a:r>
          </a:p>
        </p:txBody>
      </p:sp>
      <p:sp>
        <p:nvSpPr>
          <p:cNvPr id="8" name="Rectangle 7"/>
          <p:cNvSpPr/>
          <p:nvPr/>
        </p:nvSpPr>
        <p:spPr>
          <a:xfrm>
            <a:off x="3151733" y="2729000"/>
            <a:ext cx="1622133" cy="1700000"/>
          </a:xfrm>
          <a:prstGeom prst="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erson"/>
          <p:cNvPicPr>
            <a:picLocks noChangeAspect="1"/>
          </p:cNvPicPr>
          <p:nvPr/>
        </p:nvPicPr>
        <p:blipFill>
          <a:blip r:embed="rId2">
            <a:extLst>
              <a:ext uri="{96DAC541-7B7A-43D3-8B79-37D633B846F1}">
                <ns1:svgBlip xmlns:ns1="http://schemas.microsoft.com/office/drawing/2016/SVG/main" r:embed="rId3"/>
              </a:ext>
            </a:extLst>
          </a:blip>
          <a:stretch>
            <a:fillRect/>
          </a:stretch>
        </p:blipFill>
        <p:spPr>
          <a:xfrm>
            <a:off x="3682799" y="3009000"/>
            <a:ext cx="560000" cy="560000"/>
          </a:xfrm>
          <a:prstGeom prst="rect">
            <a:avLst/>
          </a:prstGeom>
        </p:spPr>
      </p:pic>
      <p:sp>
        <p:nvSpPr>
          <p:cNvPr id="10" name="TextBox 9"/>
          <p:cNvSpPr txBox="1"/>
          <p:nvPr/>
        </p:nvSpPr>
        <p:spPr>
          <a:xfrm>
            <a:off x="3151733" y="3729000"/>
            <a:ext cx="1622133" cy="420000"/>
          </a:xfrm>
          <a:prstGeom prst="rect">
            <a:avLst/>
          </a:prstGeom>
          <a:noFill/>
        </p:spPr>
        <p:txBody>
          <a:bodyPr wrap="square" lIns="0" rIns="0" tIns="0" bIns="0" anchor="ctr">
            <a:spAutoFit/>
          </a:bodyPr>
          <a:lstStyle/>
          <a:p>
            <a:pPr algn="ctr"/>
            <a:r>
              <a:rPr sz="1600" b="1">
                <a:solidFill>
                  <a:schemeClr val="dk1"/>
                </a:solidFill>
                <a:latin typeface="Arial"/>
              </a:rPr>
              <a:t>assess</a:t>
            </a:r>
          </a:p>
        </p:txBody>
      </p:sp>
      <p:sp>
        <p:nvSpPr>
          <p:cNvPr id="11" name="Rectangle 10"/>
          <p:cNvSpPr/>
          <p:nvPr/>
        </p:nvSpPr>
        <p:spPr>
          <a:xfrm>
            <a:off x="4853866" y="2729000"/>
            <a:ext cx="1622133" cy="1700000"/>
          </a:xfrm>
          <a:prstGeom prst="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erson"/>
          <p:cNvPicPr>
            <a:picLocks noChangeAspect="1"/>
          </p:cNvPicPr>
          <p:nvPr/>
        </p:nvPicPr>
        <p:blipFill>
          <a:blip r:embed="rId2">
            <a:extLst>
              <a:ext uri="{96DAC541-7B7A-43D3-8B79-37D633B846F1}">
                <ns2:svgBlip xmlns:ns2="http://schemas.microsoft.com/office/drawing/2016/SVG/main" r:embed="rId3"/>
              </a:ext>
            </a:extLst>
          </a:blip>
          <a:stretch>
            <a:fillRect/>
          </a:stretch>
        </p:blipFill>
        <p:spPr>
          <a:xfrm>
            <a:off x="5384932" y="3009000"/>
            <a:ext cx="560000" cy="560000"/>
          </a:xfrm>
          <a:prstGeom prst="rect">
            <a:avLst/>
          </a:prstGeom>
        </p:spPr>
      </p:pic>
      <p:sp>
        <p:nvSpPr>
          <p:cNvPr id="13" name="TextBox 12"/>
          <p:cNvSpPr txBox="1"/>
          <p:nvPr/>
        </p:nvSpPr>
        <p:spPr>
          <a:xfrm>
            <a:off x="4853866" y="3729000"/>
            <a:ext cx="1622133" cy="420000"/>
          </a:xfrm>
          <a:prstGeom prst="rect">
            <a:avLst/>
          </a:prstGeom>
          <a:noFill/>
        </p:spPr>
        <p:txBody>
          <a:bodyPr wrap="square" lIns="0" rIns="0" tIns="0" bIns="0" anchor="ctr">
            <a:spAutoFit/>
          </a:bodyPr>
          <a:lstStyle/>
          <a:p>
            <a:pPr algn="ctr"/>
            <a:r>
              <a:rPr sz="1600" b="1">
                <a:solidFill>
                  <a:schemeClr val="dk1"/>
                </a:solidFill>
                <a:latin typeface="Arial"/>
              </a:rPr>
              <a:t>fix</a:t>
            </a:r>
          </a:p>
        </p:txBody>
      </p:sp>
      <p:sp>
        <p:nvSpPr>
          <p:cNvPr id="14" name="Rectangle 13"/>
          <p:cNvSpPr/>
          <p:nvPr/>
        </p:nvSpPr>
        <p:spPr>
          <a:xfrm>
            <a:off x="6555999" y="2729000"/>
            <a:ext cx="1622133" cy="1700000"/>
          </a:xfrm>
          <a:prstGeom prst="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erson"/>
          <p:cNvPicPr>
            <a:picLocks noChangeAspect="1"/>
          </p:cNvPicPr>
          <p:nvPr/>
        </p:nvPicPr>
        <p:blipFill>
          <a:blip r:embed="rId2">
            <a:extLst>
              <a:ext uri="{96DAC541-7B7A-43D3-8B79-37D633B846F1}">
                <ns3:svgBlip xmlns:ns3="http://schemas.microsoft.com/office/drawing/2016/SVG/main" r:embed="rId3"/>
              </a:ext>
            </a:extLst>
          </a:blip>
          <a:stretch>
            <a:fillRect/>
          </a:stretch>
        </p:blipFill>
        <p:spPr>
          <a:xfrm>
            <a:off x="7087065" y="3009000"/>
            <a:ext cx="560000" cy="560000"/>
          </a:xfrm>
          <a:prstGeom prst="rect">
            <a:avLst/>
          </a:prstGeom>
        </p:spPr>
      </p:pic>
      <p:sp>
        <p:nvSpPr>
          <p:cNvPr id="16" name="TextBox 15"/>
          <p:cNvSpPr txBox="1"/>
          <p:nvPr/>
        </p:nvSpPr>
        <p:spPr>
          <a:xfrm>
            <a:off x="6555999" y="3729000"/>
            <a:ext cx="1622133" cy="420000"/>
          </a:xfrm>
          <a:prstGeom prst="rect">
            <a:avLst/>
          </a:prstGeom>
          <a:noFill/>
        </p:spPr>
        <p:txBody>
          <a:bodyPr wrap="square" lIns="0" rIns="0" tIns="0" bIns="0" anchor="ctr">
            <a:spAutoFit/>
          </a:bodyPr>
          <a:lstStyle/>
          <a:p>
            <a:pPr algn="ctr"/>
            <a:r>
              <a:rPr sz="1600" b="1">
                <a:solidFill>
                  <a:schemeClr val="dk1"/>
                </a:solidFill>
                <a:latin typeface="Arial"/>
              </a:rPr>
              <a:t>embargo</a:t>
            </a:r>
          </a:p>
        </p:txBody>
      </p:sp>
      <p:sp>
        <p:nvSpPr>
          <p:cNvPr id="17" name="Rectangle 16"/>
          <p:cNvSpPr/>
          <p:nvPr/>
        </p:nvSpPr>
        <p:spPr>
          <a:xfrm>
            <a:off x="8258132" y="2729000"/>
            <a:ext cx="1622133" cy="1700000"/>
          </a:xfrm>
          <a:prstGeom prst="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erson"/>
          <p:cNvPicPr>
            <a:picLocks noChangeAspect="1"/>
          </p:cNvPicPr>
          <p:nvPr/>
        </p:nvPicPr>
        <p:blipFill>
          <a:blip r:embed="rId2">
            <a:extLst>
              <a:ext uri="{96DAC541-7B7A-43D3-8B79-37D633B846F1}">
                <ns4:svgBlip xmlns:ns4="http://schemas.microsoft.com/office/drawing/2016/SVG/main" r:embed="rId3"/>
              </a:ext>
            </a:extLst>
          </a:blip>
          <a:stretch>
            <a:fillRect/>
          </a:stretch>
        </p:blipFill>
        <p:spPr>
          <a:xfrm>
            <a:off x="8789198" y="3009000"/>
            <a:ext cx="560000" cy="560000"/>
          </a:xfrm>
          <a:prstGeom prst="rect">
            <a:avLst/>
          </a:prstGeom>
        </p:spPr>
      </p:pic>
      <p:sp>
        <p:nvSpPr>
          <p:cNvPr id="19" name="TextBox 18"/>
          <p:cNvSpPr txBox="1"/>
          <p:nvPr/>
        </p:nvSpPr>
        <p:spPr>
          <a:xfrm>
            <a:off x="8258132" y="3729000"/>
            <a:ext cx="1622133" cy="420000"/>
          </a:xfrm>
          <a:prstGeom prst="rect">
            <a:avLst/>
          </a:prstGeom>
          <a:noFill/>
        </p:spPr>
        <p:txBody>
          <a:bodyPr wrap="square" lIns="0" rIns="0" tIns="0" bIns="0" anchor="ctr">
            <a:spAutoFit/>
          </a:bodyPr>
          <a:lstStyle/>
          <a:p>
            <a:pPr algn="ctr"/>
            <a:r>
              <a:rPr sz="1600" b="1">
                <a:solidFill>
                  <a:schemeClr val="dk1"/>
                </a:solidFill>
                <a:latin typeface="Arial"/>
              </a:rPr>
              <a:t>backport</a:t>
            </a:r>
          </a:p>
        </p:txBody>
      </p:sp>
      <p:sp>
        <p:nvSpPr>
          <p:cNvPr id="20" name="Rectangle 19"/>
          <p:cNvSpPr/>
          <p:nvPr/>
        </p:nvSpPr>
        <p:spPr>
          <a:xfrm>
            <a:off x="9960265" y="2729000"/>
            <a:ext cx="1622133" cy="1700000"/>
          </a:xfrm>
          <a:prstGeom prst="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erson"/>
          <p:cNvPicPr>
            <a:picLocks noChangeAspect="1"/>
          </p:cNvPicPr>
          <p:nvPr/>
        </p:nvPicPr>
        <p:blipFill>
          <a:blip r:embed="rId2">
            <a:extLst>
              <a:ext uri="{96DAC541-7B7A-43D3-8B79-37D633B846F1}">
                <ns5:svgBlip xmlns:ns5="http://schemas.microsoft.com/office/drawing/2016/SVG/main" r:embed="rId3"/>
              </a:ext>
            </a:extLst>
          </a:blip>
          <a:stretch>
            <a:fillRect/>
          </a:stretch>
        </p:blipFill>
        <p:spPr>
          <a:xfrm>
            <a:off x="10491331" y="3009000"/>
            <a:ext cx="560000" cy="560000"/>
          </a:xfrm>
          <a:prstGeom prst="rect">
            <a:avLst/>
          </a:prstGeom>
        </p:spPr>
      </p:pic>
      <p:sp>
        <p:nvSpPr>
          <p:cNvPr id="22" name="TextBox 21"/>
          <p:cNvSpPr txBox="1"/>
          <p:nvPr/>
        </p:nvSpPr>
        <p:spPr>
          <a:xfrm>
            <a:off x="9960265" y="3729000"/>
            <a:ext cx="1622133" cy="420000"/>
          </a:xfrm>
          <a:prstGeom prst="rect">
            <a:avLst/>
          </a:prstGeom>
          <a:noFill/>
        </p:spPr>
        <p:txBody>
          <a:bodyPr wrap="square" lIns="0" rIns="0" tIns="0" bIns="0" anchor="ctr">
            <a:spAutoFit/>
          </a:bodyPr>
          <a:lstStyle/>
          <a:p>
            <a:pPr algn="ctr"/>
            <a:r>
              <a:rPr sz="1600" b="1">
                <a:solidFill>
                  <a:schemeClr val="dk1"/>
                </a:solidFill>
                <a:latin typeface="Arial"/>
              </a:rPr>
              <a:t>release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rPr>
                <a:latin typeface="Arial"/>
              </a:rPr>
              <a:t>Act 1: CVEs aren't so special anymore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rPr>
                <a:latin typeface="Arial"/>
              </a:rPr>
              <a:t>“When everything is a CVE, nothing is”</a:t>
            </a:r>
          </a:p>
        </p:txBody>
      </p:sp>
      <p:sp>
        <p:nvSpPr>
          <p:cNvPr id="3" name="Text Placeholder 2"/>
          <p:cNvSpPr>
            <a:spLocks noGrp="1"/>
          </p:cNvSpPr>
          <p:nvPr>
            <p:ph type="body" idx="2"/>
          </p:nvPr>
        </p:nvSpPr>
        <p:spPr/>
        <p:txBody>
          <a:bodyPr/>
          <a:lstStyle/>
          <a:p>
            <a:r>
              <a:rPr>
                <a:latin typeface="Arial"/>
              </a:rPr>
              <a:t>-Madelyn Olson (Wise Maintainer)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Doing what you're allowed isn't a vulnerability</a:t>
            </a:r>
          </a:p>
        </p:txBody>
      </p:sp>
      <p:sp>
        <p:nvSpPr>
          <p:cNvPr id="3" name="Rectangle 2"/>
          <p:cNvSpPr/>
          <p:nvPr/>
        </p:nvSpPr>
        <p:spPr>
          <a:xfrm>
            <a:off x="609600" y="3579000"/>
            <a:ext cx="10972800" cy="4572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082400" y="3159000"/>
            <a:ext cx="2500000" cy="380000"/>
          </a:xfrm>
          <a:prstGeom prst="rect">
            <a:avLst/>
          </a:prstGeom>
          <a:noFill/>
        </p:spPr>
        <p:txBody>
          <a:bodyPr wrap="square" lIns="0" rIns="0" tIns="0" bIns="0" anchor="ctr">
            <a:spAutoFit/>
          </a:bodyPr>
          <a:lstStyle/>
          <a:p>
            <a:pPr algn="r"/>
            <a:r>
              <a:rPr sz="1400" b="0">
                <a:solidFill>
                  <a:schemeClr val="dk2"/>
                </a:solidFill>
                <a:latin typeface="Arial"/>
              </a:rPr>
              <a:t>ACL boundary</a:t>
            </a:r>
          </a:p>
        </p:txBody>
      </p:sp>
      <p:sp>
        <p:nvSpPr>
          <p:cNvPr id="5" name="Rectangle 4"/>
          <p:cNvSpPr/>
          <p:nvPr/>
        </p:nvSpPr>
        <p:spPr>
          <a:xfrm>
            <a:off x="609600" y="2229000"/>
            <a:ext cx="3524266" cy="750000"/>
          </a:xfrm>
          <a:prstGeom prst="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2229000"/>
            <a:ext cx="3524266" cy="750000"/>
          </a:xfrm>
          <a:prstGeom prst="rect">
            <a:avLst/>
          </a:prstGeom>
          <a:noFill/>
        </p:spPr>
        <p:txBody>
          <a:bodyPr wrap="square" lIns="0" rIns="0" tIns="0" bIns="0" anchor="ctr">
            <a:spAutoFit/>
          </a:bodyPr>
          <a:lstStyle/>
          <a:p>
            <a:pPr algn="ctr"/>
            <a:r>
              <a:rPr sz="1800" b="1">
                <a:solidFill>
                  <a:schemeClr val="dk1"/>
                </a:solidFill>
                <a:latin typeface="Arial"/>
              </a:rPr>
              <a:t>read another client's keys</a:t>
            </a:r>
          </a:p>
        </p:txBody>
      </p:sp>
      <p:sp>
        <p:nvSpPr>
          <p:cNvPr id="7" name="Rectangle 6"/>
          <p:cNvSpPr/>
          <p:nvPr/>
        </p:nvSpPr>
        <p:spPr>
          <a:xfrm>
            <a:off x="4333866" y="2229000"/>
            <a:ext cx="3524266" cy="750000"/>
          </a:xfrm>
          <a:prstGeom prst="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333866" y="2229000"/>
            <a:ext cx="3524266" cy="750000"/>
          </a:xfrm>
          <a:prstGeom prst="rect">
            <a:avLst/>
          </a:prstGeom>
          <a:noFill/>
        </p:spPr>
        <p:txBody>
          <a:bodyPr wrap="square" lIns="0" rIns="0" tIns="0" bIns="0" anchor="ctr">
            <a:spAutoFit/>
          </a:bodyPr>
          <a:lstStyle/>
          <a:p>
            <a:pPr algn="ctr"/>
            <a:r>
              <a:rPr sz="1800" b="1">
                <a:solidFill>
                  <a:schemeClr val="dk1"/>
                </a:solidFill>
                <a:latin typeface="Arial"/>
              </a:rPr>
              <a:t>execute code</a:t>
            </a:r>
          </a:p>
        </p:txBody>
      </p:sp>
      <p:sp>
        <p:nvSpPr>
          <p:cNvPr id="9" name="Rectangle 8"/>
          <p:cNvSpPr/>
          <p:nvPr/>
        </p:nvSpPr>
        <p:spPr>
          <a:xfrm>
            <a:off x="609600" y="4179000"/>
            <a:ext cx="3524266" cy="75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09600" y="4179000"/>
            <a:ext cx="3524266" cy="750000"/>
          </a:xfrm>
          <a:prstGeom prst="rect">
            <a:avLst/>
          </a:prstGeom>
          <a:noFill/>
        </p:spPr>
        <p:txBody>
          <a:bodyPr wrap="square" lIns="0" rIns="0" tIns="0" bIns="0" anchor="ctr">
            <a:spAutoFit/>
          </a:bodyPr>
          <a:lstStyle/>
          <a:p>
            <a:pPr algn="ctr"/>
            <a:r>
              <a:rPr sz="1800" b="1">
                <a:solidFill>
                  <a:schemeClr val="dk2"/>
                </a:solidFill>
                <a:latin typeface="Arial"/>
              </a:rPr>
              <a:t>delete data</a:t>
            </a:r>
          </a:p>
        </p:txBody>
      </p:sp>
      <p:sp>
        <p:nvSpPr>
          <p:cNvPr id="11" name="Rectangle 10"/>
          <p:cNvSpPr/>
          <p:nvPr/>
        </p:nvSpPr>
        <p:spPr>
          <a:xfrm>
            <a:off x="4333866" y="4179000"/>
            <a:ext cx="3524266" cy="75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333866" y="4179000"/>
            <a:ext cx="3524266" cy="750000"/>
          </a:xfrm>
          <a:prstGeom prst="rect">
            <a:avLst/>
          </a:prstGeom>
          <a:noFill/>
        </p:spPr>
        <p:txBody>
          <a:bodyPr wrap="square" lIns="0" rIns="0" tIns="0" bIns="0" anchor="ctr">
            <a:spAutoFit/>
          </a:bodyPr>
          <a:lstStyle/>
          <a:p>
            <a:pPr algn="ctr"/>
            <a:r>
              <a:rPr sz="1800" b="1">
                <a:solidFill>
                  <a:schemeClr val="dk2"/>
                </a:solidFill>
                <a:latin typeface="Arial"/>
              </a:rPr>
              <a:t>grow memory</a:t>
            </a:r>
          </a:p>
        </p:txBody>
      </p:sp>
      <p:sp>
        <p:nvSpPr>
          <p:cNvPr id="13" name="Rectangle 12"/>
          <p:cNvSpPr/>
          <p:nvPr/>
        </p:nvSpPr>
        <p:spPr>
          <a:xfrm>
            <a:off x="8058132" y="4179000"/>
            <a:ext cx="3524266" cy="75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058132" y="4179000"/>
            <a:ext cx="3524266" cy="750000"/>
          </a:xfrm>
          <a:prstGeom prst="rect">
            <a:avLst/>
          </a:prstGeom>
          <a:noFill/>
        </p:spPr>
        <p:txBody>
          <a:bodyPr wrap="square" lIns="0" rIns="0" tIns="0" bIns="0" anchor="ctr">
            <a:spAutoFit/>
          </a:bodyPr>
          <a:lstStyle/>
          <a:p>
            <a:pPr algn="ctr"/>
            <a:r>
              <a:rPr sz="1800" b="1">
                <a:solidFill>
                  <a:schemeClr val="dk2"/>
                </a:solidFill>
                <a:latin typeface="Arial"/>
              </a:rPr>
              <a:t>pin a core with Lua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Raising the bar on CVEs</a:t>
            </a:r>
          </a:p>
        </p:txBody>
      </p:sp>
      <p:sp>
        <p:nvSpPr>
          <p:cNvPr id="3" name="Rectangle 2"/>
          <p:cNvSpPr/>
          <p:nvPr/>
        </p:nvSpPr>
        <p:spPr>
          <a:xfrm>
            <a:off x="609600" y="1979000"/>
            <a:ext cx="5431400" cy="3300000"/>
          </a:xfrm>
          <a:prstGeom prst="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security"/>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792480" y="2161880"/>
            <a:ext cx="1097280" cy="1097280"/>
          </a:xfrm>
          <a:prstGeom prst="rect">
            <a:avLst/>
          </a:prstGeom>
        </p:spPr>
      </p:pic>
      <p:sp>
        <p:nvSpPr>
          <p:cNvPr id="5" name="TextBox 4"/>
          <p:cNvSpPr txBox="1"/>
          <p:nvPr/>
        </p:nvSpPr>
        <p:spPr>
          <a:xfrm>
            <a:off x="792480" y="3396320"/>
            <a:ext cx="5065640" cy="400110"/>
          </a:xfrm>
          <a:prstGeom prst="rect">
            <a:avLst/>
          </a:prstGeom>
          <a:noFill/>
        </p:spPr>
        <p:txBody>
          <a:bodyPr wrap="square" lIns="0" rIns="0" tIns="0" bIns="0" anchor="t">
            <a:spAutoFit/>
          </a:bodyPr>
          <a:lstStyle/>
          <a:p>
            <a:pPr algn="l"/>
            <a:r>
              <a:rPr sz="1800" b="1">
                <a:solidFill>
                  <a:schemeClr val="dk1"/>
                </a:solidFill>
                <a:latin typeface="Arial"/>
              </a:rPr>
              <a:t>Advisory</a:t>
            </a:r>
          </a:p>
        </p:txBody>
      </p:sp>
      <p:sp>
        <p:nvSpPr>
          <p:cNvPr id="6" name="TextBox 5"/>
          <p:cNvSpPr txBox="1"/>
          <p:nvPr/>
        </p:nvSpPr>
        <p:spPr>
          <a:xfrm>
            <a:off x="792480" y="3842150"/>
            <a:ext cx="5065640" cy="1253970"/>
          </a:xfrm>
          <a:prstGeom prst="rect">
            <a:avLst/>
          </a:prstGeom>
          <a:noFill/>
        </p:spPr>
        <p:txBody>
          <a:bodyPr wrap="square" lIns="0" rIns="0" tIns="0" bIns="0">
            <a:spAutoFit/>
          </a:bodyPr>
          <a:lstStyle/>
          <a:p>
            <a:pPr>
              <a:spcAft>
                <a:spcPts val="600"/>
              </a:spcAft>
            </a:pPr>
            <a:r>
              <a:rPr sz="1600" b="0">
                <a:solidFill>
                  <a:schemeClr val="dk1"/>
                </a:solidFill>
                <a:latin typeface="Arial"/>
              </a:rPr>
              <a:t>Pre-auth crash</a:t>
            </a:r>
          </a:p>
          <a:p>
            <a:pPr>
              <a:spcAft>
                <a:spcPts val="600"/>
              </a:spcAft>
            </a:pPr>
            <a:r>
              <a:rPr sz="1600" b="0">
                <a:solidFill>
                  <a:schemeClr val="dk1"/>
                </a:solidFill>
                <a:latin typeface="Arial"/>
              </a:rPr>
              <a:t>Authenticated out-of-bounds read</a:t>
            </a:r>
          </a:p>
          <a:p>
            <a:pPr>
              <a:spcAft>
                <a:spcPts val="600"/>
              </a:spcAft>
            </a:pPr>
            <a:r>
              <a:rPr sz="1600" b="0">
                <a:solidFill>
                  <a:schemeClr val="dk1"/>
                </a:solidFill>
                <a:latin typeface="Arial"/>
              </a:rPr>
              <a:t>Memory corruption with a path to code execution</a:t>
            </a:r>
          </a:p>
        </p:txBody>
      </p:sp>
      <p:sp>
        <p:nvSpPr>
          <p:cNvPr id="7" name="Rectangle 6"/>
          <p:cNvSpPr/>
          <p:nvPr/>
        </p:nvSpPr>
        <p:spPr>
          <a:xfrm>
            <a:off x="6241000" y="1979000"/>
            <a:ext cx="5431400" cy="330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reliability"/>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6423880" y="2161880"/>
            <a:ext cx="1097280" cy="1097280"/>
          </a:xfrm>
          <a:prstGeom prst="rect">
            <a:avLst/>
          </a:prstGeom>
        </p:spPr>
      </p:pic>
      <p:sp>
        <p:nvSpPr>
          <p:cNvPr id="9" name="TextBox 8"/>
          <p:cNvSpPr txBox="1"/>
          <p:nvPr/>
        </p:nvSpPr>
        <p:spPr>
          <a:xfrm>
            <a:off x="6423880" y="3396320"/>
            <a:ext cx="5065640" cy="400110"/>
          </a:xfrm>
          <a:prstGeom prst="rect">
            <a:avLst/>
          </a:prstGeom>
          <a:noFill/>
        </p:spPr>
        <p:txBody>
          <a:bodyPr wrap="square" lIns="0" rIns="0" tIns="0" bIns="0" anchor="t">
            <a:spAutoFit/>
          </a:bodyPr>
          <a:lstStyle/>
          <a:p>
            <a:pPr algn="l"/>
            <a:r>
              <a:rPr sz="1800" b="1">
                <a:solidFill>
                  <a:schemeClr val="accent2"/>
                </a:solidFill>
                <a:latin typeface="Arial"/>
              </a:rPr>
              <a:t>Ordinary bug</a:t>
            </a:r>
          </a:p>
        </p:txBody>
      </p:sp>
      <p:sp>
        <p:nvSpPr>
          <p:cNvPr id="10" name="TextBox 9"/>
          <p:cNvSpPr txBox="1"/>
          <p:nvPr/>
        </p:nvSpPr>
        <p:spPr>
          <a:xfrm>
            <a:off x="6423880" y="3842150"/>
            <a:ext cx="5065640" cy="1253970"/>
          </a:xfrm>
          <a:prstGeom prst="rect">
            <a:avLst/>
          </a:prstGeom>
          <a:noFill/>
        </p:spPr>
        <p:txBody>
          <a:bodyPr wrap="square" lIns="0" rIns="0" tIns="0" bIns="0">
            <a:spAutoFit/>
          </a:bodyPr>
          <a:lstStyle/>
          <a:p>
            <a:pPr>
              <a:spcAft>
                <a:spcPts val="600"/>
              </a:spcAft>
            </a:pPr>
            <a:r>
              <a:rPr sz="1600" b="0">
                <a:solidFill>
                  <a:schemeClr val="accent2"/>
                </a:solidFill>
                <a:latin typeface="Arial"/>
              </a:rPr>
              <a:t>Authenticated crash or hang</a:t>
            </a:r>
          </a:p>
          <a:p>
            <a:pPr>
              <a:spcAft>
                <a:spcPts val="600"/>
              </a:spcAft>
            </a:pPr>
            <a:r>
              <a:rPr sz="1600" b="0">
                <a:solidFill>
                  <a:schemeClr val="accent2"/>
                </a:solidFill>
                <a:latin typeface="Arial"/>
              </a:rPr>
              <a:t>Crash from a client with EVAL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The cluster bus trusts every message</a:t>
            </a:r>
          </a:p>
        </p:txBody>
      </p:sp>
      <p:sp>
        <p:nvSpPr>
          <p:cNvPr id="3" name="Rectangle 2"/>
          <p:cNvSpPr/>
          <p:nvPr/>
        </p:nvSpPr>
        <p:spPr>
          <a:xfrm>
            <a:off x="4596000" y="1300000"/>
            <a:ext cx="3000000" cy="50000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596000" y="1300000"/>
            <a:ext cx="3000000" cy="500000"/>
          </a:xfrm>
          <a:prstGeom prst="rect">
            <a:avLst/>
          </a:prstGeom>
          <a:noFill/>
        </p:spPr>
        <p:txBody>
          <a:bodyPr wrap="square" lIns="0" rIns="0" tIns="0" bIns="0" anchor="ctr">
            <a:spAutoFit/>
          </a:bodyPr>
          <a:lstStyle/>
          <a:p>
            <a:pPr algn="ctr"/>
            <a:r>
              <a:rPr sz="1600" b="1">
                <a:solidFill>
                  <a:schemeClr val="lt1"/>
                </a:solidFill>
                <a:latin typeface="Arial"/>
              </a:rPr>
              <a:t>clients</a:t>
            </a:r>
          </a:p>
        </p:txBody>
      </p:sp>
      <p:cxnSp>
        <p:nvCxnSpPr>
          <p:cNvPr id="5" name="Connector 4"/>
          <p:cNvCxnSpPr/>
          <p:nvPr/>
        </p:nvCxnSpPr>
        <p:spPr>
          <a:xfrm>
            <a:off x="6096000" y="1800000"/>
            <a:ext cx="0" cy="550000"/>
          </a:xfrm>
          <a:prstGeom prst="line">
            <a:avLst/>
          </a:prstGeom>
          <a:ln w="19050">
            <a:solidFill>
              <a:schemeClr val="dk2"/>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600000" y="2350000"/>
            <a:ext cx="7000000" cy="0"/>
          </a:xfrm>
          <a:prstGeom prst="line">
            <a:avLst/>
          </a:prstGeom>
          <a:ln w="19050">
            <a:solidFill>
              <a:schemeClr val="dk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600000" y="2350000"/>
            <a:ext cx="0" cy="800000"/>
          </a:xfrm>
          <a:prstGeom prst="line">
            <a:avLst/>
          </a:prstGeom>
          <a:ln w="1905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660000" y="2430000"/>
            <a:ext cx="900000" cy="340000"/>
          </a:xfrm>
          <a:prstGeom prst="rect">
            <a:avLst/>
          </a:prstGeom>
          <a:noFill/>
        </p:spPr>
        <p:txBody>
          <a:bodyPr wrap="square" lIns="0" rIns="0" tIns="0" bIns="0" anchor="ctr">
            <a:spAutoFit/>
          </a:bodyPr>
          <a:lstStyle/>
          <a:p>
            <a:pPr algn="l"/>
            <a:r>
              <a:rPr sz="1400" b="0">
                <a:solidFill>
                  <a:schemeClr val="dk2"/>
                </a:solidFill>
                <a:latin typeface="Arial"/>
              </a:rPr>
              <a:t>6379</a:t>
            </a:r>
          </a:p>
        </p:txBody>
      </p:sp>
      <p:cxnSp>
        <p:nvCxnSpPr>
          <p:cNvPr id="9" name="Connector 8"/>
          <p:cNvCxnSpPr/>
          <p:nvPr/>
        </p:nvCxnSpPr>
        <p:spPr>
          <a:xfrm>
            <a:off x="6100000" y="2350000"/>
            <a:ext cx="0" cy="800000"/>
          </a:xfrm>
          <a:prstGeom prst="line">
            <a:avLst/>
          </a:prstGeom>
          <a:ln w="1905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160000" y="2430000"/>
            <a:ext cx="900000" cy="340000"/>
          </a:xfrm>
          <a:prstGeom prst="rect">
            <a:avLst/>
          </a:prstGeom>
          <a:noFill/>
        </p:spPr>
        <p:txBody>
          <a:bodyPr wrap="square" lIns="0" rIns="0" tIns="0" bIns="0" anchor="ctr">
            <a:spAutoFit/>
          </a:bodyPr>
          <a:lstStyle/>
          <a:p>
            <a:pPr algn="l"/>
            <a:r>
              <a:rPr sz="1400" b="0">
                <a:solidFill>
                  <a:schemeClr val="dk2"/>
                </a:solidFill>
                <a:latin typeface="Arial"/>
              </a:rPr>
              <a:t>6379</a:t>
            </a:r>
          </a:p>
        </p:txBody>
      </p:sp>
      <p:cxnSp>
        <p:nvCxnSpPr>
          <p:cNvPr id="11" name="Connector 10"/>
          <p:cNvCxnSpPr/>
          <p:nvPr/>
        </p:nvCxnSpPr>
        <p:spPr>
          <a:xfrm>
            <a:off x="9600000" y="2350000"/>
            <a:ext cx="0" cy="800000"/>
          </a:xfrm>
          <a:prstGeom prst="line">
            <a:avLst/>
          </a:prstGeom>
          <a:ln w="1905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660000" y="2430000"/>
            <a:ext cx="900000" cy="340000"/>
          </a:xfrm>
          <a:prstGeom prst="rect">
            <a:avLst/>
          </a:prstGeom>
          <a:noFill/>
        </p:spPr>
        <p:txBody>
          <a:bodyPr wrap="square" lIns="0" rIns="0" tIns="0" bIns="0" anchor="ctr">
            <a:spAutoFit/>
          </a:bodyPr>
          <a:lstStyle/>
          <a:p>
            <a:pPr algn="l"/>
            <a:r>
              <a:rPr sz="1400" b="0">
                <a:solidFill>
                  <a:schemeClr val="dk2"/>
                </a:solidFill>
                <a:latin typeface="Arial"/>
              </a:rPr>
              <a:t>6379</a:t>
            </a:r>
          </a:p>
        </p:txBody>
      </p:sp>
      <p:sp>
        <p:nvSpPr>
          <p:cNvPr id="13" name="Rectangle 12"/>
          <p:cNvSpPr/>
          <p:nvPr/>
        </p:nvSpPr>
        <p:spPr>
          <a:xfrm>
            <a:off x="1150000" y="2900000"/>
            <a:ext cx="9900000" cy="2300000"/>
          </a:xfrm>
          <a:prstGeom prst="rect">
            <a:avLst/>
          </a:prstGeom>
          <a:noFill/>
          <a:ln w="9525">
            <a:solidFill>
              <a:schemeClr val="dk2"/>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50000" y="4800000"/>
            <a:ext cx="3000000" cy="340000"/>
          </a:xfrm>
          <a:prstGeom prst="rect">
            <a:avLst/>
          </a:prstGeom>
          <a:noFill/>
        </p:spPr>
        <p:txBody>
          <a:bodyPr wrap="square" lIns="0" rIns="0" tIns="0" bIns="0" anchor="ctr">
            <a:spAutoFit/>
          </a:bodyPr>
          <a:lstStyle/>
          <a:p>
            <a:pPr algn="l"/>
            <a:r>
              <a:rPr sz="1400" b="0">
                <a:solidFill>
                  <a:schemeClr val="dk2"/>
                </a:solidFill>
                <a:latin typeface="Arial"/>
              </a:rPr>
              <a:t>nodes only</a:t>
            </a:r>
          </a:p>
        </p:txBody>
      </p:sp>
      <p:sp>
        <p:nvSpPr>
          <p:cNvPr id="15" name="Rectangle 14"/>
          <p:cNvSpPr/>
          <p:nvPr/>
        </p:nvSpPr>
        <p:spPr>
          <a:xfrm>
            <a:off x="1500000" y="3150000"/>
            <a:ext cx="2200000" cy="9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500000" y="3450000"/>
            <a:ext cx="2200000" cy="300000"/>
          </a:xfrm>
          <a:prstGeom prst="rect">
            <a:avLst/>
          </a:prstGeom>
          <a:noFill/>
        </p:spPr>
        <p:txBody>
          <a:bodyPr wrap="square" lIns="0" rIns="0" tIns="0" bIns="0" anchor="t">
            <a:spAutoFit/>
          </a:bodyPr>
          <a:lstStyle/>
          <a:p>
            <a:pPr algn="ctr"/>
            <a:r>
              <a:rPr sz="1600" b="1">
                <a:solidFill>
                  <a:schemeClr val="dk1"/>
                </a:solidFill>
                <a:latin typeface="Arial"/>
              </a:rPr>
              <a:t>node</a:t>
            </a:r>
          </a:p>
        </p:txBody>
      </p:sp>
      <p:pic>
        <p:nvPicPr>
          <p:cNvPr id="17" name="valkey-mark-color"/>
          <p:cNvPicPr>
            <a:picLocks noChangeAspect="1"/>
          </p:cNvPicPr>
          <p:nvPr/>
        </p:nvPicPr>
        <p:blipFill>
          <a:blip r:embed="rId2">
            <a:extLst>
              <a:ext uri="{96DAC541-7B7A-43D3-8B79-37D633B846F1}">
                <ns3:svgBlip xmlns:ns3="http://schemas.microsoft.com/office/drawing/2016/SVG/main" r:embed="rId3"/>
              </a:ext>
            </a:extLst>
          </a:blip>
          <a:stretch>
            <a:fillRect/>
          </a:stretch>
        </p:blipFill>
        <p:spPr>
          <a:xfrm>
            <a:off x="3399289" y="3260000"/>
            <a:ext cx="190711" cy="220000"/>
          </a:xfrm>
          <a:prstGeom prst="rect">
            <a:avLst/>
          </a:prstGeom>
        </p:spPr>
      </p:pic>
      <p:sp>
        <p:nvSpPr>
          <p:cNvPr id="18" name="Rectangle 17"/>
          <p:cNvSpPr/>
          <p:nvPr/>
        </p:nvSpPr>
        <p:spPr>
          <a:xfrm>
            <a:off x="5000000" y="3150000"/>
            <a:ext cx="2200000" cy="9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000000" y="3450000"/>
            <a:ext cx="2200000" cy="300000"/>
          </a:xfrm>
          <a:prstGeom prst="rect">
            <a:avLst/>
          </a:prstGeom>
          <a:noFill/>
        </p:spPr>
        <p:txBody>
          <a:bodyPr wrap="square" lIns="0" rIns="0" tIns="0" bIns="0" anchor="t">
            <a:spAutoFit/>
          </a:bodyPr>
          <a:lstStyle/>
          <a:p>
            <a:pPr algn="ctr"/>
            <a:r>
              <a:rPr sz="1600" b="1">
                <a:solidFill>
                  <a:schemeClr val="dk1"/>
                </a:solidFill>
                <a:latin typeface="Arial"/>
              </a:rPr>
              <a:t>node</a:t>
            </a:r>
          </a:p>
        </p:txBody>
      </p:sp>
      <p:pic>
        <p:nvPicPr>
          <p:cNvPr id="20" name="valkey-mark-color"/>
          <p:cNvPicPr>
            <a:picLocks noChangeAspect="1"/>
          </p:cNvPicPr>
          <p:nvPr/>
        </p:nvPicPr>
        <p:blipFill>
          <a:blip r:embed="rId2">
            <a:extLst>
              <a:ext uri="{96DAC541-7B7A-43D3-8B79-37D633B846F1}">
                <ns4:svgBlip xmlns:ns4="http://schemas.microsoft.com/office/drawing/2016/SVG/main" r:embed="rId3"/>
              </a:ext>
            </a:extLst>
          </a:blip>
          <a:stretch>
            <a:fillRect/>
          </a:stretch>
        </p:blipFill>
        <p:spPr>
          <a:xfrm>
            <a:off x="6899289" y="3260000"/>
            <a:ext cx="190711" cy="220000"/>
          </a:xfrm>
          <a:prstGeom prst="rect">
            <a:avLst/>
          </a:prstGeom>
        </p:spPr>
      </p:pic>
      <p:sp>
        <p:nvSpPr>
          <p:cNvPr id="21" name="Rectangle 20"/>
          <p:cNvSpPr/>
          <p:nvPr/>
        </p:nvSpPr>
        <p:spPr>
          <a:xfrm>
            <a:off x="8500000" y="3150000"/>
            <a:ext cx="2200000" cy="9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500000" y="3450000"/>
            <a:ext cx="2200000" cy="300000"/>
          </a:xfrm>
          <a:prstGeom prst="rect">
            <a:avLst/>
          </a:prstGeom>
          <a:noFill/>
        </p:spPr>
        <p:txBody>
          <a:bodyPr wrap="square" lIns="0" rIns="0" tIns="0" bIns="0" anchor="t">
            <a:spAutoFit/>
          </a:bodyPr>
          <a:lstStyle/>
          <a:p>
            <a:pPr algn="ctr"/>
            <a:r>
              <a:rPr sz="1600" b="1">
                <a:solidFill>
                  <a:schemeClr val="dk1"/>
                </a:solidFill>
                <a:latin typeface="Arial"/>
              </a:rPr>
              <a:t>node</a:t>
            </a:r>
          </a:p>
        </p:txBody>
      </p:sp>
      <p:pic>
        <p:nvPicPr>
          <p:cNvPr id="23" name="valkey-mark-color"/>
          <p:cNvPicPr>
            <a:picLocks noChangeAspect="1"/>
          </p:cNvPicPr>
          <p:nvPr/>
        </p:nvPicPr>
        <p:blipFill>
          <a:blip r:embed="rId2">
            <a:extLst>
              <a:ext uri="{96DAC541-7B7A-43D3-8B79-37D633B846F1}">
                <ns5:svgBlip xmlns:ns5="http://schemas.microsoft.com/office/drawing/2016/SVG/main" r:embed="rId3"/>
              </a:ext>
            </a:extLst>
          </a:blip>
          <a:stretch>
            <a:fillRect/>
          </a:stretch>
        </p:blipFill>
        <p:spPr>
          <a:xfrm>
            <a:off x="10399289" y="3260000"/>
            <a:ext cx="190711" cy="220000"/>
          </a:xfrm>
          <a:prstGeom prst="rect">
            <a:avLst/>
          </a:prstGeom>
        </p:spPr>
      </p:pic>
      <p:cxnSp>
        <p:nvCxnSpPr>
          <p:cNvPr id="24" name="Connector 23"/>
          <p:cNvCxnSpPr/>
          <p:nvPr/>
        </p:nvCxnSpPr>
        <p:spPr>
          <a:xfrm>
            <a:off x="3700000" y="3600000"/>
            <a:ext cx="1300000"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700000" y="3200000"/>
            <a:ext cx="1300000" cy="340000"/>
          </a:xfrm>
          <a:prstGeom prst="rect">
            <a:avLst/>
          </a:prstGeom>
          <a:noFill/>
        </p:spPr>
        <p:txBody>
          <a:bodyPr wrap="square" lIns="0" rIns="0" tIns="0" bIns="0" anchor="ctr">
            <a:spAutoFit/>
          </a:bodyPr>
          <a:lstStyle/>
          <a:p>
            <a:pPr algn="ctr"/>
            <a:r>
              <a:rPr sz="1400" b="0">
                <a:solidFill>
                  <a:schemeClr val="dk1"/>
                </a:solidFill>
                <a:latin typeface="Arial"/>
              </a:rPr>
              <a:t>16379</a:t>
            </a:r>
          </a:p>
        </p:txBody>
      </p:sp>
      <p:cxnSp>
        <p:nvCxnSpPr>
          <p:cNvPr id="26" name="Connector 25"/>
          <p:cNvCxnSpPr/>
          <p:nvPr/>
        </p:nvCxnSpPr>
        <p:spPr>
          <a:xfrm>
            <a:off x="7200000" y="3600000"/>
            <a:ext cx="1300000"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200000" y="3200000"/>
            <a:ext cx="1300000" cy="340000"/>
          </a:xfrm>
          <a:prstGeom prst="rect">
            <a:avLst/>
          </a:prstGeom>
          <a:noFill/>
        </p:spPr>
        <p:txBody>
          <a:bodyPr wrap="square" lIns="0" rIns="0" tIns="0" bIns="0" anchor="ctr">
            <a:spAutoFit/>
          </a:bodyPr>
          <a:lstStyle/>
          <a:p>
            <a:pPr algn="ctr"/>
            <a:r>
              <a:rPr sz="1400" b="0">
                <a:solidFill>
                  <a:schemeClr val="dk1"/>
                </a:solidFill>
                <a:latin typeface="Arial"/>
              </a:rPr>
              <a:t>16379</a:t>
            </a:r>
          </a:p>
        </p:txBody>
      </p:sp>
      <p:cxnSp>
        <p:nvCxnSpPr>
          <p:cNvPr id="28" name="Connector 27"/>
          <p:cNvCxnSpPr/>
          <p:nvPr/>
        </p:nvCxnSpPr>
        <p:spPr>
          <a:xfrm>
            <a:off x="2600000" y="4050000"/>
            <a:ext cx="0" cy="45000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600000" y="4500000"/>
            <a:ext cx="7000000"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9600000" y="4050000"/>
            <a:ext cx="0" cy="45000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600000" y="4540000"/>
            <a:ext cx="1000000" cy="340000"/>
          </a:xfrm>
          <a:prstGeom prst="rect">
            <a:avLst/>
          </a:prstGeom>
          <a:noFill/>
        </p:spPr>
        <p:txBody>
          <a:bodyPr wrap="square" lIns="0" rIns="0" tIns="0" bIns="0" anchor="ctr">
            <a:spAutoFit/>
          </a:bodyPr>
          <a:lstStyle/>
          <a:p>
            <a:pPr algn="ctr"/>
            <a:r>
              <a:rPr sz="1400" b="0">
                <a:solidFill>
                  <a:schemeClr val="dk1"/>
                </a:solidFill>
                <a:latin typeface="Arial"/>
              </a:rPr>
              <a:t>16379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The cluster bus gets hardening instead of CVEs</a:t>
            </a:r>
          </a:p>
        </p:txBody>
      </p:sp>
      <p:sp>
        <p:nvSpPr>
          <p:cNvPr id="3" name="Rectangle 2"/>
          <p:cNvSpPr/>
          <p:nvPr/>
        </p:nvSpPr>
        <p:spPr>
          <a:xfrm>
            <a:off x="609600" y="2129000"/>
            <a:ext cx="5431400" cy="3000000"/>
          </a:xfrm>
          <a:prstGeom prst="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security"/>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792480" y="2311880"/>
            <a:ext cx="1097280" cy="1097280"/>
          </a:xfrm>
          <a:prstGeom prst="rect">
            <a:avLst/>
          </a:prstGeom>
        </p:spPr>
      </p:pic>
      <p:sp>
        <p:nvSpPr>
          <p:cNvPr id="5" name="TextBox 4"/>
          <p:cNvSpPr txBox="1"/>
          <p:nvPr/>
        </p:nvSpPr>
        <p:spPr>
          <a:xfrm>
            <a:off x="792480" y="3546320"/>
            <a:ext cx="5065640" cy="400110"/>
          </a:xfrm>
          <a:prstGeom prst="rect">
            <a:avLst/>
          </a:prstGeom>
          <a:noFill/>
        </p:spPr>
        <p:txBody>
          <a:bodyPr wrap="square" lIns="0" rIns="0" tIns="0" bIns="0" anchor="t">
            <a:spAutoFit/>
          </a:bodyPr>
          <a:lstStyle/>
          <a:p>
            <a:pPr algn="l"/>
            <a:r>
              <a:rPr sz="1800" b="1">
                <a:solidFill>
                  <a:schemeClr val="dk1"/>
                </a:solidFill>
                <a:latin typeface="Arial"/>
              </a:rPr>
              <a:t>No CVE</a:t>
            </a:r>
          </a:p>
        </p:txBody>
      </p:sp>
      <p:sp>
        <p:nvSpPr>
          <p:cNvPr id="6" name="TextBox 5"/>
          <p:cNvSpPr txBox="1"/>
          <p:nvPr/>
        </p:nvSpPr>
        <p:spPr>
          <a:xfrm>
            <a:off x="792480" y="3992150"/>
            <a:ext cx="5065640" cy="953970"/>
          </a:xfrm>
          <a:prstGeom prst="rect">
            <a:avLst/>
          </a:prstGeom>
          <a:noFill/>
        </p:spPr>
        <p:txBody>
          <a:bodyPr wrap="square" lIns="0" rIns="0" tIns="0" bIns="0">
            <a:spAutoFit/>
          </a:bodyPr>
          <a:lstStyle/>
          <a:p>
            <a:pPr>
              <a:spcAft>
                <a:spcPts val="600"/>
              </a:spcAft>
            </a:pPr>
            <a:r>
              <a:rPr sz="1600" b="0">
                <a:solidFill>
                  <a:schemeClr val="dk1"/>
                </a:solidFill>
                <a:latin typeface="Arial"/>
              </a:rPr>
              <a:t>Reaching the bus already means owning the cluster</a:t>
            </a:r>
          </a:p>
        </p:txBody>
      </p:sp>
      <p:sp>
        <p:nvSpPr>
          <p:cNvPr id="7" name="Rectangle 6"/>
          <p:cNvSpPr/>
          <p:nvPr/>
        </p:nvSpPr>
        <p:spPr>
          <a:xfrm>
            <a:off x="6241000" y="2129000"/>
            <a:ext cx="5431400" cy="300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hardening"/>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6423880" y="2311880"/>
            <a:ext cx="1097280" cy="1097280"/>
          </a:xfrm>
          <a:prstGeom prst="rect">
            <a:avLst/>
          </a:prstGeom>
        </p:spPr>
      </p:pic>
      <p:sp>
        <p:nvSpPr>
          <p:cNvPr id="9" name="TextBox 8"/>
          <p:cNvSpPr txBox="1"/>
          <p:nvPr/>
        </p:nvSpPr>
        <p:spPr>
          <a:xfrm>
            <a:off x="6423880" y="3546320"/>
            <a:ext cx="5065640" cy="400110"/>
          </a:xfrm>
          <a:prstGeom prst="rect">
            <a:avLst/>
          </a:prstGeom>
          <a:noFill/>
        </p:spPr>
        <p:txBody>
          <a:bodyPr wrap="square" lIns="0" rIns="0" tIns="0" bIns="0" anchor="t">
            <a:spAutoFit/>
          </a:bodyPr>
          <a:lstStyle/>
          <a:p>
            <a:pPr algn="l"/>
            <a:r>
              <a:rPr sz="1800" b="1">
                <a:solidFill>
                  <a:schemeClr val="accent2"/>
                </a:solidFill>
                <a:latin typeface="Arial"/>
              </a:rPr>
              <a:t>Still hardened</a:t>
            </a:r>
          </a:p>
        </p:txBody>
      </p:sp>
      <p:sp>
        <p:nvSpPr>
          <p:cNvPr id="10" name="TextBox 9"/>
          <p:cNvSpPr txBox="1"/>
          <p:nvPr/>
        </p:nvSpPr>
        <p:spPr>
          <a:xfrm>
            <a:off x="6423880" y="3992150"/>
            <a:ext cx="5065640" cy="953970"/>
          </a:xfrm>
          <a:prstGeom prst="rect">
            <a:avLst/>
          </a:prstGeom>
          <a:noFill/>
        </p:spPr>
        <p:txBody>
          <a:bodyPr wrap="square" lIns="0" rIns="0" tIns="0" bIns="0">
            <a:spAutoFit/>
          </a:bodyPr>
          <a:lstStyle/>
          <a:p>
            <a:pPr>
              <a:spcAft>
                <a:spcPts val="600"/>
              </a:spcAft>
            </a:pPr>
            <a:r>
              <a:rPr sz="1600" b="0">
                <a:solidFill>
                  <a:schemeClr val="accent2"/>
                </a:solidFill>
                <a:latin typeface="Arial"/>
              </a:rPr>
              <a:t>Bus parsing bugs still get fixed</a:t>
            </a:r>
          </a:p>
          <a:p>
            <a:pPr>
              <a:spcAft>
                <a:spcPts val="600"/>
              </a:spcAft>
            </a:pPr>
            <a:r>
              <a:rPr sz="1600" b="0">
                <a:solidFill>
                  <a:schemeClr val="accent2"/>
                </a:solidFill>
                <a:latin typeface="Arial"/>
              </a:rPr>
              <a:t>Mutual TLS with tls-cluster yes</a:t>
            </a:r>
          </a:p>
          <a:p>
            <a:pPr>
              <a:spcAft>
                <a:spcPts val="600"/>
              </a:spcAft>
            </a:pPr>
            <a:r>
              <a:rPr sz="1600" b="0">
                <a:solidFill>
                  <a:schemeClr val="accent2"/>
                </a:solidFill>
                <a:latin typeface="Arial"/>
              </a:rPr>
              <a:t>Firewall guidance in the docs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Embargoes are now two weeks</a:t>
            </a:r>
          </a:p>
        </p:txBody>
      </p:sp>
      <p:sp>
        <p:nvSpPr>
          <p:cNvPr id="3" name="TextBox 2"/>
          <p:cNvSpPr txBox="1"/>
          <p:nvPr/>
        </p:nvSpPr>
        <p:spPr>
          <a:xfrm>
            <a:off x="609600" y="2554000"/>
            <a:ext cx="1600000" cy="800000"/>
          </a:xfrm>
          <a:prstGeom prst="rect">
            <a:avLst/>
          </a:prstGeom>
          <a:noFill/>
        </p:spPr>
        <p:txBody>
          <a:bodyPr wrap="square" lIns="0" rIns="0" tIns="0" bIns="0" anchor="ctr">
            <a:spAutoFit/>
          </a:bodyPr>
          <a:lstStyle/>
          <a:p>
            <a:pPr algn="l"/>
            <a:r>
              <a:rPr sz="2000" b="1">
                <a:solidFill>
                  <a:schemeClr val="dk2"/>
                </a:solidFill>
                <a:latin typeface="Arial"/>
              </a:rPr>
              <a:t>before</a:t>
            </a:r>
          </a:p>
        </p:txBody>
      </p:sp>
      <p:sp>
        <p:nvSpPr>
          <p:cNvPr id="4" name="Rectangle 3"/>
          <p:cNvSpPr/>
          <p:nvPr/>
        </p:nvSpPr>
        <p:spPr>
          <a:xfrm>
            <a:off x="2409600" y="2554000"/>
            <a:ext cx="9172800" cy="8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409600" y="2554000"/>
            <a:ext cx="9172800" cy="800000"/>
          </a:xfrm>
          <a:prstGeom prst="rect">
            <a:avLst/>
          </a:prstGeom>
          <a:noFill/>
        </p:spPr>
        <p:txBody>
          <a:bodyPr wrap="square" lIns="0" rIns="0" tIns="0" bIns="0" anchor="ctr">
            <a:spAutoFit/>
          </a:bodyPr>
          <a:lstStyle/>
          <a:p>
            <a:pPr algn="ctr"/>
            <a:r>
              <a:rPr sz="2000" b="1">
                <a:solidFill>
                  <a:schemeClr val="dk2"/>
                </a:solidFill>
                <a:latin typeface="Arial"/>
              </a:rPr>
              <a:t>30 days</a:t>
            </a:r>
          </a:p>
        </p:txBody>
      </p:sp>
      <p:sp>
        <p:nvSpPr>
          <p:cNvPr id="6" name="TextBox 5"/>
          <p:cNvSpPr txBox="1"/>
          <p:nvPr/>
        </p:nvSpPr>
        <p:spPr>
          <a:xfrm>
            <a:off x="609600" y="3804000"/>
            <a:ext cx="1600000" cy="800000"/>
          </a:xfrm>
          <a:prstGeom prst="rect">
            <a:avLst/>
          </a:prstGeom>
          <a:noFill/>
        </p:spPr>
        <p:txBody>
          <a:bodyPr wrap="square" lIns="0" rIns="0" tIns="0" bIns="0" anchor="ctr">
            <a:spAutoFit/>
          </a:bodyPr>
          <a:lstStyle/>
          <a:p>
            <a:pPr algn="l"/>
            <a:r>
              <a:rPr sz="2000" b="1">
                <a:solidFill>
                  <a:schemeClr val="dk2"/>
                </a:solidFill>
                <a:latin typeface="Arial"/>
              </a:rPr>
              <a:t>now</a:t>
            </a:r>
          </a:p>
        </p:txBody>
      </p:sp>
      <p:sp>
        <p:nvSpPr>
          <p:cNvPr id="7" name="Rectangle 6"/>
          <p:cNvSpPr/>
          <p:nvPr/>
        </p:nvSpPr>
        <p:spPr>
          <a:xfrm>
            <a:off x="2409600" y="3804000"/>
            <a:ext cx="4280640" cy="80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409600" y="3804000"/>
            <a:ext cx="4280640" cy="800000"/>
          </a:xfrm>
          <a:prstGeom prst="rect">
            <a:avLst/>
          </a:prstGeom>
          <a:noFill/>
        </p:spPr>
        <p:txBody>
          <a:bodyPr wrap="square" lIns="0" rIns="0" tIns="0" bIns="0" anchor="ctr">
            <a:spAutoFit/>
          </a:bodyPr>
          <a:lstStyle/>
          <a:p>
            <a:pPr algn="ctr"/>
            <a:r>
              <a:rPr sz="2000" b="1">
                <a:solidFill>
                  <a:schemeClr val="lt1"/>
                </a:solidFill>
                <a:latin typeface="Arial"/>
              </a:rPr>
              <a:t>14 days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Security is no longer just the TSC</a:t>
            </a:r>
          </a:p>
        </p:txBody>
      </p:sp>
      <p:sp>
        <p:nvSpPr>
          <p:cNvPr id="3" name="Rectangle 2"/>
          <p:cNvSpPr/>
          <p:nvPr/>
        </p:nvSpPr>
        <p:spPr>
          <a:xfrm>
            <a:off x="2096000" y="1929000"/>
            <a:ext cx="8000000" cy="340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2096000" y="2049000"/>
            <a:ext cx="8000000" cy="420000"/>
          </a:xfrm>
          <a:prstGeom prst="rect">
            <a:avLst/>
          </a:prstGeom>
          <a:noFill/>
        </p:spPr>
        <p:txBody>
          <a:bodyPr wrap="square" lIns="0" rIns="0" tIns="0" bIns="0" anchor="ctr">
            <a:spAutoFit/>
          </a:bodyPr>
          <a:lstStyle/>
          <a:p>
            <a:pPr algn="ctr"/>
            <a:r>
              <a:rPr sz="2000" b="1">
                <a:solidFill>
                  <a:schemeClr val="dk1"/>
                </a:solidFill>
                <a:latin typeface="Arial"/>
              </a:rPr>
              <a:t>security group</a:t>
            </a:r>
          </a:p>
        </p:txBody>
      </p:sp>
      <p:sp>
        <p:nvSpPr>
          <p:cNvPr id="5" name="Rectangle 4"/>
          <p:cNvSpPr/>
          <p:nvPr/>
        </p:nvSpPr>
        <p:spPr>
          <a:xfrm>
            <a:off x="4796000" y="3179000"/>
            <a:ext cx="2600000" cy="120000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796000" y="3179000"/>
            <a:ext cx="2600000" cy="1200000"/>
          </a:xfrm>
          <a:prstGeom prst="rect">
            <a:avLst/>
          </a:prstGeom>
          <a:noFill/>
        </p:spPr>
        <p:txBody>
          <a:bodyPr wrap="square" lIns="0" rIns="0" tIns="0" bIns="0" anchor="ctr">
            <a:spAutoFit/>
          </a:bodyPr>
          <a:lstStyle/>
          <a:p>
            <a:pPr algn="ctr"/>
            <a:r>
              <a:rPr sz="2400" b="1">
                <a:solidFill>
                  <a:schemeClr val="lt1"/>
                </a:solidFill>
                <a:latin typeface="Arial"/>
              </a:rPr>
              <a:t>TSC</a:t>
            </a:r>
          </a:p>
        </p:txBody>
      </p:sp>
      <p:pic>
        <p:nvPicPr>
          <p:cNvPr id="7" name="person"/>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2396000" y="3279000"/>
            <a:ext cx="1000000" cy="1000000"/>
          </a:xfrm>
          <a:prstGeom prst="rect">
            <a:avLst/>
          </a:prstGeom>
        </p:spPr>
      </p:pic>
      <p:pic>
        <p:nvPicPr>
          <p:cNvPr id="8" name="person"/>
          <p:cNvPicPr>
            <a:picLocks noChangeAspect="1"/>
          </p:cNvPicPr>
          <p:nvPr/>
        </p:nvPicPr>
        <p:blipFill>
          <a:blip r:embed="rId2">
            <a:extLst>
              <a:ext uri="{96DAC541-7B7A-43D3-8B79-37D633B846F1}">
                <ns1:svgBlip xmlns:ns1="http://schemas.microsoft.com/office/drawing/2016/SVG/main" r:embed="rId3"/>
              </a:ext>
            </a:extLst>
          </a:blip>
          <a:stretch>
            <a:fillRect/>
          </a:stretch>
        </p:blipFill>
        <p:spPr>
          <a:xfrm>
            <a:off x="3546000" y="3279000"/>
            <a:ext cx="1000000" cy="1000000"/>
          </a:xfrm>
          <a:prstGeom prst="rect">
            <a:avLst/>
          </a:prstGeom>
        </p:spPr>
      </p:pic>
      <p:pic>
        <p:nvPicPr>
          <p:cNvPr id="9" name="person"/>
          <p:cNvPicPr>
            <a:picLocks noChangeAspect="1"/>
          </p:cNvPicPr>
          <p:nvPr/>
        </p:nvPicPr>
        <p:blipFill>
          <a:blip r:embed="rId2">
            <a:extLst>
              <a:ext uri="{96DAC541-7B7A-43D3-8B79-37D633B846F1}">
                <ns2:svgBlip xmlns:ns2="http://schemas.microsoft.com/office/drawing/2016/SVG/main" r:embed="rId3"/>
              </a:ext>
            </a:extLst>
          </a:blip>
          <a:stretch>
            <a:fillRect/>
          </a:stretch>
        </p:blipFill>
        <p:spPr>
          <a:xfrm>
            <a:off x="8796000" y="3279000"/>
            <a:ext cx="1000000" cy="1000000"/>
          </a:xfrm>
          <a:prstGeom prst="rect">
            <a:avLst/>
          </a:prstGeom>
        </p:spPr>
      </p:pic>
      <p:pic>
        <p:nvPicPr>
          <p:cNvPr id="10" name="person"/>
          <p:cNvPicPr>
            <a:picLocks noChangeAspect="1"/>
          </p:cNvPicPr>
          <p:nvPr/>
        </p:nvPicPr>
        <p:blipFill>
          <a:blip r:embed="rId2">
            <a:extLst>
              <a:ext uri="{96DAC541-7B7A-43D3-8B79-37D633B846F1}">
                <ns3:svgBlip xmlns:ns3="http://schemas.microsoft.com/office/drawing/2016/SVG/main" r:embed="rId3"/>
              </a:ext>
            </a:extLst>
          </a:blip>
          <a:stretch>
            <a:fillRect/>
          </a:stretch>
        </p:blipFill>
        <p:spPr>
          <a:xfrm>
            <a:off x="7646000" y="3279000"/>
            <a:ext cx="1000000" cy="1000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rPr>
                <a:latin typeface="Arial"/>
              </a:rPr>
              <a:t>Act 2: Find bugs before they do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Humans only see crashing tests</a:t>
            </a:r>
          </a:p>
        </p:txBody>
      </p:sp>
      <p:sp>
        <p:nvSpPr>
          <p:cNvPr id="3" name="Rectangle 2"/>
          <p:cNvSpPr/>
          <p:nvPr/>
        </p:nvSpPr>
        <p:spPr>
          <a:xfrm>
            <a:off x="1296000" y="1250000"/>
            <a:ext cx="9600000" cy="70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296000" y="1250000"/>
            <a:ext cx="9600000" cy="700000"/>
          </a:xfrm>
          <a:prstGeom prst="rect">
            <a:avLst/>
          </a:prstGeom>
          <a:noFill/>
        </p:spPr>
        <p:txBody>
          <a:bodyPr wrap="square" lIns="0" rIns="0" tIns="0" bIns="0" anchor="ctr">
            <a:spAutoFit/>
          </a:bodyPr>
          <a:lstStyle/>
          <a:p>
            <a:pPr algn="ctr"/>
            <a:r>
              <a:rPr sz="1800" b="1">
                <a:solidFill>
                  <a:schemeClr val="lt1"/>
                </a:solidFill>
                <a:latin typeface="Arial"/>
              </a:rPr>
              <a:t>threat model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Humans only see crashing tests</a:t>
            </a:r>
          </a:p>
        </p:txBody>
      </p:sp>
      <p:sp>
        <p:nvSpPr>
          <p:cNvPr id="3" name="Rectangle 2"/>
          <p:cNvSpPr/>
          <p:nvPr/>
        </p:nvSpPr>
        <p:spPr>
          <a:xfrm>
            <a:off x="1296000" y="1250000"/>
            <a:ext cx="9600000" cy="70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296000" y="1250000"/>
            <a:ext cx="9600000" cy="700000"/>
          </a:xfrm>
          <a:prstGeom prst="rect">
            <a:avLst/>
          </a:prstGeom>
          <a:noFill/>
        </p:spPr>
        <p:txBody>
          <a:bodyPr wrap="square" lIns="0" rIns="0" tIns="0" bIns="0" anchor="ctr">
            <a:spAutoFit/>
          </a:bodyPr>
          <a:lstStyle/>
          <a:p>
            <a:pPr algn="ctr"/>
            <a:r>
              <a:rPr sz="1800" b="1">
                <a:solidFill>
                  <a:schemeClr val="lt1"/>
                </a:solidFill>
                <a:latin typeface="Arial"/>
              </a:rPr>
              <a:t>threat model</a:t>
            </a:r>
          </a:p>
        </p:txBody>
      </p:sp>
      <p:sp>
        <p:nvSpPr>
          <p:cNvPr id="5" name="Rectangle 4"/>
          <p:cNvSpPr/>
          <p:nvPr/>
        </p:nvSpPr>
        <p:spPr>
          <a:xfrm>
            <a:off x="1896000" y="2100000"/>
            <a:ext cx="8400000" cy="70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896000" y="2100000"/>
            <a:ext cx="8400000" cy="700000"/>
          </a:xfrm>
          <a:prstGeom prst="rect">
            <a:avLst/>
          </a:prstGeom>
          <a:noFill/>
        </p:spPr>
        <p:txBody>
          <a:bodyPr wrap="square" lIns="0" rIns="0" tIns="0" bIns="0" anchor="ctr">
            <a:spAutoFit/>
          </a:bodyPr>
          <a:lstStyle/>
          <a:p>
            <a:pPr algn="ctr"/>
            <a:r>
              <a:rPr sz="1800" b="1">
                <a:solidFill>
                  <a:schemeClr val="lt1"/>
                </a:solidFill>
                <a:latin typeface="Arial"/>
              </a:rPr>
              <a:t>AI threat generation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Humans only see crashing tests</a:t>
            </a:r>
          </a:p>
        </p:txBody>
      </p:sp>
      <p:sp>
        <p:nvSpPr>
          <p:cNvPr id="3" name="Rectangle 2"/>
          <p:cNvSpPr/>
          <p:nvPr/>
        </p:nvSpPr>
        <p:spPr>
          <a:xfrm>
            <a:off x="1296000" y="1250000"/>
            <a:ext cx="9600000" cy="70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296000" y="1250000"/>
            <a:ext cx="9600000" cy="700000"/>
          </a:xfrm>
          <a:prstGeom prst="rect">
            <a:avLst/>
          </a:prstGeom>
          <a:noFill/>
        </p:spPr>
        <p:txBody>
          <a:bodyPr wrap="square" lIns="0" rIns="0" tIns="0" bIns="0" anchor="ctr">
            <a:spAutoFit/>
          </a:bodyPr>
          <a:lstStyle/>
          <a:p>
            <a:pPr algn="ctr"/>
            <a:r>
              <a:rPr sz="1800" b="1">
                <a:solidFill>
                  <a:schemeClr val="lt1"/>
                </a:solidFill>
                <a:latin typeface="Arial"/>
              </a:rPr>
              <a:t>threat model</a:t>
            </a:r>
          </a:p>
        </p:txBody>
      </p:sp>
      <p:sp>
        <p:nvSpPr>
          <p:cNvPr id="5" name="Rectangle 4"/>
          <p:cNvSpPr/>
          <p:nvPr/>
        </p:nvSpPr>
        <p:spPr>
          <a:xfrm>
            <a:off x="1896000" y="2100000"/>
            <a:ext cx="8400000" cy="70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896000" y="2100000"/>
            <a:ext cx="8400000" cy="700000"/>
          </a:xfrm>
          <a:prstGeom prst="rect">
            <a:avLst/>
          </a:prstGeom>
          <a:noFill/>
        </p:spPr>
        <p:txBody>
          <a:bodyPr wrap="square" lIns="0" rIns="0" tIns="0" bIns="0" anchor="ctr">
            <a:spAutoFit/>
          </a:bodyPr>
          <a:lstStyle/>
          <a:p>
            <a:pPr algn="ctr"/>
            <a:r>
              <a:rPr sz="1800" b="1">
                <a:solidFill>
                  <a:schemeClr val="lt1"/>
                </a:solidFill>
                <a:latin typeface="Arial"/>
              </a:rPr>
              <a:t>AI threat generation</a:t>
            </a:r>
          </a:p>
        </p:txBody>
      </p:sp>
      <p:sp>
        <p:nvSpPr>
          <p:cNvPr id="7" name="Rectangle 6"/>
          <p:cNvSpPr/>
          <p:nvPr/>
        </p:nvSpPr>
        <p:spPr>
          <a:xfrm>
            <a:off x="2496000" y="2950000"/>
            <a:ext cx="7200000" cy="70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496000" y="2950000"/>
            <a:ext cx="7200000" cy="700000"/>
          </a:xfrm>
          <a:prstGeom prst="rect">
            <a:avLst/>
          </a:prstGeom>
          <a:noFill/>
        </p:spPr>
        <p:txBody>
          <a:bodyPr wrap="square" lIns="0" rIns="0" tIns="0" bIns="0" anchor="ctr">
            <a:spAutoFit/>
          </a:bodyPr>
          <a:lstStyle/>
          <a:p>
            <a:pPr algn="ctr"/>
            <a:r>
              <a:rPr sz="1800" b="1">
                <a:solidFill>
                  <a:schemeClr val="lt1"/>
                </a:solidFill>
                <a:latin typeface="Arial"/>
              </a:rPr>
              <a:t>AI review</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Humans only see crashing tests</a:t>
            </a:r>
          </a:p>
        </p:txBody>
      </p:sp>
      <p:sp>
        <p:nvSpPr>
          <p:cNvPr id="3" name="Rectangle 2"/>
          <p:cNvSpPr/>
          <p:nvPr/>
        </p:nvSpPr>
        <p:spPr>
          <a:xfrm>
            <a:off x="1296000" y="1250000"/>
            <a:ext cx="9600000" cy="70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296000" y="1250000"/>
            <a:ext cx="9600000" cy="700000"/>
          </a:xfrm>
          <a:prstGeom prst="rect">
            <a:avLst/>
          </a:prstGeom>
          <a:noFill/>
        </p:spPr>
        <p:txBody>
          <a:bodyPr wrap="square" lIns="0" rIns="0" tIns="0" bIns="0" anchor="ctr">
            <a:spAutoFit/>
          </a:bodyPr>
          <a:lstStyle/>
          <a:p>
            <a:pPr algn="ctr"/>
            <a:r>
              <a:rPr sz="1800" b="1">
                <a:solidFill>
                  <a:schemeClr val="lt1"/>
                </a:solidFill>
                <a:latin typeface="Arial"/>
              </a:rPr>
              <a:t>threat model</a:t>
            </a:r>
          </a:p>
        </p:txBody>
      </p:sp>
      <p:sp>
        <p:nvSpPr>
          <p:cNvPr id="5" name="Rectangle 4"/>
          <p:cNvSpPr/>
          <p:nvPr/>
        </p:nvSpPr>
        <p:spPr>
          <a:xfrm>
            <a:off x="1896000" y="2100000"/>
            <a:ext cx="8400000" cy="70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896000" y="2100000"/>
            <a:ext cx="8400000" cy="700000"/>
          </a:xfrm>
          <a:prstGeom prst="rect">
            <a:avLst/>
          </a:prstGeom>
          <a:noFill/>
        </p:spPr>
        <p:txBody>
          <a:bodyPr wrap="square" lIns="0" rIns="0" tIns="0" bIns="0" anchor="ctr">
            <a:spAutoFit/>
          </a:bodyPr>
          <a:lstStyle/>
          <a:p>
            <a:pPr algn="ctr"/>
            <a:r>
              <a:rPr sz="1800" b="1">
                <a:solidFill>
                  <a:schemeClr val="lt1"/>
                </a:solidFill>
                <a:latin typeface="Arial"/>
              </a:rPr>
              <a:t>AI threat generation</a:t>
            </a:r>
          </a:p>
        </p:txBody>
      </p:sp>
      <p:sp>
        <p:nvSpPr>
          <p:cNvPr id="7" name="Rectangle 6"/>
          <p:cNvSpPr/>
          <p:nvPr/>
        </p:nvSpPr>
        <p:spPr>
          <a:xfrm>
            <a:off x="2496000" y="2950000"/>
            <a:ext cx="7200000" cy="70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496000" y="2950000"/>
            <a:ext cx="7200000" cy="700000"/>
          </a:xfrm>
          <a:prstGeom prst="rect">
            <a:avLst/>
          </a:prstGeom>
          <a:noFill/>
        </p:spPr>
        <p:txBody>
          <a:bodyPr wrap="square" lIns="0" rIns="0" tIns="0" bIns="0" anchor="ctr">
            <a:spAutoFit/>
          </a:bodyPr>
          <a:lstStyle/>
          <a:p>
            <a:pPr algn="ctr"/>
            <a:r>
              <a:rPr sz="1800" b="1">
                <a:solidFill>
                  <a:schemeClr val="lt1"/>
                </a:solidFill>
                <a:latin typeface="Arial"/>
              </a:rPr>
              <a:t>AI review</a:t>
            </a:r>
          </a:p>
        </p:txBody>
      </p:sp>
      <p:sp>
        <p:nvSpPr>
          <p:cNvPr id="9" name="Rectangle 8"/>
          <p:cNvSpPr/>
          <p:nvPr/>
        </p:nvSpPr>
        <p:spPr>
          <a:xfrm>
            <a:off x="4296000" y="3800000"/>
            <a:ext cx="3600000" cy="70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296000" y="3800000"/>
            <a:ext cx="3600000" cy="700000"/>
          </a:xfrm>
          <a:prstGeom prst="rect">
            <a:avLst/>
          </a:prstGeom>
          <a:noFill/>
        </p:spPr>
        <p:txBody>
          <a:bodyPr wrap="square" lIns="0" rIns="0" tIns="0" bIns="0" anchor="ctr">
            <a:spAutoFit/>
          </a:bodyPr>
          <a:lstStyle/>
          <a:p>
            <a:pPr algn="ctr"/>
            <a:r>
              <a:rPr sz="1800" b="1">
                <a:solidFill>
                  <a:schemeClr val="accent2"/>
                </a:solidFill>
                <a:latin typeface="Arial"/>
              </a:rPr>
              <a:t>reproduce in harness</a:t>
            </a:r>
          </a:p>
        </p:txBody>
      </p:sp>
      <p:pic>
        <p:nvPicPr>
          <p:cNvPr id="11" name="person"/>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5786000" y="4680000"/>
            <a:ext cx="620000" cy="620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rPr>
                <a:latin typeface="Arial"/>
              </a:rPr>
              <a:t>34</a:t>
            </a:r>
          </a:p>
        </p:txBody>
      </p:sp>
      <p:sp>
        <p:nvSpPr>
          <p:cNvPr id="3" name="Text Placeholder 2"/>
          <p:cNvSpPr>
            <a:spLocks noGrp="1"/>
          </p:cNvSpPr>
          <p:nvPr>
            <p:ph type="body" idx="2"/>
          </p:nvPr>
        </p:nvSpPr>
        <p:spPr/>
        <p:txBody>
          <a:bodyPr/>
          <a:lstStyle/>
          <a:p>
            <a:r>
              <a:rPr>
                <a:latin typeface="Arial"/>
              </a:rPr>
              <a:t>real bugs: Valkey, JSON, search, bloom</a:t>
            </a:r>
          </a:p>
        </p:txBody>
      </p:sp>
      <p:sp>
        <p:nvSpPr>
          <p:cNvPr id="4" name="Text Placeholder 3"/>
          <p:cNvSpPr>
            <a:spLocks noGrp="1"/>
          </p:cNvSpPr>
          <p:nvPr>
            <p:ph type="body" idx="3"/>
          </p:nvPr>
        </p:nvSpPr>
        <p:spPr/>
        <p:txBody>
          <a:bodyPr/>
          <a:lstStyle/>
          <a:p>
            <a:r>
              <a:rPr>
                <a:latin typeface="Arial"/>
              </a:rPr>
              <a:t>Source: valkey.io/blog/keeping-up-with-ai-valkey-security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The TLS use-after-free</a:t>
            </a:r>
          </a:p>
        </p:txBody>
      </p:sp>
      <p:sp>
        <p:nvSpPr>
          <p:cNvPr id="3" name="Rectangle 2"/>
          <p:cNvSpPr/>
          <p:nvPr/>
        </p:nvSpPr>
        <p:spPr>
          <a:xfrm>
            <a:off x="609600" y="2436000"/>
            <a:ext cx="10972800" cy="228600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92480" y="2618880"/>
            <a:ext cx="10607040" cy="1920240"/>
          </a:xfrm>
          <a:prstGeom prst="rect">
            <a:avLst/>
          </a:prstGeom>
          <a:noFill/>
        </p:spPr>
        <p:txBody>
          <a:bodyPr wrap="none" lIns="0" rIns="0" tIns="0" bIns="0">
            <a:spAutoFit/>
          </a:bodyPr>
          <a:lstStyle/>
          <a:p>
            <a:r>
              <a:rPr sz="1800" b="0">
                <a:solidFill>
                  <a:schemeClr val="lt1"/>
                </a:solidFill>
                <a:latin typeface="Courier New"/>
              </a:rPr>
              <a:t>listRewind(pending_list, &amp;li);</a:t>
            </a:r>
          </a:p>
          <a:p>
            <a:r>
              <a:rPr sz="1800" b="1">
                <a:solidFill>
                  <a:schemeClr val="accent6"/>
                </a:solidFill>
                <a:latin typeface="Courier New"/>
              </a:rPr>
              <a:t>while ((ln = listNext(&amp;li))) {</a:t>
            </a:r>
          </a:p>
          <a:p>
            <a:r>
              <a:rPr sz="1800" b="0">
                <a:solidFill>
                  <a:schemeClr val="lt1"/>
                </a:solidFill>
                <a:latin typeface="Courier New"/>
              </a:rPr>
              <a:t>    tls_connection *conn = listNodeValue(ln);</a:t>
            </a:r>
          </a:p>
          <a:p>
            <a:r>
              <a:rPr sz="1800" b="0">
                <a:solidFill>
                  <a:schemeClr val="lt1"/>
                </a:solidFill>
                <a:latin typeface="Courier New"/>
              </a:rPr>
              <a:t>    if (conn-&gt;flags &amp; TLS_CONN_FLAG_POSTPONE_UPDATE_STATE) continue;</a:t>
            </a:r>
          </a:p>
          <a:p>
            <a:r>
              <a:rPr sz="1800" b="0">
                <a:solidFill>
                  <a:schemeClr val="lt1"/>
                </a:solidFill>
                <a:latin typeface="Courier New"/>
              </a:rPr>
              <a:t>    tlsHandleEvent(conn, AE_READABLE);</a:t>
            </a:r>
          </a:p>
          <a:p>
            <a:r>
              <a:rPr sz="1800" b="0">
                <a:solidFill>
                  <a:schemeClr val="lt1"/>
                </a:solidFill>
                <a:latin typeface="Courier New"/>
              </a:rPr>
              <a:t>    processed++;</a:t>
            </a:r>
          </a:p>
          <a:p>
            <a:r>
              <a:rPr sz="1800" b="0">
                <a:solidFill>
                  <a:schemeClr val="lt1"/>
                </a:solidFill>
                <a:latin typeface="Courier New"/>
              </a:rPr>
              <a:t>}</a:t>
            </a:r>
          </a:p>
        </p:txBody>
      </p:sp>
      <p:sp>
        <p:nvSpPr>
          <p:cNvPr id="5" name="TextBox 4"/>
          <p:cNvSpPr txBox="1"/>
          <p:nvPr/>
        </p:nvSpPr>
        <p:spPr>
          <a:xfrm>
            <a:off x="609600" y="5943597"/>
            <a:ext cx="11062800" cy="300000"/>
          </a:xfrm>
          <a:prstGeom prst="rect">
            <a:avLst/>
          </a:prstGeom>
          <a:noFill/>
        </p:spPr>
        <p:txBody>
          <a:bodyPr wrap="square" lIns="0" rIns="0" tIns="0" bIns="0" anchor="t">
            <a:spAutoFit/>
          </a:bodyPr>
          <a:lstStyle/>
          <a:p>
            <a:pPr algn="l"/>
            <a:r>
              <a:rPr sz="1000" b="0" i="1">
                <a:solidFill>
                  <a:schemeClr val="dk1"/>
                </a:solidFill>
                <a:latin typeface="Arial"/>
              </a:rPr>
              <a:t>src/tls.c, tlsProcessPendingData(), before the fix</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The TLS use-after-free</a:t>
            </a:r>
          </a:p>
        </p:txBody>
      </p:sp>
      <p:sp>
        <p:nvSpPr>
          <p:cNvPr id="3" name="Rectangle 2"/>
          <p:cNvSpPr/>
          <p:nvPr/>
        </p:nvSpPr>
        <p:spPr>
          <a:xfrm>
            <a:off x="1500000" y="2900000"/>
            <a:ext cx="1700000" cy="10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500000" y="3250000"/>
            <a:ext cx="1700000" cy="300000"/>
          </a:xfrm>
          <a:prstGeom prst="rect">
            <a:avLst/>
          </a:prstGeom>
          <a:noFill/>
        </p:spPr>
        <p:txBody>
          <a:bodyPr wrap="square" lIns="0" rIns="0" tIns="0" bIns="0" anchor="t">
            <a:spAutoFit/>
          </a:bodyPr>
          <a:lstStyle/>
          <a:p>
            <a:pPr algn="ctr"/>
            <a:r>
              <a:rPr sz="1600" b="1">
                <a:solidFill>
                  <a:schemeClr val="dk1"/>
                </a:solidFill>
                <a:latin typeface="Arial"/>
              </a:rPr>
              <a:t>A</a:t>
            </a:r>
          </a:p>
        </p:txBody>
      </p:sp>
      <p:sp>
        <p:nvSpPr>
          <p:cNvPr id="5" name="Rectangle 4"/>
          <p:cNvSpPr/>
          <p:nvPr/>
        </p:nvSpPr>
        <p:spPr>
          <a:xfrm>
            <a:off x="5246000" y="2900000"/>
            <a:ext cx="1700000" cy="10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246000" y="3250000"/>
            <a:ext cx="1700000" cy="300000"/>
          </a:xfrm>
          <a:prstGeom prst="rect">
            <a:avLst/>
          </a:prstGeom>
          <a:noFill/>
        </p:spPr>
        <p:txBody>
          <a:bodyPr wrap="square" lIns="0" rIns="0" tIns="0" bIns="0" anchor="t">
            <a:spAutoFit/>
          </a:bodyPr>
          <a:lstStyle/>
          <a:p>
            <a:pPr algn="ctr"/>
            <a:r>
              <a:rPr sz="1600" b="1">
                <a:solidFill>
                  <a:schemeClr val="dk1"/>
                </a:solidFill>
                <a:latin typeface="Arial"/>
              </a:rPr>
              <a:t>B</a:t>
            </a:r>
          </a:p>
        </p:txBody>
      </p:sp>
      <p:sp>
        <p:nvSpPr>
          <p:cNvPr id="7" name="Rectangle 6"/>
          <p:cNvSpPr/>
          <p:nvPr/>
        </p:nvSpPr>
        <p:spPr>
          <a:xfrm>
            <a:off x="8992000" y="2900000"/>
            <a:ext cx="1700000" cy="10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992000" y="3250000"/>
            <a:ext cx="1700000" cy="300000"/>
          </a:xfrm>
          <a:prstGeom prst="rect">
            <a:avLst/>
          </a:prstGeom>
          <a:noFill/>
        </p:spPr>
        <p:txBody>
          <a:bodyPr wrap="square" lIns="0" rIns="0" tIns="0" bIns="0" anchor="t">
            <a:spAutoFit/>
          </a:bodyPr>
          <a:lstStyle/>
          <a:p>
            <a:pPr algn="ctr"/>
            <a:r>
              <a:rPr sz="1600" b="1">
                <a:solidFill>
                  <a:schemeClr val="dk1"/>
                </a:solidFill>
                <a:latin typeface="Arial"/>
              </a:rPr>
              <a:t>C</a:t>
            </a:r>
          </a:p>
        </p:txBody>
      </p:sp>
      <p:cxnSp>
        <p:nvCxnSpPr>
          <p:cNvPr id="9" name="Connector 8"/>
          <p:cNvCxnSpPr/>
          <p:nvPr/>
        </p:nvCxnSpPr>
        <p:spPr>
          <a:xfrm>
            <a:off x="3200000" y="3400000"/>
            <a:ext cx="2046000" cy="0"/>
          </a:xfrm>
          <a:prstGeom prst="line">
            <a:avLst/>
          </a:prstGeom>
          <a:ln w="1905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946000" y="3400000"/>
            <a:ext cx="2046000" cy="0"/>
          </a:xfrm>
          <a:prstGeom prst="line">
            <a:avLst/>
          </a:prstGeom>
          <a:ln w="1905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1500000" y="1750000"/>
            <a:ext cx="1700000" cy="48000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500000" y="1750000"/>
            <a:ext cx="1700000" cy="480000"/>
          </a:xfrm>
          <a:prstGeom prst="rect">
            <a:avLst/>
          </a:prstGeom>
          <a:noFill/>
        </p:spPr>
        <p:txBody>
          <a:bodyPr wrap="square" lIns="0" rIns="0" tIns="0" bIns="0" anchor="ctr">
            <a:spAutoFit/>
          </a:bodyPr>
          <a:lstStyle/>
          <a:p>
            <a:pPr algn="ctr"/>
            <a:r>
              <a:rPr sz="1600" b="1">
                <a:solidFill>
                  <a:schemeClr val="lt1"/>
                </a:solidFill>
                <a:latin typeface="Arial"/>
              </a:rPr>
              <a:t>iterator</a:t>
            </a:r>
          </a:p>
        </p:txBody>
      </p:sp>
      <p:cxnSp>
        <p:nvCxnSpPr>
          <p:cNvPr id="13" name="Connector 12"/>
          <p:cNvCxnSpPr/>
          <p:nvPr/>
        </p:nvCxnSpPr>
        <p:spPr>
          <a:xfrm>
            <a:off x="2350000" y="2230000"/>
            <a:ext cx="0" cy="670000"/>
          </a:xfrm>
          <a:prstGeom prst="line">
            <a:avLst/>
          </a:prstGeom>
          <a:ln w="19050">
            <a:solidFill>
              <a:schemeClr val="accent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200000" y="1990000"/>
            <a:ext cx="2896000" cy="910000"/>
          </a:xfrm>
          <a:prstGeom prst="bentConnector2">
            <a:avLst/>
          </a:prstGeom>
          <a:ln w="28575">
            <a:solidFill>
              <a:schemeClr val="accent1"/>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450000" y="1370000"/>
            <a:ext cx="1400000" cy="360000"/>
          </a:xfrm>
          <a:prstGeom prst="rect">
            <a:avLst/>
          </a:prstGeom>
          <a:noFill/>
        </p:spPr>
        <p:txBody>
          <a:bodyPr wrap="square" lIns="0" rIns="0" tIns="0" bIns="0" anchor="ctr">
            <a:spAutoFit/>
          </a:bodyPr>
          <a:lstStyle/>
          <a:p>
            <a:pPr algn="ctr"/>
            <a:r>
              <a:rPr sz="1600" b="1">
                <a:solidFill>
                  <a:schemeClr val="accent1"/>
                </a:solidFill>
                <a:latin typeface="Arial"/>
              </a:rPr>
              <a:t>next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The TLS use-after-free</a:t>
            </a:r>
          </a:p>
        </p:txBody>
      </p:sp>
      <p:sp>
        <p:nvSpPr>
          <p:cNvPr id="3" name="Rectangle 2"/>
          <p:cNvSpPr/>
          <p:nvPr/>
        </p:nvSpPr>
        <p:spPr>
          <a:xfrm>
            <a:off x="1500000" y="2900000"/>
            <a:ext cx="1700000" cy="10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500000" y="3250000"/>
            <a:ext cx="1700000" cy="300000"/>
          </a:xfrm>
          <a:prstGeom prst="rect">
            <a:avLst/>
          </a:prstGeom>
          <a:noFill/>
        </p:spPr>
        <p:txBody>
          <a:bodyPr wrap="square" lIns="0" rIns="0" tIns="0" bIns="0" anchor="t">
            <a:spAutoFit/>
          </a:bodyPr>
          <a:lstStyle/>
          <a:p>
            <a:pPr algn="ctr"/>
            <a:r>
              <a:rPr sz="1600" b="1">
                <a:solidFill>
                  <a:schemeClr val="dk1"/>
                </a:solidFill>
                <a:latin typeface="Arial"/>
              </a:rPr>
              <a:t>A</a:t>
            </a:r>
          </a:p>
        </p:txBody>
      </p:sp>
      <p:sp>
        <p:nvSpPr>
          <p:cNvPr id="5" name="Rectangle 4"/>
          <p:cNvSpPr/>
          <p:nvPr/>
        </p:nvSpPr>
        <p:spPr>
          <a:xfrm>
            <a:off x="5246000" y="2900000"/>
            <a:ext cx="1700000" cy="10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246000" y="3250000"/>
            <a:ext cx="1700000" cy="300000"/>
          </a:xfrm>
          <a:prstGeom prst="rect">
            <a:avLst/>
          </a:prstGeom>
          <a:noFill/>
        </p:spPr>
        <p:txBody>
          <a:bodyPr wrap="square" lIns="0" rIns="0" tIns="0" bIns="0" anchor="t">
            <a:spAutoFit/>
          </a:bodyPr>
          <a:lstStyle/>
          <a:p>
            <a:pPr algn="ctr"/>
            <a:r>
              <a:rPr sz="1600" b="1">
                <a:solidFill>
                  <a:schemeClr val="dk1"/>
                </a:solidFill>
                <a:latin typeface="Arial"/>
              </a:rPr>
              <a:t>B</a:t>
            </a:r>
          </a:p>
        </p:txBody>
      </p:sp>
      <p:sp>
        <p:nvSpPr>
          <p:cNvPr id="7" name="Rectangle 6"/>
          <p:cNvSpPr/>
          <p:nvPr/>
        </p:nvSpPr>
        <p:spPr>
          <a:xfrm>
            <a:off x="8992000" y="2900000"/>
            <a:ext cx="1700000" cy="10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992000" y="3250000"/>
            <a:ext cx="1700000" cy="300000"/>
          </a:xfrm>
          <a:prstGeom prst="rect">
            <a:avLst/>
          </a:prstGeom>
          <a:noFill/>
        </p:spPr>
        <p:txBody>
          <a:bodyPr wrap="square" lIns="0" rIns="0" tIns="0" bIns="0" anchor="t">
            <a:spAutoFit/>
          </a:bodyPr>
          <a:lstStyle/>
          <a:p>
            <a:pPr algn="ctr"/>
            <a:r>
              <a:rPr sz="1600" b="1">
                <a:solidFill>
                  <a:schemeClr val="dk1"/>
                </a:solidFill>
                <a:latin typeface="Arial"/>
              </a:rPr>
              <a:t>C</a:t>
            </a:r>
          </a:p>
        </p:txBody>
      </p:sp>
      <p:cxnSp>
        <p:nvCxnSpPr>
          <p:cNvPr id="9" name="Connector 8"/>
          <p:cNvCxnSpPr/>
          <p:nvPr/>
        </p:nvCxnSpPr>
        <p:spPr>
          <a:xfrm>
            <a:off x="3200000" y="3400000"/>
            <a:ext cx="2046000" cy="0"/>
          </a:xfrm>
          <a:prstGeom prst="line">
            <a:avLst/>
          </a:prstGeom>
          <a:ln w="1905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946000" y="3400000"/>
            <a:ext cx="2046000" cy="0"/>
          </a:xfrm>
          <a:prstGeom prst="line">
            <a:avLst/>
          </a:prstGeom>
          <a:ln w="1905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1500000" y="1750000"/>
            <a:ext cx="1700000" cy="48000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500000" y="1750000"/>
            <a:ext cx="1700000" cy="480000"/>
          </a:xfrm>
          <a:prstGeom prst="rect">
            <a:avLst/>
          </a:prstGeom>
          <a:noFill/>
        </p:spPr>
        <p:txBody>
          <a:bodyPr wrap="square" lIns="0" rIns="0" tIns="0" bIns="0" anchor="ctr">
            <a:spAutoFit/>
          </a:bodyPr>
          <a:lstStyle/>
          <a:p>
            <a:pPr algn="ctr"/>
            <a:r>
              <a:rPr sz="1600" b="1">
                <a:solidFill>
                  <a:schemeClr val="lt1"/>
                </a:solidFill>
                <a:latin typeface="Arial"/>
              </a:rPr>
              <a:t>iterator</a:t>
            </a:r>
          </a:p>
        </p:txBody>
      </p:sp>
      <p:cxnSp>
        <p:nvCxnSpPr>
          <p:cNvPr id="13" name="Connector 12"/>
          <p:cNvCxnSpPr/>
          <p:nvPr/>
        </p:nvCxnSpPr>
        <p:spPr>
          <a:xfrm>
            <a:off x="2350000" y="2230000"/>
            <a:ext cx="0" cy="670000"/>
          </a:xfrm>
          <a:prstGeom prst="line">
            <a:avLst/>
          </a:prstGeom>
          <a:ln w="19050">
            <a:solidFill>
              <a:schemeClr val="accent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200000" y="1990000"/>
            <a:ext cx="2896000" cy="910000"/>
          </a:xfrm>
          <a:prstGeom prst="bentConnector2">
            <a:avLst/>
          </a:prstGeom>
          <a:ln w="28575">
            <a:solidFill>
              <a:schemeClr val="accent1"/>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450000" y="1370000"/>
            <a:ext cx="1400000" cy="360000"/>
          </a:xfrm>
          <a:prstGeom prst="rect">
            <a:avLst/>
          </a:prstGeom>
          <a:noFill/>
        </p:spPr>
        <p:txBody>
          <a:bodyPr wrap="square" lIns="0" rIns="0" tIns="0" bIns="0" anchor="ctr">
            <a:spAutoFit/>
          </a:bodyPr>
          <a:lstStyle/>
          <a:p>
            <a:pPr algn="ctr"/>
            <a:r>
              <a:rPr sz="1600" b="1">
                <a:solidFill>
                  <a:schemeClr val="accent1"/>
                </a:solidFill>
                <a:latin typeface="Arial"/>
              </a:rPr>
              <a:t>next</a:t>
            </a:r>
          </a:p>
        </p:txBody>
      </p:sp>
      <p:sp>
        <p:nvSpPr>
          <p:cNvPr id="16" name="Rectangle 15"/>
          <p:cNvSpPr/>
          <p:nvPr/>
        </p:nvSpPr>
        <p:spPr>
          <a:xfrm>
            <a:off x="1350000" y="4600000"/>
            <a:ext cx="2000000" cy="480000"/>
          </a:xfrm>
          <a:prstGeom prst="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350000" y="4600000"/>
            <a:ext cx="2000000" cy="480000"/>
          </a:xfrm>
          <a:prstGeom prst="rect">
            <a:avLst/>
          </a:prstGeom>
          <a:noFill/>
        </p:spPr>
        <p:txBody>
          <a:bodyPr wrap="square" lIns="0" rIns="0" tIns="0" bIns="0" anchor="ctr">
            <a:spAutoFit/>
          </a:bodyPr>
          <a:lstStyle/>
          <a:p>
            <a:pPr algn="ctr"/>
            <a:r>
              <a:rPr sz="1600" b="1">
                <a:solidFill>
                  <a:schemeClr val="accent2"/>
                </a:solidFill>
                <a:latin typeface="Arial"/>
              </a:rPr>
              <a:t>CLIENT KILL B</a:t>
            </a:r>
          </a:p>
        </p:txBody>
      </p:sp>
      <p:cxnSp>
        <p:nvCxnSpPr>
          <p:cNvPr id="18" name="Connector 17"/>
          <p:cNvCxnSpPr/>
          <p:nvPr/>
        </p:nvCxnSpPr>
        <p:spPr>
          <a:xfrm flipV="1">
            <a:off x="3350000" y="3900000"/>
            <a:ext cx="2746000" cy="940000"/>
          </a:xfrm>
          <a:prstGeom prst="bentConnector2">
            <a:avLst/>
          </a:prstGeom>
          <a:ln w="1905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The TLS use-after-free</a:t>
            </a:r>
          </a:p>
        </p:txBody>
      </p:sp>
      <p:sp>
        <p:nvSpPr>
          <p:cNvPr id="3" name="Rectangle 2"/>
          <p:cNvSpPr/>
          <p:nvPr/>
        </p:nvSpPr>
        <p:spPr>
          <a:xfrm>
            <a:off x="1500000" y="2900000"/>
            <a:ext cx="1700000" cy="10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500000" y="3250000"/>
            <a:ext cx="1700000" cy="300000"/>
          </a:xfrm>
          <a:prstGeom prst="rect">
            <a:avLst/>
          </a:prstGeom>
          <a:noFill/>
        </p:spPr>
        <p:txBody>
          <a:bodyPr wrap="square" lIns="0" rIns="0" tIns="0" bIns="0" anchor="t">
            <a:spAutoFit/>
          </a:bodyPr>
          <a:lstStyle/>
          <a:p>
            <a:pPr algn="ctr"/>
            <a:r>
              <a:rPr sz="1600" b="1">
                <a:solidFill>
                  <a:schemeClr val="dk1"/>
                </a:solidFill>
                <a:latin typeface="Arial"/>
              </a:rPr>
              <a:t>A</a:t>
            </a:r>
          </a:p>
        </p:txBody>
      </p:sp>
      <p:sp>
        <p:nvSpPr>
          <p:cNvPr id="5" name="Rectangle 4"/>
          <p:cNvSpPr/>
          <p:nvPr/>
        </p:nvSpPr>
        <p:spPr>
          <a:xfrm>
            <a:off x="5246000" y="2900000"/>
            <a:ext cx="1700000" cy="1000000"/>
          </a:xfrm>
          <a:prstGeom prst="rect">
            <a:avLst/>
          </a:prstGeom>
          <a:noFill/>
          <a:ln w="25400">
            <a:solidFill>
              <a:schemeClr val="dk2"/>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246000" y="2900000"/>
            <a:ext cx="1700000" cy="1000000"/>
          </a:xfrm>
          <a:prstGeom prst="rect">
            <a:avLst/>
          </a:prstGeom>
          <a:noFill/>
        </p:spPr>
        <p:txBody>
          <a:bodyPr wrap="square" lIns="0" rIns="0" tIns="0" bIns="0" anchor="ctr">
            <a:spAutoFit/>
          </a:bodyPr>
          <a:lstStyle/>
          <a:p>
            <a:pPr algn="ctr"/>
            <a:r>
              <a:rPr sz="1600" b="1">
                <a:solidFill>
                  <a:schemeClr val="dk2"/>
                </a:solidFill>
                <a:latin typeface="Arial"/>
              </a:rPr>
              <a:t>B</a:t>
            </a:r>
          </a:p>
        </p:txBody>
      </p:sp>
      <p:sp>
        <p:nvSpPr>
          <p:cNvPr id="7" name="Rectangle 6"/>
          <p:cNvSpPr/>
          <p:nvPr/>
        </p:nvSpPr>
        <p:spPr>
          <a:xfrm>
            <a:off x="8992000" y="2900000"/>
            <a:ext cx="1700000" cy="10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992000" y="3250000"/>
            <a:ext cx="1700000" cy="300000"/>
          </a:xfrm>
          <a:prstGeom prst="rect">
            <a:avLst/>
          </a:prstGeom>
          <a:noFill/>
        </p:spPr>
        <p:txBody>
          <a:bodyPr wrap="square" lIns="0" rIns="0" tIns="0" bIns="0" anchor="t">
            <a:spAutoFit/>
          </a:bodyPr>
          <a:lstStyle/>
          <a:p>
            <a:pPr algn="ctr"/>
            <a:r>
              <a:rPr sz="1600" b="1">
                <a:solidFill>
                  <a:schemeClr val="dk1"/>
                </a:solidFill>
                <a:latin typeface="Arial"/>
              </a:rPr>
              <a:t>C</a:t>
            </a:r>
          </a:p>
        </p:txBody>
      </p:sp>
      <p:cxnSp>
        <p:nvCxnSpPr>
          <p:cNvPr id="9" name="Connector 8"/>
          <p:cNvCxnSpPr/>
          <p:nvPr/>
        </p:nvCxnSpPr>
        <p:spPr>
          <a:xfrm>
            <a:off x="3200000" y="3400000"/>
            <a:ext cx="2046000" cy="0"/>
          </a:xfrm>
          <a:prstGeom prst="line">
            <a:avLst/>
          </a:prstGeom>
          <a:ln w="1905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946000" y="3400000"/>
            <a:ext cx="2046000" cy="0"/>
          </a:xfrm>
          <a:prstGeom prst="line">
            <a:avLst/>
          </a:prstGeom>
          <a:ln w="1905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1500000" y="1750000"/>
            <a:ext cx="1700000" cy="48000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500000" y="1750000"/>
            <a:ext cx="1700000" cy="480000"/>
          </a:xfrm>
          <a:prstGeom prst="rect">
            <a:avLst/>
          </a:prstGeom>
          <a:noFill/>
        </p:spPr>
        <p:txBody>
          <a:bodyPr wrap="square" lIns="0" rIns="0" tIns="0" bIns="0" anchor="ctr">
            <a:spAutoFit/>
          </a:bodyPr>
          <a:lstStyle/>
          <a:p>
            <a:pPr algn="ctr"/>
            <a:r>
              <a:rPr sz="1600" b="1">
                <a:solidFill>
                  <a:schemeClr val="lt1"/>
                </a:solidFill>
                <a:latin typeface="Arial"/>
              </a:rPr>
              <a:t>iterator</a:t>
            </a:r>
          </a:p>
        </p:txBody>
      </p:sp>
      <p:cxnSp>
        <p:nvCxnSpPr>
          <p:cNvPr id="13" name="Connector 12"/>
          <p:cNvCxnSpPr/>
          <p:nvPr/>
        </p:nvCxnSpPr>
        <p:spPr>
          <a:xfrm>
            <a:off x="2350000" y="2230000"/>
            <a:ext cx="0" cy="670000"/>
          </a:xfrm>
          <a:prstGeom prst="line">
            <a:avLst/>
          </a:prstGeom>
          <a:ln w="19050">
            <a:solidFill>
              <a:schemeClr val="accent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200000" y="1990000"/>
            <a:ext cx="2896000" cy="910000"/>
          </a:xfrm>
          <a:prstGeom prst="bentConnector2">
            <a:avLst/>
          </a:prstGeom>
          <a:ln w="28575">
            <a:solidFill>
              <a:schemeClr val="accent1"/>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450000" y="1370000"/>
            <a:ext cx="1400000" cy="360000"/>
          </a:xfrm>
          <a:prstGeom prst="rect">
            <a:avLst/>
          </a:prstGeom>
          <a:noFill/>
        </p:spPr>
        <p:txBody>
          <a:bodyPr wrap="square" lIns="0" rIns="0" tIns="0" bIns="0" anchor="ctr">
            <a:spAutoFit/>
          </a:bodyPr>
          <a:lstStyle/>
          <a:p>
            <a:pPr algn="ctr"/>
            <a:r>
              <a:rPr sz="1600" b="1">
                <a:solidFill>
                  <a:schemeClr val="accent1"/>
                </a:solidFill>
                <a:latin typeface="Arial"/>
              </a:rPr>
              <a:t>next</a:t>
            </a:r>
          </a:p>
        </p:txBody>
      </p:sp>
      <p:sp>
        <p:nvSpPr>
          <p:cNvPr id="16" name="Rectangle 15"/>
          <p:cNvSpPr/>
          <p:nvPr/>
        </p:nvSpPr>
        <p:spPr>
          <a:xfrm>
            <a:off x="1350000" y="4600000"/>
            <a:ext cx="2000000" cy="480000"/>
          </a:xfrm>
          <a:prstGeom prst="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350000" y="4600000"/>
            <a:ext cx="2000000" cy="480000"/>
          </a:xfrm>
          <a:prstGeom prst="rect">
            <a:avLst/>
          </a:prstGeom>
          <a:noFill/>
        </p:spPr>
        <p:txBody>
          <a:bodyPr wrap="square" lIns="0" rIns="0" tIns="0" bIns="0" anchor="ctr">
            <a:spAutoFit/>
          </a:bodyPr>
          <a:lstStyle/>
          <a:p>
            <a:pPr algn="ctr"/>
            <a:r>
              <a:rPr sz="1600" b="1">
                <a:solidFill>
                  <a:schemeClr val="accent2"/>
                </a:solidFill>
                <a:latin typeface="Arial"/>
              </a:rPr>
              <a:t>CLIENT KILL B</a:t>
            </a:r>
          </a:p>
        </p:txBody>
      </p:sp>
      <p:cxnSp>
        <p:nvCxnSpPr>
          <p:cNvPr id="18" name="Connector 17"/>
          <p:cNvCxnSpPr/>
          <p:nvPr/>
        </p:nvCxnSpPr>
        <p:spPr>
          <a:xfrm flipV="1">
            <a:off x="3350000" y="3900000"/>
            <a:ext cx="2746000" cy="940000"/>
          </a:xfrm>
          <a:prstGeom prst="bentConnector2">
            <a:avLst/>
          </a:prstGeom>
          <a:ln w="1905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196000" y="3980000"/>
            <a:ext cx="1000000" cy="380000"/>
          </a:xfrm>
          <a:prstGeom prst="rect">
            <a:avLst/>
          </a:prstGeom>
          <a:noFill/>
        </p:spPr>
        <p:txBody>
          <a:bodyPr wrap="square" lIns="0" rIns="0" tIns="0" bIns="0" anchor="ctr">
            <a:spAutoFit/>
          </a:bodyPr>
          <a:lstStyle/>
          <a:p>
            <a:pPr algn="l"/>
            <a:r>
              <a:rPr sz="1600" b="1">
                <a:solidFill>
                  <a:schemeClr val="dk2"/>
                </a:solidFill>
                <a:latin typeface="Arial"/>
              </a:rPr>
              <a:t>freed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The TLS use-after-free</a:t>
            </a:r>
          </a:p>
        </p:txBody>
      </p:sp>
      <p:sp>
        <p:nvSpPr>
          <p:cNvPr id="3" name="Rectangle 2"/>
          <p:cNvSpPr/>
          <p:nvPr/>
        </p:nvSpPr>
        <p:spPr>
          <a:xfrm>
            <a:off x="1500000" y="2900000"/>
            <a:ext cx="1700000" cy="10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500000" y="3250000"/>
            <a:ext cx="1700000" cy="300000"/>
          </a:xfrm>
          <a:prstGeom prst="rect">
            <a:avLst/>
          </a:prstGeom>
          <a:noFill/>
        </p:spPr>
        <p:txBody>
          <a:bodyPr wrap="square" lIns="0" rIns="0" tIns="0" bIns="0" anchor="t">
            <a:spAutoFit/>
          </a:bodyPr>
          <a:lstStyle/>
          <a:p>
            <a:pPr algn="ctr"/>
            <a:r>
              <a:rPr sz="1600" b="1">
                <a:solidFill>
                  <a:schemeClr val="dk1"/>
                </a:solidFill>
                <a:latin typeface="Arial"/>
              </a:rPr>
              <a:t>A</a:t>
            </a:r>
          </a:p>
        </p:txBody>
      </p:sp>
      <p:sp>
        <p:nvSpPr>
          <p:cNvPr id="5" name="Rectangle 4"/>
          <p:cNvSpPr/>
          <p:nvPr/>
        </p:nvSpPr>
        <p:spPr>
          <a:xfrm>
            <a:off x="5246000" y="2900000"/>
            <a:ext cx="1700000" cy="1000000"/>
          </a:xfrm>
          <a:prstGeom prst="rect">
            <a:avLst/>
          </a:prstGeom>
          <a:noFill/>
          <a:ln w="25400">
            <a:solidFill>
              <a:schemeClr val="dk2"/>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246000" y="2900000"/>
            <a:ext cx="1700000" cy="1000000"/>
          </a:xfrm>
          <a:prstGeom prst="rect">
            <a:avLst/>
          </a:prstGeom>
          <a:noFill/>
        </p:spPr>
        <p:txBody>
          <a:bodyPr wrap="square" lIns="0" rIns="0" tIns="0" bIns="0" anchor="ctr">
            <a:spAutoFit/>
          </a:bodyPr>
          <a:lstStyle/>
          <a:p>
            <a:pPr algn="ctr"/>
            <a:r>
              <a:rPr sz="1600" b="1">
                <a:solidFill>
                  <a:schemeClr val="dk2"/>
                </a:solidFill>
                <a:latin typeface="Arial"/>
              </a:rPr>
              <a:t>B</a:t>
            </a:r>
          </a:p>
        </p:txBody>
      </p:sp>
      <p:sp>
        <p:nvSpPr>
          <p:cNvPr id="7" name="Rectangle 6"/>
          <p:cNvSpPr/>
          <p:nvPr/>
        </p:nvSpPr>
        <p:spPr>
          <a:xfrm>
            <a:off x="8992000" y="2900000"/>
            <a:ext cx="1700000" cy="10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992000" y="3250000"/>
            <a:ext cx="1700000" cy="300000"/>
          </a:xfrm>
          <a:prstGeom prst="rect">
            <a:avLst/>
          </a:prstGeom>
          <a:noFill/>
        </p:spPr>
        <p:txBody>
          <a:bodyPr wrap="square" lIns="0" rIns="0" tIns="0" bIns="0" anchor="t">
            <a:spAutoFit/>
          </a:bodyPr>
          <a:lstStyle/>
          <a:p>
            <a:pPr algn="ctr"/>
            <a:r>
              <a:rPr sz="1600" b="1">
                <a:solidFill>
                  <a:schemeClr val="dk1"/>
                </a:solidFill>
                <a:latin typeface="Arial"/>
              </a:rPr>
              <a:t>C</a:t>
            </a:r>
          </a:p>
        </p:txBody>
      </p:sp>
      <p:cxnSp>
        <p:nvCxnSpPr>
          <p:cNvPr id="9" name="Connector 8"/>
          <p:cNvCxnSpPr/>
          <p:nvPr/>
        </p:nvCxnSpPr>
        <p:spPr>
          <a:xfrm>
            <a:off x="3200000" y="3400000"/>
            <a:ext cx="2046000" cy="0"/>
          </a:xfrm>
          <a:prstGeom prst="line">
            <a:avLst/>
          </a:prstGeom>
          <a:ln w="1905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946000" y="3400000"/>
            <a:ext cx="2046000" cy="0"/>
          </a:xfrm>
          <a:prstGeom prst="line">
            <a:avLst/>
          </a:prstGeom>
          <a:ln w="1905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1500000" y="1750000"/>
            <a:ext cx="1700000" cy="48000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500000" y="1750000"/>
            <a:ext cx="1700000" cy="480000"/>
          </a:xfrm>
          <a:prstGeom prst="rect">
            <a:avLst/>
          </a:prstGeom>
          <a:noFill/>
        </p:spPr>
        <p:txBody>
          <a:bodyPr wrap="square" lIns="0" rIns="0" tIns="0" bIns="0" anchor="ctr">
            <a:spAutoFit/>
          </a:bodyPr>
          <a:lstStyle/>
          <a:p>
            <a:pPr algn="ctr"/>
            <a:r>
              <a:rPr sz="1600" b="1">
                <a:solidFill>
                  <a:schemeClr val="lt1"/>
                </a:solidFill>
                <a:latin typeface="Arial"/>
              </a:rPr>
              <a:t>iterator</a:t>
            </a:r>
          </a:p>
        </p:txBody>
      </p:sp>
      <p:cxnSp>
        <p:nvCxnSpPr>
          <p:cNvPr id="13" name="Connector 12"/>
          <p:cNvCxnSpPr/>
          <p:nvPr/>
        </p:nvCxnSpPr>
        <p:spPr>
          <a:xfrm>
            <a:off x="2350000" y="2230000"/>
            <a:ext cx="0" cy="670000"/>
          </a:xfrm>
          <a:prstGeom prst="line">
            <a:avLst/>
          </a:prstGeom>
          <a:ln w="19050">
            <a:solidFill>
              <a:schemeClr val="accent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200000" y="1990000"/>
            <a:ext cx="2896000" cy="910000"/>
          </a:xfrm>
          <a:prstGeom prst="bentConnector2">
            <a:avLst/>
          </a:prstGeom>
          <a:ln w="28575">
            <a:solidFill>
              <a:srgbClr val="D32F2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450000" y="1370000"/>
            <a:ext cx="1400000" cy="360000"/>
          </a:xfrm>
          <a:prstGeom prst="rect">
            <a:avLst/>
          </a:prstGeom>
          <a:noFill/>
        </p:spPr>
        <p:txBody>
          <a:bodyPr wrap="square" lIns="0" rIns="0" tIns="0" bIns="0" anchor="ctr">
            <a:spAutoFit/>
          </a:bodyPr>
          <a:lstStyle/>
          <a:p>
            <a:pPr algn="ctr"/>
            <a:r>
              <a:rPr sz="1600" b="1">
                <a:solidFill>
                  <a:srgbClr val="D32F2F"/>
                </a:solidFill>
                <a:latin typeface="Arial"/>
              </a:rPr>
              <a:t>next</a:t>
            </a:r>
          </a:p>
        </p:txBody>
      </p:sp>
      <p:sp>
        <p:nvSpPr>
          <p:cNvPr id="16" name="Rectangle 15"/>
          <p:cNvSpPr/>
          <p:nvPr/>
        </p:nvSpPr>
        <p:spPr>
          <a:xfrm>
            <a:off x="1350000" y="4600000"/>
            <a:ext cx="2000000" cy="480000"/>
          </a:xfrm>
          <a:prstGeom prst="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350000" y="4600000"/>
            <a:ext cx="2000000" cy="480000"/>
          </a:xfrm>
          <a:prstGeom prst="rect">
            <a:avLst/>
          </a:prstGeom>
          <a:noFill/>
        </p:spPr>
        <p:txBody>
          <a:bodyPr wrap="square" lIns="0" rIns="0" tIns="0" bIns="0" anchor="ctr">
            <a:spAutoFit/>
          </a:bodyPr>
          <a:lstStyle/>
          <a:p>
            <a:pPr algn="ctr"/>
            <a:r>
              <a:rPr sz="1600" b="1">
                <a:solidFill>
                  <a:schemeClr val="accent2"/>
                </a:solidFill>
                <a:latin typeface="Arial"/>
              </a:rPr>
              <a:t>CLIENT KILL B</a:t>
            </a:r>
          </a:p>
        </p:txBody>
      </p:sp>
      <p:cxnSp>
        <p:nvCxnSpPr>
          <p:cNvPr id="18" name="Connector 17"/>
          <p:cNvCxnSpPr/>
          <p:nvPr/>
        </p:nvCxnSpPr>
        <p:spPr>
          <a:xfrm flipV="1">
            <a:off x="3350000" y="3900000"/>
            <a:ext cx="2746000" cy="940000"/>
          </a:xfrm>
          <a:prstGeom prst="bentConnector2">
            <a:avLst/>
          </a:prstGeom>
          <a:ln w="1905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196000" y="3980000"/>
            <a:ext cx="1000000" cy="380000"/>
          </a:xfrm>
          <a:prstGeom prst="rect">
            <a:avLst/>
          </a:prstGeom>
          <a:noFill/>
        </p:spPr>
        <p:txBody>
          <a:bodyPr wrap="square" lIns="0" rIns="0" tIns="0" bIns="0" anchor="ctr">
            <a:spAutoFit/>
          </a:bodyPr>
          <a:lstStyle/>
          <a:p>
            <a:pPr algn="l"/>
            <a:r>
              <a:rPr sz="1600" b="1">
                <a:solidFill>
                  <a:schemeClr val="dk2"/>
                </a:solidFill>
                <a:latin typeface="Arial"/>
              </a:rPr>
              <a:t>freed</a:t>
            </a:r>
          </a:p>
        </p:txBody>
      </p:sp>
      <p:pic>
        <p:nvPicPr>
          <p:cNvPr id="20" name="crash"/>
          <p:cNvPicPr>
            <a:picLocks noChangeAspect="1"/>
          </p:cNvPicPr>
          <p:nvPr/>
        </p:nvPicPr>
        <p:blipFill>
          <a:blip r:embed="rId2">
            <a:extLst>
              <a:ext uri="{96DAC541-7B7A-43D3-8B79-37D633B846F1}">
                <ns5:svgBlip xmlns:ns5="http://schemas.microsoft.com/office/drawing/2016/SVG/main" r:embed="rId3"/>
              </a:ext>
            </a:extLst>
          </a:blip>
          <a:stretch>
            <a:fillRect/>
          </a:stretch>
        </p:blipFill>
        <p:spPr>
          <a:xfrm>
            <a:off x="7066000" y="1500000"/>
            <a:ext cx="700000" cy="700000"/>
          </a:xfrm>
          <a:prstGeom prst="rect">
            <a:avLst/>
          </a:prstGeom>
        </p:spPr>
      </p:pic>
      <p:sp>
        <p:nvSpPr>
          <p:cNvPr id="21" name="TextBox 20"/>
          <p:cNvSpPr txBox="1"/>
          <p:nvPr/>
        </p:nvSpPr>
        <p:spPr>
          <a:xfrm>
            <a:off x="7766000" y="1500000"/>
            <a:ext cx="1300000" cy="700000"/>
          </a:xfrm>
          <a:prstGeom prst="rect">
            <a:avLst/>
          </a:prstGeom>
          <a:noFill/>
        </p:spPr>
        <p:txBody>
          <a:bodyPr wrap="square" lIns="0" rIns="0" tIns="0" bIns="0" anchor="ctr">
            <a:spAutoFit/>
          </a:bodyPr>
          <a:lstStyle/>
          <a:p>
            <a:pPr algn="l"/>
            <a:r>
              <a:rPr sz="2000" b="1">
                <a:solidFill>
                  <a:srgbClr val="D32F2F"/>
                </a:solidFill>
                <a:latin typeface="Arial"/>
              </a:rPr>
              <a:t>crash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rPr>
                <a:latin typeface="Arial"/>
              </a:rPr>
              <a:t>What about Rust?</a:t>
            </a:r>
          </a:p>
        </p:txBody>
      </p:sp>
      <p:pic>
        <p:nvPicPr>
          <p:cNvPr id="3" name="Picture 2" descr="ferris.png"/>
          <p:cNvPicPr>
            <a:picLocks noChangeAspect="1"/>
          </p:cNvPicPr>
          <p:nvPr/>
        </p:nvPicPr>
        <p:blipFill>
          <a:blip r:embed="rId2"/>
          <a:stretch>
            <a:fillRect/>
          </a:stretch>
        </p:blipFill>
        <p:spPr>
          <a:xfrm>
            <a:off x="7982400" y="2486729"/>
            <a:ext cx="3600000" cy="1884543"/>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Rust won't compile it</a:t>
            </a:r>
          </a:p>
        </p:txBody>
      </p:sp>
      <p:sp>
        <p:nvSpPr>
          <p:cNvPr id="3" name="Rectangle 2"/>
          <p:cNvSpPr/>
          <p:nvPr/>
        </p:nvSpPr>
        <p:spPr>
          <a:xfrm>
            <a:off x="609600" y="2265280"/>
            <a:ext cx="10972800" cy="146304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92480" y="2448160"/>
            <a:ext cx="10607040" cy="1097280"/>
          </a:xfrm>
          <a:prstGeom prst="rect">
            <a:avLst/>
          </a:prstGeom>
          <a:noFill/>
        </p:spPr>
        <p:txBody>
          <a:bodyPr wrap="none" lIns="0" rIns="0" tIns="0" bIns="0">
            <a:spAutoFit/>
          </a:bodyPr>
          <a:lstStyle/>
          <a:p>
            <a:r>
              <a:rPr sz="1800" b="0">
                <a:solidFill>
                  <a:schemeClr val="lt1"/>
                </a:solidFill>
                <a:latin typeface="Courier New"/>
              </a:rPr>
              <a:t>for conn in server.tls_pending.iter() {</a:t>
            </a:r>
          </a:p>
          <a:p>
            <a:r>
              <a:rPr sz="1800" b="0">
                <a:solidFill>
                  <a:schemeClr val="lt1"/>
                </a:solidFill>
                <a:latin typeface="Courier New"/>
              </a:rPr>
              <a:t>    if conn.postpone { continue; }</a:t>
            </a:r>
          </a:p>
          <a:p>
            <a:r>
              <a:rPr sz="1800" b="0">
                <a:solidFill>
                  <a:schemeClr val="lt1"/>
                </a:solidFill>
                <a:latin typeface="Courier New"/>
              </a:rPr>
              <a:t>    server.handle_event(conn); // CLIENT KILL removes from tls_pending</a:t>
            </a:r>
          </a:p>
          <a:p>
            <a:r>
              <a:rPr sz="1800" b="0">
                <a:solidFill>
                  <a:schemeClr val="lt1"/>
                </a:solidFill>
                <a:latin typeface="Courier New"/>
              </a:rPr>
              <a: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Rust won't compile it</a:t>
            </a:r>
          </a:p>
        </p:txBody>
      </p:sp>
      <p:sp>
        <p:nvSpPr>
          <p:cNvPr id="3" name="Rectangle 2"/>
          <p:cNvSpPr/>
          <p:nvPr/>
        </p:nvSpPr>
        <p:spPr>
          <a:xfrm>
            <a:off x="609600" y="2265280"/>
            <a:ext cx="10972800" cy="146304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92480" y="2448160"/>
            <a:ext cx="10607040" cy="1097280"/>
          </a:xfrm>
          <a:prstGeom prst="rect">
            <a:avLst/>
          </a:prstGeom>
          <a:noFill/>
        </p:spPr>
        <p:txBody>
          <a:bodyPr wrap="none" lIns="0" rIns="0" tIns="0" bIns="0">
            <a:spAutoFit/>
          </a:bodyPr>
          <a:lstStyle/>
          <a:p>
            <a:r>
              <a:rPr sz="1800" b="0">
                <a:solidFill>
                  <a:schemeClr val="lt1"/>
                </a:solidFill>
                <a:latin typeface="Courier New"/>
              </a:rPr>
              <a:t>for conn in server.tls_pending.iter() {</a:t>
            </a:r>
          </a:p>
          <a:p>
            <a:r>
              <a:rPr sz="1800" b="0">
                <a:solidFill>
                  <a:schemeClr val="lt1"/>
                </a:solidFill>
                <a:latin typeface="Courier New"/>
              </a:rPr>
              <a:t>    if conn.postpone { continue; }</a:t>
            </a:r>
          </a:p>
          <a:p>
            <a:r>
              <a:rPr sz="1800" b="1">
                <a:solidFill>
                  <a:schemeClr val="accent6"/>
                </a:solidFill>
                <a:latin typeface="Courier New"/>
              </a:rPr>
              <a:t>    server.handle_event(conn); // CLIENT KILL removes from tls_pending</a:t>
            </a:r>
          </a:p>
          <a:p>
            <a:r>
              <a:rPr sz="1800" b="0">
                <a:solidFill>
                  <a:schemeClr val="lt1"/>
                </a:solidFill>
                <a:latin typeface="Courier New"/>
              </a:rPr>
              <a:t>}</a:t>
            </a:r>
          </a:p>
        </p:txBody>
      </p:sp>
      <p:sp>
        <p:nvSpPr>
          <p:cNvPr id="5" name="Rectangle 4"/>
          <p:cNvSpPr/>
          <p:nvPr/>
        </p:nvSpPr>
        <p:spPr>
          <a:xfrm>
            <a:off x="609600" y="3978320"/>
            <a:ext cx="10972800" cy="91440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92480" y="4161200"/>
            <a:ext cx="10607040" cy="548640"/>
          </a:xfrm>
          <a:prstGeom prst="rect">
            <a:avLst/>
          </a:prstGeom>
          <a:noFill/>
        </p:spPr>
        <p:txBody>
          <a:bodyPr wrap="none" lIns="0" rIns="0" tIns="0" bIns="0">
            <a:spAutoFit/>
          </a:bodyPr>
          <a:lstStyle/>
          <a:p>
            <a:r>
              <a:rPr sz="1800" b="1">
                <a:solidFill>
                  <a:schemeClr val="accent6"/>
                </a:solidFill>
                <a:latin typeface="Courier New"/>
              </a:rPr>
              <a:t>error[E0502]: cannot borrow `*server` as mutable</a:t>
            </a:r>
          </a:p>
          <a:p>
            <a:r>
              <a:rPr sz="1800" b="1">
                <a:solidFill>
                  <a:schemeClr val="accent6"/>
                </a:solidFill>
                <a:latin typeface="Courier New"/>
              </a:rPr>
              <a:t>              because it is also borrowed as immutable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Rust removes some bugs</a:t>
            </a:r>
          </a:p>
        </p:txBody>
      </p:sp>
      <p:sp>
        <p:nvSpPr>
          <p:cNvPr id="3" name="Text Placeholder 2"/>
          <p:cNvSpPr>
            <a:spLocks noGrp="1"/>
          </p:cNvSpPr>
          <p:nvPr>
            <p:ph type="body" idx="1"/>
          </p:nvPr>
        </p:nvSpPr>
        <p:spPr/>
        <p:txBody>
          <a:bodyPr/>
          <a:lstStyle/>
          <a:p>
            <a:r>
              <a:rPr>
                <a:solidFill>
                  <a:schemeClr val="dk1"/>
                </a:solidFill>
                <a:latin typeface="Arial"/>
              </a:rPr>
              <a:t>Use after free</a:t>
            </a:r>
          </a:p>
        </p:txBody>
      </p:sp>
      <p:sp>
        <p:nvSpPr>
          <p:cNvPr id="4" name="Text Placeholder 3"/>
          <p:cNvSpPr>
            <a:spLocks noGrp="1"/>
          </p:cNvSpPr>
          <p:nvPr>
            <p:ph type="body" idx="2"/>
          </p:nvPr>
        </p:nvSpPr>
        <p:spPr/>
        <p:txBody>
          <a:bodyPr/>
          <a:lstStyle/>
          <a:p>
            <a:r>
              <a:rPr>
                <a:solidFill>
                  <a:schemeClr val="dk1"/>
                </a:solidFill>
                <a:latin typeface="Arial"/>
              </a:rPr>
              <a:t>Access out of bounds</a:t>
            </a:r>
          </a:p>
        </p:txBody>
      </p:sp>
      <p:sp>
        <p:nvSpPr>
          <p:cNvPr id="5" name="Text Placeholder 4"/>
          <p:cNvSpPr>
            <a:spLocks noGrp="1"/>
          </p:cNvSpPr>
          <p:nvPr>
            <p:ph type="body" idx="3"/>
          </p:nvPr>
        </p:nvSpPr>
        <p:spPr/>
        <p:txBody>
          <a:bodyPr/>
          <a:lstStyle/>
          <a:p>
            <a:r>
              <a:rPr>
                <a:solidFill>
                  <a:srgbClr val="D32F2F"/>
                </a:solidFill>
                <a:latin typeface="Arial"/>
              </a:rPr>
              <a:t>Panics</a:t>
            </a:r>
          </a:p>
        </p:txBody>
      </p:sp>
      <p:sp>
        <p:nvSpPr>
          <p:cNvPr id="6" name="Text Placeholder 5"/>
          <p:cNvSpPr>
            <a:spLocks noGrp="1"/>
          </p:cNvSpPr>
          <p:nvPr>
            <p:ph type="body" idx="4"/>
          </p:nvPr>
        </p:nvSpPr>
        <p:spPr/>
        <p:txBody>
          <a:bodyPr/>
          <a:lstStyle/>
          <a:p>
            <a:r>
              <a:rPr>
                <a:solidFill>
                  <a:srgbClr val="D32F2F"/>
                </a:solidFill>
                <a:latin typeface="Arial"/>
              </a:rPr>
              <a:t>Hangs</a:t>
            </a:r>
          </a:p>
        </p:txBody>
      </p:sp>
      <p:sp>
        <p:nvSpPr>
          <p:cNvPr id="7" name="Text Placeholder 6"/>
          <p:cNvSpPr>
            <a:spLocks noGrp="1"/>
          </p:cNvSpPr>
          <p:nvPr>
            <p:ph type="body" idx="5"/>
          </p:nvPr>
        </p:nvSpPr>
        <p:spPr/>
        <p:txBody>
          <a:bodyPr/>
          <a:lstStyle/>
          <a:p>
            <a:r>
              <a:rPr>
                <a:solidFill>
                  <a:srgbClr val="D32F2F"/>
                </a:solidFill>
                <a:latin typeface="Arial"/>
              </a:rPr>
              <a:t>Logic bugs</a:t>
            </a:r>
          </a:p>
        </p:txBody>
      </p:sp>
      <p:sp>
        <p:nvSpPr>
          <p:cNvPr id="8" name="Rectangle 7"/>
          <p:cNvSpPr/>
          <p:nvPr/>
        </p:nvSpPr>
        <p:spPr>
          <a:xfrm>
            <a:off x="609600" y="1445931"/>
            <a:ext cx="73152" cy="52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09600" y="2095931"/>
            <a:ext cx="73152" cy="52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09600" y="2745931"/>
            <a:ext cx="73152" cy="52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09600" y="3395931"/>
            <a:ext cx="73152" cy="52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09600" y="4045931"/>
            <a:ext cx="73152" cy="52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rPr>
                <a:latin typeface="Arial"/>
              </a:rPr>
              <a:t>Act 3: React fast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AI triages every report first</a:t>
            </a:r>
          </a:p>
        </p:txBody>
      </p:sp>
      <p:pic>
        <p:nvPicPr>
          <p:cNvPr id="3" name="report"/>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1409600" y="2329000"/>
            <a:ext cx="700000" cy="700000"/>
          </a:xfrm>
          <a:prstGeom prst="rect">
            <a:avLst/>
          </a:prstGeom>
        </p:spPr>
      </p:pic>
      <p:sp>
        <p:nvSpPr>
          <p:cNvPr id="4" name="Rectangle 3"/>
          <p:cNvSpPr/>
          <p:nvPr/>
        </p:nvSpPr>
        <p:spPr>
          <a:xfrm>
            <a:off x="609600" y="3129000"/>
            <a:ext cx="2300000" cy="90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09600" y="3129000"/>
            <a:ext cx="2300000" cy="900000"/>
          </a:xfrm>
          <a:prstGeom prst="rect">
            <a:avLst/>
          </a:prstGeom>
          <a:noFill/>
        </p:spPr>
        <p:txBody>
          <a:bodyPr wrap="square" lIns="0" rIns="0" tIns="0" bIns="0" anchor="ctr">
            <a:spAutoFit/>
          </a:bodyPr>
          <a:lstStyle/>
          <a:p>
            <a:pPr algn="ctr"/>
            <a:r>
              <a:rPr sz="1600" b="1">
                <a:solidFill>
                  <a:schemeClr val="dk1"/>
                </a:solidFill>
                <a:latin typeface="Arial"/>
              </a:rPr>
              <a:t>incoming report</a:t>
            </a:r>
          </a:p>
        </p:txBody>
      </p:sp>
      <p:sp>
        <p:nvSpPr>
          <p:cNvPr id="6" name="Rectangle 5"/>
          <p:cNvSpPr/>
          <p:nvPr/>
        </p:nvSpPr>
        <p:spPr>
          <a:xfrm>
            <a:off x="3609600" y="3129000"/>
            <a:ext cx="2500000" cy="90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609600" y="3129000"/>
            <a:ext cx="2500000" cy="900000"/>
          </a:xfrm>
          <a:prstGeom prst="rect">
            <a:avLst/>
          </a:prstGeom>
          <a:noFill/>
        </p:spPr>
        <p:txBody>
          <a:bodyPr wrap="square" lIns="0" rIns="0" tIns="0" bIns="0" anchor="ctr">
            <a:spAutoFit/>
          </a:bodyPr>
          <a:lstStyle/>
          <a:p>
            <a:pPr algn="ctr"/>
            <a:r>
              <a:rPr sz="1800" b="1">
                <a:solidFill>
                  <a:schemeClr val="lt1"/>
                </a:solidFill>
                <a:latin typeface="Arial"/>
              </a:rPr>
              <a:t>AI triage</a:t>
            </a:r>
          </a:p>
        </p:txBody>
      </p:sp>
      <p:cxnSp>
        <p:nvCxnSpPr>
          <p:cNvPr id="8" name="Connector 7"/>
          <p:cNvCxnSpPr/>
          <p:nvPr/>
        </p:nvCxnSpPr>
        <p:spPr>
          <a:xfrm>
            <a:off x="2909600" y="3579000"/>
            <a:ext cx="700000" cy="0"/>
          </a:xfrm>
          <a:prstGeom prst="line">
            <a:avLst/>
          </a:prstGeom>
          <a:ln w="1905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6109600" y="2679000"/>
            <a:ext cx="2472800" cy="900000"/>
          </a:xfrm>
          <a:prstGeom prst="bentConnector3">
            <a:avLst/>
          </a:prstGeom>
          <a:ln w="1905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8582400" y="2369000"/>
            <a:ext cx="3000000" cy="620000"/>
          </a:xfrm>
          <a:prstGeom prst="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82400" y="2369000"/>
            <a:ext cx="3000000" cy="620000"/>
          </a:xfrm>
          <a:prstGeom prst="rect">
            <a:avLst/>
          </a:prstGeom>
          <a:noFill/>
        </p:spPr>
        <p:txBody>
          <a:bodyPr wrap="square" lIns="0" rIns="0" tIns="0" bIns="0" anchor="ctr">
            <a:spAutoFit/>
          </a:bodyPr>
          <a:lstStyle/>
          <a:p>
            <a:pPr algn="ctr"/>
            <a:r>
              <a:rPr sz="1600" b="1">
                <a:solidFill>
                  <a:schemeClr val="dk1"/>
                </a:solidFill>
                <a:latin typeface="Arial"/>
              </a:rPr>
              <a:t>advisory</a:t>
            </a:r>
          </a:p>
        </p:txBody>
      </p:sp>
      <p:cxnSp>
        <p:nvCxnSpPr>
          <p:cNvPr id="12" name="Connector 11"/>
          <p:cNvCxnSpPr/>
          <p:nvPr/>
        </p:nvCxnSpPr>
        <p:spPr>
          <a:xfrm>
            <a:off x="6109600" y="3579000"/>
            <a:ext cx="2472800" cy="0"/>
          </a:xfrm>
          <a:prstGeom prst="line">
            <a:avLst/>
          </a:prstGeom>
          <a:ln w="1905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8582400" y="3269000"/>
            <a:ext cx="3000000" cy="62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582400" y="3269000"/>
            <a:ext cx="3000000" cy="620000"/>
          </a:xfrm>
          <a:prstGeom prst="rect">
            <a:avLst/>
          </a:prstGeom>
          <a:noFill/>
        </p:spPr>
        <p:txBody>
          <a:bodyPr wrap="square" lIns="0" rIns="0" tIns="0" bIns="0" anchor="ctr">
            <a:spAutoFit/>
          </a:bodyPr>
          <a:lstStyle/>
          <a:p>
            <a:pPr algn="ctr"/>
            <a:r>
              <a:rPr sz="1600" b="1">
                <a:solidFill>
                  <a:schemeClr val="dk1"/>
                </a:solidFill>
                <a:latin typeface="Arial"/>
              </a:rPr>
              <a:t>ordinary bug</a:t>
            </a:r>
          </a:p>
        </p:txBody>
      </p:sp>
      <p:cxnSp>
        <p:nvCxnSpPr>
          <p:cNvPr id="15" name="Connector 14"/>
          <p:cNvCxnSpPr/>
          <p:nvPr/>
        </p:nvCxnSpPr>
        <p:spPr>
          <a:xfrm>
            <a:off x="6109600" y="3579000"/>
            <a:ext cx="2472800" cy="900000"/>
          </a:xfrm>
          <a:prstGeom prst="bentConnector3">
            <a:avLst/>
          </a:prstGeom>
          <a:ln w="1905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8582400" y="4169000"/>
            <a:ext cx="3000000" cy="62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582400" y="4169000"/>
            <a:ext cx="3000000" cy="620000"/>
          </a:xfrm>
          <a:prstGeom prst="rect">
            <a:avLst/>
          </a:prstGeom>
          <a:noFill/>
        </p:spPr>
        <p:txBody>
          <a:bodyPr wrap="square" lIns="0" rIns="0" tIns="0" bIns="0" anchor="ctr">
            <a:spAutoFit/>
          </a:bodyPr>
          <a:lstStyle/>
          <a:p>
            <a:pPr algn="ctr"/>
            <a:r>
              <a:rPr sz="1600" b="1">
                <a:solidFill>
                  <a:schemeClr val="dk2"/>
                </a:solidFill>
                <a:latin typeface="Arial"/>
              </a:rPr>
              <a:t>not reproducible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Both labs run security programs for defenders</a:t>
            </a:r>
          </a:p>
        </p:txBody>
      </p:sp>
      <p:sp>
        <p:nvSpPr>
          <p:cNvPr id="3" name="Rectangle 2"/>
          <p:cNvSpPr/>
          <p:nvPr/>
        </p:nvSpPr>
        <p:spPr>
          <a:xfrm>
            <a:off x="609600" y="2179000"/>
            <a:ext cx="5431400" cy="29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anthropic-logo.png"/>
          <p:cNvPicPr>
            <a:picLocks noChangeAspect="1"/>
          </p:cNvPicPr>
          <p:nvPr/>
        </p:nvPicPr>
        <p:blipFill>
          <a:blip r:embed="rId2"/>
          <a:stretch>
            <a:fillRect/>
          </a:stretch>
        </p:blipFill>
        <p:spPr>
          <a:xfrm>
            <a:off x="792480" y="2453755"/>
            <a:ext cx="3000000" cy="336250"/>
          </a:xfrm>
          <a:prstGeom prst="rect">
            <a:avLst/>
          </a:prstGeom>
        </p:spPr>
      </p:pic>
      <p:sp>
        <p:nvSpPr>
          <p:cNvPr id="5" name="TextBox 4"/>
          <p:cNvSpPr txBox="1"/>
          <p:nvPr/>
        </p:nvSpPr>
        <p:spPr>
          <a:xfrm>
            <a:off x="792480" y="3181880"/>
            <a:ext cx="5065640" cy="400000"/>
          </a:xfrm>
          <a:prstGeom prst="rect">
            <a:avLst/>
          </a:prstGeom>
          <a:noFill/>
        </p:spPr>
        <p:txBody>
          <a:bodyPr wrap="square" lIns="0" rIns="0" tIns="0" bIns="0" anchor="t">
            <a:spAutoFit/>
          </a:bodyPr>
          <a:lstStyle/>
          <a:p>
            <a:pPr algn="l"/>
            <a:r>
              <a:rPr sz="2000" b="1">
                <a:solidFill>
                  <a:schemeClr val="dk1"/>
                </a:solidFill>
                <a:latin typeface="Arial"/>
              </a:rPr>
              <a:t>Cyber Verification Program</a:t>
            </a:r>
          </a:p>
        </p:txBody>
      </p:sp>
      <p:sp>
        <p:nvSpPr>
          <p:cNvPr id="6" name="TextBox 5"/>
          <p:cNvSpPr txBox="1"/>
          <p:nvPr/>
        </p:nvSpPr>
        <p:spPr>
          <a:xfrm>
            <a:off x="792480" y="3681880"/>
            <a:ext cx="5065640" cy="1214240"/>
          </a:xfrm>
          <a:prstGeom prst="rect">
            <a:avLst/>
          </a:prstGeom>
          <a:noFill/>
        </p:spPr>
        <p:txBody>
          <a:bodyPr wrap="square" lIns="0" rIns="0" tIns="0" bIns="0">
            <a:spAutoFit/>
          </a:bodyPr>
          <a:lstStyle/>
          <a:p>
            <a:pPr>
              <a:spcAft>
                <a:spcPts val="600"/>
              </a:spcAft>
            </a:pPr>
            <a:r>
              <a:rPr sz="1600">
                <a:solidFill>
                  <a:schemeClr val="dk1"/>
                </a:solidFill>
                <a:latin typeface="Arial"/>
              </a:rPr>
              <a:t>Vetted defenders get its strongest models</a:t>
            </a:r>
          </a:p>
          <a:p>
            <a:pPr>
              <a:spcAft>
                <a:spcPts val="600"/>
              </a:spcAft>
            </a:pPr>
            <a:r>
              <a:rPr sz="1600">
                <a:solidFill>
                  <a:schemeClr val="accent1"/>
                </a:solidFill>
                <a:latin typeface="Arial"/>
              </a:rPr>
              <a:t>portal.anthropic.com/programs/cvp/apply</a:t>
            </a:r>
          </a:p>
        </p:txBody>
      </p:sp>
      <p:sp>
        <p:nvSpPr>
          <p:cNvPr id="7" name="Rectangle 6"/>
          <p:cNvSpPr/>
          <p:nvPr/>
        </p:nvSpPr>
        <p:spPr>
          <a:xfrm>
            <a:off x="6241000" y="2179000"/>
            <a:ext cx="5431400" cy="29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openai-logo.png"/>
          <p:cNvPicPr>
            <a:picLocks noChangeAspect="1"/>
          </p:cNvPicPr>
          <p:nvPr/>
        </p:nvPicPr>
        <p:blipFill>
          <a:blip r:embed="rId3"/>
          <a:stretch>
            <a:fillRect/>
          </a:stretch>
        </p:blipFill>
        <p:spPr>
          <a:xfrm>
            <a:off x="6423880" y="2361880"/>
            <a:ext cx="1887496" cy="520000"/>
          </a:xfrm>
          <a:prstGeom prst="rect">
            <a:avLst/>
          </a:prstGeom>
        </p:spPr>
      </p:pic>
      <p:sp>
        <p:nvSpPr>
          <p:cNvPr id="9" name="TextBox 8"/>
          <p:cNvSpPr txBox="1"/>
          <p:nvPr/>
        </p:nvSpPr>
        <p:spPr>
          <a:xfrm>
            <a:off x="6423880" y="3181880"/>
            <a:ext cx="5065640" cy="400000"/>
          </a:xfrm>
          <a:prstGeom prst="rect">
            <a:avLst/>
          </a:prstGeom>
          <a:noFill/>
        </p:spPr>
        <p:txBody>
          <a:bodyPr wrap="square" lIns="0" rIns="0" tIns="0" bIns="0" anchor="t">
            <a:spAutoFit/>
          </a:bodyPr>
          <a:lstStyle/>
          <a:p>
            <a:pPr algn="l"/>
            <a:r>
              <a:rPr sz="2000" b="1">
                <a:solidFill>
                  <a:schemeClr val="dk1"/>
                </a:solidFill>
                <a:latin typeface="Arial"/>
              </a:rPr>
              <a:t>Trusted Access for Cyber</a:t>
            </a:r>
          </a:p>
        </p:txBody>
      </p:sp>
      <p:sp>
        <p:nvSpPr>
          <p:cNvPr id="10" name="TextBox 9"/>
          <p:cNvSpPr txBox="1"/>
          <p:nvPr/>
        </p:nvSpPr>
        <p:spPr>
          <a:xfrm>
            <a:off x="6423880" y="3681880"/>
            <a:ext cx="5065640" cy="1214240"/>
          </a:xfrm>
          <a:prstGeom prst="rect">
            <a:avLst/>
          </a:prstGeom>
          <a:noFill/>
        </p:spPr>
        <p:txBody>
          <a:bodyPr wrap="square" lIns="0" rIns="0" tIns="0" bIns="0">
            <a:spAutoFit/>
          </a:bodyPr>
          <a:lstStyle/>
          <a:p>
            <a:pPr>
              <a:spcAft>
                <a:spcPts val="600"/>
              </a:spcAft>
            </a:pPr>
            <a:r>
              <a:rPr sz="1600">
                <a:solidFill>
                  <a:schemeClr val="dk1"/>
                </a:solidFill>
                <a:latin typeface="Arial"/>
              </a:rPr>
              <a:t>Verified access to cyber-capable models</a:t>
            </a:r>
          </a:p>
          <a:p>
            <a:pPr>
              <a:spcAft>
                <a:spcPts val="600"/>
              </a:spcAft>
            </a:pPr>
            <a:r>
              <a:rPr sz="1600">
                <a:solidFill>
                  <a:schemeClr val="accent1"/>
                </a:solidFill>
                <a:latin typeface="Arial"/>
              </a:rPr>
              <a:t>openai.com/index/trusted-access-for-cyber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Same-day fixes on every branch</a:t>
            </a:r>
          </a:p>
        </p:txBody>
      </p:sp>
      <p:sp>
        <p:nvSpPr>
          <p:cNvPr id="3" name="Rectangle 2"/>
          <p:cNvSpPr/>
          <p:nvPr/>
        </p:nvSpPr>
        <p:spPr>
          <a:xfrm>
            <a:off x="609600" y="2279000"/>
            <a:ext cx="5431400" cy="2700000"/>
          </a:xfrm>
          <a:prstGeom prst="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erson"/>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792480" y="2461880"/>
            <a:ext cx="1097280" cy="1097280"/>
          </a:xfrm>
          <a:prstGeom prst="rect">
            <a:avLst/>
          </a:prstGeom>
        </p:spPr>
      </p:pic>
      <p:sp>
        <p:nvSpPr>
          <p:cNvPr id="5" name="TextBox 4"/>
          <p:cNvSpPr txBox="1"/>
          <p:nvPr/>
        </p:nvSpPr>
        <p:spPr>
          <a:xfrm>
            <a:off x="792480" y="3696320"/>
            <a:ext cx="5065640" cy="400110"/>
          </a:xfrm>
          <a:prstGeom prst="rect">
            <a:avLst/>
          </a:prstGeom>
          <a:noFill/>
        </p:spPr>
        <p:txBody>
          <a:bodyPr wrap="square" lIns="0" rIns="0" tIns="0" bIns="0" anchor="t">
            <a:spAutoFit/>
          </a:bodyPr>
          <a:lstStyle/>
          <a:p>
            <a:pPr algn="l"/>
            <a:r>
              <a:rPr sz="1800" b="1">
                <a:solidFill>
                  <a:schemeClr val="dk1"/>
                </a:solidFill>
                <a:latin typeface="Arial"/>
              </a:rPr>
              <a:t>A year ago</a:t>
            </a:r>
          </a:p>
        </p:txBody>
      </p:sp>
      <p:sp>
        <p:nvSpPr>
          <p:cNvPr id="6" name="TextBox 5"/>
          <p:cNvSpPr txBox="1"/>
          <p:nvPr/>
        </p:nvSpPr>
        <p:spPr>
          <a:xfrm>
            <a:off x="792480" y="4142150"/>
            <a:ext cx="5065640" cy="653970"/>
          </a:xfrm>
          <a:prstGeom prst="rect">
            <a:avLst/>
          </a:prstGeom>
          <a:noFill/>
        </p:spPr>
        <p:txBody>
          <a:bodyPr wrap="square" lIns="0" rIns="0" tIns="0" bIns="0">
            <a:spAutoFit/>
          </a:bodyPr>
          <a:lstStyle/>
          <a:p>
            <a:pPr>
              <a:spcAft>
                <a:spcPts val="600"/>
              </a:spcAft>
            </a:pPr>
            <a:r>
              <a:rPr sz="1600" b="0">
                <a:solidFill>
                  <a:schemeClr val="dk1"/>
                </a:solidFill>
                <a:latin typeface="Arial"/>
              </a:rPr>
              <a:t>Hand cherry-pick into every branch</a:t>
            </a:r>
          </a:p>
        </p:txBody>
      </p:sp>
      <p:sp>
        <p:nvSpPr>
          <p:cNvPr id="7" name="Rectangle 6"/>
          <p:cNvSpPr/>
          <p:nvPr/>
        </p:nvSpPr>
        <p:spPr>
          <a:xfrm>
            <a:off x="6241000" y="2279000"/>
            <a:ext cx="5431400" cy="270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model"/>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6423880" y="2461880"/>
            <a:ext cx="1097280" cy="1097280"/>
          </a:xfrm>
          <a:prstGeom prst="rect">
            <a:avLst/>
          </a:prstGeom>
        </p:spPr>
      </p:pic>
      <p:sp>
        <p:nvSpPr>
          <p:cNvPr id="9" name="TextBox 8"/>
          <p:cNvSpPr txBox="1"/>
          <p:nvPr/>
        </p:nvSpPr>
        <p:spPr>
          <a:xfrm>
            <a:off x="6423880" y="3696320"/>
            <a:ext cx="5065640" cy="400110"/>
          </a:xfrm>
          <a:prstGeom prst="rect">
            <a:avLst/>
          </a:prstGeom>
          <a:noFill/>
        </p:spPr>
        <p:txBody>
          <a:bodyPr wrap="square" lIns="0" rIns="0" tIns="0" bIns="0" anchor="t">
            <a:spAutoFit/>
          </a:bodyPr>
          <a:lstStyle/>
          <a:p>
            <a:pPr algn="l"/>
            <a:r>
              <a:rPr sz="1800" b="1">
                <a:solidFill>
                  <a:schemeClr val="accent2"/>
                </a:solidFill>
                <a:latin typeface="Arial"/>
              </a:rPr>
              <a:t>Now</a:t>
            </a:r>
          </a:p>
        </p:txBody>
      </p:sp>
      <p:sp>
        <p:nvSpPr>
          <p:cNvPr id="10" name="TextBox 9"/>
          <p:cNvSpPr txBox="1"/>
          <p:nvPr/>
        </p:nvSpPr>
        <p:spPr>
          <a:xfrm>
            <a:off x="6423880" y="4142150"/>
            <a:ext cx="5065640" cy="653970"/>
          </a:xfrm>
          <a:prstGeom prst="rect">
            <a:avLst/>
          </a:prstGeom>
          <a:noFill/>
        </p:spPr>
        <p:txBody>
          <a:bodyPr wrap="square" lIns="0" rIns="0" tIns="0" bIns="0">
            <a:spAutoFit/>
          </a:bodyPr>
          <a:lstStyle/>
          <a:p>
            <a:pPr>
              <a:spcAft>
                <a:spcPts val="600"/>
              </a:spcAft>
            </a:pPr>
            <a:r>
              <a:rPr sz="1600" b="0">
                <a:solidFill>
                  <a:schemeClr val="accent2"/>
                </a:solidFill>
                <a:latin typeface="Arial"/>
              </a:rPr>
              <a:t>AI backport PRs, conflicts resolved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Five release branches in 72 minutes</a:t>
            </a:r>
          </a:p>
        </p:txBody>
      </p:sp>
      <p:sp>
        <p:nvSpPr>
          <p:cNvPr id="3" name="Rectangle 2"/>
          <p:cNvSpPr/>
          <p:nvPr/>
        </p:nvSpPr>
        <p:spPr>
          <a:xfrm>
            <a:off x="609600" y="2800000"/>
            <a:ext cx="2700000" cy="100000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09600" y="2800000"/>
            <a:ext cx="2700000" cy="1000000"/>
          </a:xfrm>
          <a:prstGeom prst="rect">
            <a:avLst/>
          </a:prstGeom>
          <a:noFill/>
        </p:spPr>
        <p:txBody>
          <a:bodyPr wrap="square" lIns="0" rIns="0" tIns="0" bIns="0" anchor="ctr">
            <a:spAutoFit/>
          </a:bodyPr>
          <a:lstStyle/>
          <a:p>
            <a:pPr algn="ctr"/>
            <a:r>
              <a:rPr sz="1800" b="1">
                <a:solidFill>
                  <a:schemeClr val="lt1"/>
                </a:solidFill>
                <a:latin typeface="Arial"/>
              </a:rPr>
              <a:t>unstable  ·  16:03</a:t>
            </a:r>
          </a:p>
        </p:txBody>
      </p:sp>
      <p:pic>
        <p:nvPicPr>
          <p:cNvPr id="5" name="model"/>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4209600" y="2300000"/>
            <a:ext cx="560000" cy="560000"/>
          </a:xfrm>
          <a:prstGeom prst="rect">
            <a:avLst/>
          </a:prstGeom>
        </p:spPr>
      </p:pic>
      <p:sp>
        <p:nvSpPr>
          <p:cNvPr id="6" name="TextBox 5"/>
          <p:cNvSpPr txBox="1"/>
          <p:nvPr/>
        </p:nvSpPr>
        <p:spPr>
          <a:xfrm>
            <a:off x="3809600" y="2880000"/>
            <a:ext cx="1360000" cy="340000"/>
          </a:xfrm>
          <a:prstGeom prst="rect">
            <a:avLst/>
          </a:prstGeom>
          <a:noFill/>
        </p:spPr>
        <p:txBody>
          <a:bodyPr wrap="square" lIns="0" rIns="0" tIns="0" bIns="0" anchor="ctr">
            <a:spAutoFit/>
          </a:bodyPr>
          <a:lstStyle/>
          <a:p>
            <a:pPr algn="ctr"/>
            <a:r>
              <a:rPr sz="1400" b="0">
                <a:solidFill>
                  <a:schemeClr val="dk2"/>
                </a:solidFill>
                <a:latin typeface="Arial"/>
              </a:rPr>
              <a:t>backport sweep</a:t>
            </a:r>
          </a:p>
        </p:txBody>
      </p:sp>
      <p:cxnSp>
        <p:nvCxnSpPr>
          <p:cNvPr id="7" name="Connector 6"/>
          <p:cNvCxnSpPr/>
          <p:nvPr/>
        </p:nvCxnSpPr>
        <p:spPr>
          <a:xfrm flipV="1">
            <a:off x="3309600" y="1780000"/>
            <a:ext cx="5672800" cy="1520000"/>
          </a:xfrm>
          <a:prstGeom prst="bentConnector3">
            <a:avLst/>
          </a:prstGeom>
          <a:ln w="1905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8982400" y="1500000"/>
            <a:ext cx="2600000" cy="56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982400" y="1500000"/>
            <a:ext cx="2600000" cy="560000"/>
          </a:xfrm>
          <a:prstGeom prst="rect">
            <a:avLst/>
          </a:prstGeom>
          <a:noFill/>
        </p:spPr>
        <p:txBody>
          <a:bodyPr wrap="square" lIns="0" rIns="0" tIns="0" bIns="0" anchor="ctr">
            <a:spAutoFit/>
          </a:bodyPr>
          <a:lstStyle/>
          <a:p>
            <a:pPr algn="ctr"/>
            <a:r>
              <a:rPr sz="1600" b="1">
                <a:solidFill>
                  <a:schemeClr val="lt1"/>
                </a:solidFill>
                <a:latin typeface="Arial"/>
              </a:rPr>
              <a:t>9.1  ·  17:03</a:t>
            </a:r>
          </a:p>
        </p:txBody>
      </p:sp>
      <p:cxnSp>
        <p:nvCxnSpPr>
          <p:cNvPr id="10" name="Connector 9"/>
          <p:cNvCxnSpPr/>
          <p:nvPr/>
        </p:nvCxnSpPr>
        <p:spPr>
          <a:xfrm flipV="1">
            <a:off x="3309600" y="2540000"/>
            <a:ext cx="5672800" cy="760000"/>
          </a:xfrm>
          <a:prstGeom prst="bentConnector3">
            <a:avLst/>
          </a:prstGeom>
          <a:ln w="1905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8982400" y="2260000"/>
            <a:ext cx="2600000" cy="56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982400" y="2260000"/>
            <a:ext cx="2600000" cy="560000"/>
          </a:xfrm>
          <a:prstGeom prst="rect">
            <a:avLst/>
          </a:prstGeom>
          <a:noFill/>
        </p:spPr>
        <p:txBody>
          <a:bodyPr wrap="square" lIns="0" rIns="0" tIns="0" bIns="0" anchor="ctr">
            <a:spAutoFit/>
          </a:bodyPr>
          <a:lstStyle/>
          <a:p>
            <a:pPr algn="ctr"/>
            <a:r>
              <a:rPr sz="1600" b="1">
                <a:solidFill>
                  <a:schemeClr val="lt1"/>
                </a:solidFill>
                <a:latin typeface="Arial"/>
              </a:rPr>
              <a:t>7.2  ·  17:04</a:t>
            </a:r>
          </a:p>
        </p:txBody>
      </p:sp>
      <p:cxnSp>
        <p:nvCxnSpPr>
          <p:cNvPr id="13" name="Connector 12"/>
          <p:cNvCxnSpPr/>
          <p:nvPr/>
        </p:nvCxnSpPr>
        <p:spPr>
          <a:xfrm>
            <a:off x="3309600" y="3300000"/>
            <a:ext cx="5672800" cy="0"/>
          </a:xfrm>
          <a:prstGeom prst="line">
            <a:avLst/>
          </a:prstGeom>
          <a:ln w="1905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8982400" y="3020000"/>
            <a:ext cx="2600000" cy="56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982400" y="3020000"/>
            <a:ext cx="2600000" cy="560000"/>
          </a:xfrm>
          <a:prstGeom prst="rect">
            <a:avLst/>
          </a:prstGeom>
          <a:noFill/>
        </p:spPr>
        <p:txBody>
          <a:bodyPr wrap="square" lIns="0" rIns="0" tIns="0" bIns="0" anchor="ctr">
            <a:spAutoFit/>
          </a:bodyPr>
          <a:lstStyle/>
          <a:p>
            <a:pPr algn="ctr"/>
            <a:r>
              <a:rPr sz="1600" b="1">
                <a:solidFill>
                  <a:schemeClr val="lt1"/>
                </a:solidFill>
                <a:latin typeface="Arial"/>
              </a:rPr>
              <a:t>9.0  ·  17:11</a:t>
            </a:r>
          </a:p>
        </p:txBody>
      </p:sp>
      <p:cxnSp>
        <p:nvCxnSpPr>
          <p:cNvPr id="16" name="Connector 15"/>
          <p:cNvCxnSpPr/>
          <p:nvPr/>
        </p:nvCxnSpPr>
        <p:spPr>
          <a:xfrm>
            <a:off x="3309600" y="3300000"/>
            <a:ext cx="5672800" cy="760000"/>
          </a:xfrm>
          <a:prstGeom prst="bentConnector3">
            <a:avLst/>
          </a:prstGeom>
          <a:ln w="1905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8982400" y="3780000"/>
            <a:ext cx="2600000" cy="56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982400" y="3780000"/>
            <a:ext cx="2600000" cy="560000"/>
          </a:xfrm>
          <a:prstGeom prst="rect">
            <a:avLst/>
          </a:prstGeom>
          <a:noFill/>
        </p:spPr>
        <p:txBody>
          <a:bodyPr wrap="square" lIns="0" rIns="0" tIns="0" bIns="0" anchor="ctr">
            <a:spAutoFit/>
          </a:bodyPr>
          <a:lstStyle/>
          <a:p>
            <a:pPr algn="ctr"/>
            <a:r>
              <a:rPr sz="1600" b="1">
                <a:solidFill>
                  <a:schemeClr val="lt1"/>
                </a:solidFill>
                <a:latin typeface="Arial"/>
              </a:rPr>
              <a:t>8.1  ·  17:12</a:t>
            </a:r>
          </a:p>
        </p:txBody>
      </p:sp>
      <p:cxnSp>
        <p:nvCxnSpPr>
          <p:cNvPr id="19" name="Connector 18"/>
          <p:cNvCxnSpPr/>
          <p:nvPr/>
        </p:nvCxnSpPr>
        <p:spPr>
          <a:xfrm>
            <a:off x="3309600" y="3300000"/>
            <a:ext cx="5672800" cy="1520000"/>
          </a:xfrm>
          <a:prstGeom prst="bentConnector3">
            <a:avLst/>
          </a:prstGeom>
          <a:ln w="1905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8982400" y="4540000"/>
            <a:ext cx="2600000" cy="56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982400" y="4540000"/>
            <a:ext cx="2600000" cy="560000"/>
          </a:xfrm>
          <a:prstGeom prst="rect">
            <a:avLst/>
          </a:prstGeom>
          <a:noFill/>
        </p:spPr>
        <p:txBody>
          <a:bodyPr wrap="square" lIns="0" rIns="0" tIns="0" bIns="0" anchor="ctr">
            <a:spAutoFit/>
          </a:bodyPr>
          <a:lstStyle/>
          <a:p>
            <a:pPr algn="ctr"/>
            <a:r>
              <a:rPr sz="1600" b="1">
                <a:solidFill>
                  <a:schemeClr val="lt1"/>
                </a:solidFill>
                <a:latin typeface="Arial"/>
              </a:rPr>
              <a:t>8.0  ·  17:15</a:t>
            </a:r>
          </a:p>
        </p:txBody>
      </p:sp>
      <p:sp>
        <p:nvSpPr>
          <p:cNvPr id="22" name="TextBox 21"/>
          <p:cNvSpPr txBox="1"/>
          <p:nvPr/>
        </p:nvSpPr>
        <p:spPr>
          <a:xfrm>
            <a:off x="609600" y="5943597"/>
            <a:ext cx="11062800" cy="300000"/>
          </a:xfrm>
          <a:prstGeom prst="rect">
            <a:avLst/>
          </a:prstGeom>
          <a:noFill/>
        </p:spPr>
        <p:txBody>
          <a:bodyPr wrap="square" lIns="0" rIns="0" tIns="0" bIns="0" anchor="t">
            <a:spAutoFit/>
          </a:bodyPr>
          <a:lstStyle/>
          <a:p>
            <a:pPr algn="l"/>
            <a:r>
              <a:rPr sz="1000" b="0" i="1">
                <a:solidFill>
                  <a:schemeClr val="dk1"/>
                </a:solidFill>
                <a:latin typeface="Arial"/>
              </a:rPr>
              <a:t>github.com/valkey-io/valkey, PRs #4234 to #4242, 21 July 2026, UTC</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Fix to five published releases in under eight hours</a:t>
            </a:r>
          </a:p>
        </p:txBody>
      </p:sp>
      <p:sp>
        <p:nvSpPr>
          <p:cNvPr id="3" name="Rectangle 2"/>
          <p:cNvSpPr/>
          <p:nvPr/>
        </p:nvSpPr>
        <p:spPr>
          <a:xfrm>
            <a:off x="609600" y="2629000"/>
            <a:ext cx="1745466" cy="1900000"/>
          </a:xfrm>
          <a:prstGeom prst="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erson"/>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1222333" y="2829000"/>
            <a:ext cx="520000" cy="520000"/>
          </a:xfrm>
          <a:prstGeom prst="rect">
            <a:avLst/>
          </a:prstGeom>
        </p:spPr>
      </p:pic>
      <p:sp>
        <p:nvSpPr>
          <p:cNvPr id="5" name="TextBox 4"/>
          <p:cNvSpPr txBox="1"/>
          <p:nvPr/>
        </p:nvSpPr>
        <p:spPr>
          <a:xfrm>
            <a:off x="669600" y="3449000"/>
            <a:ext cx="1625466" cy="600000"/>
          </a:xfrm>
          <a:prstGeom prst="rect">
            <a:avLst/>
          </a:prstGeom>
          <a:noFill/>
        </p:spPr>
        <p:txBody>
          <a:bodyPr wrap="square" lIns="0" rIns="0" tIns="0" bIns="0" anchor="ctr">
            <a:spAutoFit/>
          </a:bodyPr>
          <a:lstStyle/>
          <a:p>
            <a:pPr algn="ctr"/>
            <a:r>
              <a:rPr sz="1500" b="1">
                <a:solidFill>
                  <a:schemeClr val="dk1"/>
                </a:solidFill>
                <a:latin typeface="Arial"/>
              </a:rPr>
              <a:t>fix merged</a:t>
            </a:r>
          </a:p>
        </p:txBody>
      </p:sp>
      <p:sp>
        <p:nvSpPr>
          <p:cNvPr id="6" name="TextBox 5"/>
          <p:cNvSpPr txBox="1"/>
          <p:nvPr/>
        </p:nvSpPr>
        <p:spPr>
          <a:xfrm>
            <a:off x="609600" y="4029000"/>
            <a:ext cx="1745466" cy="380000"/>
          </a:xfrm>
          <a:prstGeom prst="rect">
            <a:avLst/>
          </a:prstGeom>
          <a:noFill/>
        </p:spPr>
        <p:txBody>
          <a:bodyPr wrap="square" lIns="0" rIns="0" tIns="0" bIns="0" anchor="ctr">
            <a:spAutoFit/>
          </a:bodyPr>
          <a:lstStyle/>
          <a:p>
            <a:pPr algn="ctr"/>
            <a:r>
              <a:rPr sz="1800" b="1">
                <a:solidFill>
                  <a:schemeClr val="dk1"/>
                </a:solidFill>
                <a:latin typeface="Arial"/>
              </a:rPr>
              <a:t>16:03</a:t>
            </a:r>
          </a:p>
        </p:txBody>
      </p:sp>
      <p:sp>
        <p:nvSpPr>
          <p:cNvPr id="7" name="Rectangle 6"/>
          <p:cNvSpPr/>
          <p:nvPr/>
        </p:nvSpPr>
        <p:spPr>
          <a:xfrm>
            <a:off x="2455066" y="2629000"/>
            <a:ext cx="1745466" cy="190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15066" y="3449000"/>
            <a:ext cx="1625466" cy="600000"/>
          </a:xfrm>
          <a:prstGeom prst="rect">
            <a:avLst/>
          </a:prstGeom>
          <a:noFill/>
        </p:spPr>
        <p:txBody>
          <a:bodyPr wrap="square" lIns="0" rIns="0" tIns="0" bIns="0" anchor="ctr">
            <a:spAutoFit/>
          </a:bodyPr>
          <a:lstStyle/>
          <a:p>
            <a:pPr algn="ctr"/>
            <a:r>
              <a:rPr sz="1500" b="1">
                <a:solidFill>
                  <a:schemeClr val="lt1"/>
                </a:solidFill>
                <a:latin typeface="Arial"/>
              </a:rPr>
              <a:t>backport sweep</a:t>
            </a:r>
          </a:p>
        </p:txBody>
      </p:sp>
      <p:sp>
        <p:nvSpPr>
          <p:cNvPr id="9" name="TextBox 8"/>
          <p:cNvSpPr txBox="1"/>
          <p:nvPr/>
        </p:nvSpPr>
        <p:spPr>
          <a:xfrm>
            <a:off x="2455066" y="4029000"/>
            <a:ext cx="1745466" cy="380000"/>
          </a:xfrm>
          <a:prstGeom prst="rect">
            <a:avLst/>
          </a:prstGeom>
          <a:noFill/>
        </p:spPr>
        <p:txBody>
          <a:bodyPr wrap="square" lIns="0" rIns="0" tIns="0" bIns="0" anchor="ctr">
            <a:spAutoFit/>
          </a:bodyPr>
          <a:lstStyle/>
          <a:p>
            <a:pPr algn="ctr"/>
            <a:r>
              <a:rPr sz="1800" b="1">
                <a:solidFill>
                  <a:schemeClr val="lt1"/>
                </a:solidFill>
                <a:latin typeface="Arial"/>
              </a:rPr>
              <a:t>16:05</a:t>
            </a:r>
          </a:p>
        </p:txBody>
      </p:sp>
      <p:sp>
        <p:nvSpPr>
          <p:cNvPr id="10" name="Rectangle 9"/>
          <p:cNvSpPr/>
          <p:nvPr/>
        </p:nvSpPr>
        <p:spPr>
          <a:xfrm>
            <a:off x="4300532" y="2629000"/>
            <a:ext cx="1745466" cy="1900000"/>
          </a:xfrm>
          <a:prstGeom prst="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erson"/>
          <p:cNvPicPr>
            <a:picLocks noChangeAspect="1"/>
          </p:cNvPicPr>
          <p:nvPr/>
        </p:nvPicPr>
        <p:blipFill>
          <a:blip r:embed="rId2">
            <a:extLst>
              <a:ext uri="{96DAC541-7B7A-43D3-8B79-37D633B846F1}">
                <ns1:svgBlip xmlns:ns1="http://schemas.microsoft.com/office/drawing/2016/SVG/main" r:embed="rId3"/>
              </a:ext>
            </a:extLst>
          </a:blip>
          <a:stretch>
            <a:fillRect/>
          </a:stretch>
        </p:blipFill>
        <p:spPr>
          <a:xfrm>
            <a:off x="4913265" y="2829000"/>
            <a:ext cx="520000" cy="520000"/>
          </a:xfrm>
          <a:prstGeom prst="rect">
            <a:avLst/>
          </a:prstGeom>
        </p:spPr>
      </p:pic>
      <p:sp>
        <p:nvSpPr>
          <p:cNvPr id="12" name="TextBox 11"/>
          <p:cNvSpPr txBox="1"/>
          <p:nvPr/>
        </p:nvSpPr>
        <p:spPr>
          <a:xfrm>
            <a:off x="4360532" y="3449000"/>
            <a:ext cx="1625466" cy="600000"/>
          </a:xfrm>
          <a:prstGeom prst="rect">
            <a:avLst/>
          </a:prstGeom>
          <a:noFill/>
        </p:spPr>
        <p:txBody>
          <a:bodyPr wrap="square" lIns="0" rIns="0" tIns="0" bIns="0" anchor="ctr">
            <a:spAutoFit/>
          </a:bodyPr>
          <a:lstStyle/>
          <a:p>
            <a:pPr algn="ctr"/>
            <a:r>
              <a:rPr sz="1500" b="1">
                <a:solidFill>
                  <a:schemeClr val="dk1"/>
                </a:solidFill>
                <a:latin typeface="Arial"/>
              </a:rPr>
              <a:t>backports merged</a:t>
            </a:r>
          </a:p>
        </p:txBody>
      </p:sp>
      <p:sp>
        <p:nvSpPr>
          <p:cNvPr id="13" name="TextBox 12"/>
          <p:cNvSpPr txBox="1"/>
          <p:nvPr/>
        </p:nvSpPr>
        <p:spPr>
          <a:xfrm>
            <a:off x="4300532" y="4029000"/>
            <a:ext cx="1745466" cy="380000"/>
          </a:xfrm>
          <a:prstGeom prst="rect">
            <a:avLst/>
          </a:prstGeom>
          <a:noFill/>
        </p:spPr>
        <p:txBody>
          <a:bodyPr wrap="square" lIns="0" rIns="0" tIns="0" bIns="0" anchor="ctr">
            <a:spAutoFit/>
          </a:bodyPr>
          <a:lstStyle/>
          <a:p>
            <a:pPr algn="ctr"/>
            <a:r>
              <a:rPr sz="1800" b="1">
                <a:solidFill>
                  <a:schemeClr val="dk1"/>
                </a:solidFill>
                <a:latin typeface="Arial"/>
              </a:rPr>
              <a:t>17:15</a:t>
            </a:r>
          </a:p>
        </p:txBody>
      </p:sp>
      <p:sp>
        <p:nvSpPr>
          <p:cNvPr id="14" name="Rectangle 13"/>
          <p:cNvSpPr/>
          <p:nvPr/>
        </p:nvSpPr>
        <p:spPr>
          <a:xfrm>
            <a:off x="6145998" y="2629000"/>
            <a:ext cx="1745466" cy="190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205998" y="3449000"/>
            <a:ext cx="1625466" cy="600000"/>
          </a:xfrm>
          <a:prstGeom prst="rect">
            <a:avLst/>
          </a:prstGeom>
          <a:noFill/>
        </p:spPr>
        <p:txBody>
          <a:bodyPr wrap="square" lIns="0" rIns="0" tIns="0" bIns="0" anchor="ctr">
            <a:spAutoFit/>
          </a:bodyPr>
          <a:lstStyle/>
          <a:p>
            <a:pPr algn="ctr"/>
            <a:r>
              <a:rPr sz="1500" b="1">
                <a:solidFill>
                  <a:schemeClr val="lt1"/>
                </a:solidFill>
                <a:latin typeface="Arial"/>
              </a:rPr>
              <a:t>release notes</a:t>
            </a:r>
          </a:p>
        </p:txBody>
      </p:sp>
      <p:sp>
        <p:nvSpPr>
          <p:cNvPr id="16" name="TextBox 15"/>
          <p:cNvSpPr txBox="1"/>
          <p:nvPr/>
        </p:nvSpPr>
        <p:spPr>
          <a:xfrm>
            <a:off x="6145998" y="4029000"/>
            <a:ext cx="1745466" cy="380000"/>
          </a:xfrm>
          <a:prstGeom prst="rect">
            <a:avLst/>
          </a:prstGeom>
          <a:noFill/>
        </p:spPr>
        <p:txBody>
          <a:bodyPr wrap="square" lIns="0" rIns="0" tIns="0" bIns="0" anchor="ctr">
            <a:spAutoFit/>
          </a:bodyPr>
          <a:lstStyle/>
          <a:p>
            <a:pPr algn="ctr"/>
            <a:r>
              <a:rPr sz="1800" b="1">
                <a:solidFill>
                  <a:schemeClr val="lt1"/>
                </a:solidFill>
                <a:latin typeface="Arial"/>
              </a:rPr>
              <a:t>17:23</a:t>
            </a:r>
          </a:p>
        </p:txBody>
      </p:sp>
      <p:sp>
        <p:nvSpPr>
          <p:cNvPr id="17" name="Rectangle 16"/>
          <p:cNvSpPr/>
          <p:nvPr/>
        </p:nvSpPr>
        <p:spPr>
          <a:xfrm>
            <a:off x="7991464" y="2629000"/>
            <a:ext cx="1745466" cy="1900000"/>
          </a:xfrm>
          <a:prstGeom prst="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erson"/>
          <p:cNvPicPr>
            <a:picLocks noChangeAspect="1"/>
          </p:cNvPicPr>
          <p:nvPr/>
        </p:nvPicPr>
        <p:blipFill>
          <a:blip r:embed="rId2">
            <a:extLst>
              <a:ext uri="{96DAC541-7B7A-43D3-8B79-37D633B846F1}">
                <ns2:svgBlip xmlns:ns2="http://schemas.microsoft.com/office/drawing/2016/SVG/main" r:embed="rId3"/>
              </a:ext>
            </a:extLst>
          </a:blip>
          <a:stretch>
            <a:fillRect/>
          </a:stretch>
        </p:blipFill>
        <p:spPr>
          <a:xfrm>
            <a:off x="8604197" y="2829000"/>
            <a:ext cx="520000" cy="520000"/>
          </a:xfrm>
          <a:prstGeom prst="rect">
            <a:avLst/>
          </a:prstGeom>
        </p:spPr>
      </p:pic>
      <p:sp>
        <p:nvSpPr>
          <p:cNvPr id="19" name="TextBox 18"/>
          <p:cNvSpPr txBox="1"/>
          <p:nvPr/>
        </p:nvSpPr>
        <p:spPr>
          <a:xfrm>
            <a:off x="8051464" y="3449000"/>
            <a:ext cx="1625466" cy="600000"/>
          </a:xfrm>
          <a:prstGeom prst="rect">
            <a:avLst/>
          </a:prstGeom>
          <a:noFill/>
        </p:spPr>
        <p:txBody>
          <a:bodyPr wrap="square" lIns="0" rIns="0" tIns="0" bIns="0" anchor="ctr">
            <a:spAutoFit/>
          </a:bodyPr>
          <a:lstStyle/>
          <a:p>
            <a:pPr algn="ctr"/>
            <a:r>
              <a:rPr sz="1500" b="1">
                <a:solidFill>
                  <a:schemeClr val="dk1"/>
                </a:solidFill>
                <a:latin typeface="Arial"/>
              </a:rPr>
              <a:t>releases published</a:t>
            </a:r>
          </a:p>
        </p:txBody>
      </p:sp>
      <p:sp>
        <p:nvSpPr>
          <p:cNvPr id="20" name="TextBox 19"/>
          <p:cNvSpPr txBox="1"/>
          <p:nvPr/>
        </p:nvSpPr>
        <p:spPr>
          <a:xfrm>
            <a:off x="7991464" y="4029000"/>
            <a:ext cx="1745466" cy="380000"/>
          </a:xfrm>
          <a:prstGeom prst="rect">
            <a:avLst/>
          </a:prstGeom>
          <a:noFill/>
        </p:spPr>
        <p:txBody>
          <a:bodyPr wrap="square" lIns="0" rIns="0" tIns="0" bIns="0" anchor="ctr">
            <a:spAutoFit/>
          </a:bodyPr>
          <a:lstStyle/>
          <a:p>
            <a:pPr algn="ctr"/>
            <a:r>
              <a:rPr sz="1800" b="1">
                <a:solidFill>
                  <a:schemeClr val="dk1"/>
                </a:solidFill>
                <a:latin typeface="Arial"/>
              </a:rPr>
              <a:t>23:41</a:t>
            </a:r>
          </a:p>
        </p:txBody>
      </p:sp>
      <p:sp>
        <p:nvSpPr>
          <p:cNvPr id="21" name="Rectangle 20"/>
          <p:cNvSpPr/>
          <p:nvPr/>
        </p:nvSpPr>
        <p:spPr>
          <a:xfrm>
            <a:off x="9836930" y="2629000"/>
            <a:ext cx="1745466" cy="190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896930" y="3449000"/>
            <a:ext cx="1625466" cy="600000"/>
          </a:xfrm>
          <a:prstGeom prst="rect">
            <a:avLst/>
          </a:prstGeom>
          <a:noFill/>
        </p:spPr>
        <p:txBody>
          <a:bodyPr wrap="square" lIns="0" rIns="0" tIns="0" bIns="0" anchor="ctr">
            <a:spAutoFit/>
          </a:bodyPr>
          <a:lstStyle/>
          <a:p>
            <a:pPr algn="ctr"/>
            <a:r>
              <a:rPr sz="1500" b="1">
                <a:solidFill>
                  <a:schemeClr val="lt1"/>
                </a:solidFill>
                <a:latin typeface="Arial"/>
              </a:rPr>
              <a:t>downstream updates</a:t>
            </a:r>
          </a:p>
        </p:txBody>
      </p:sp>
      <p:sp>
        <p:nvSpPr>
          <p:cNvPr id="23" name="TextBox 22"/>
          <p:cNvSpPr txBox="1"/>
          <p:nvPr/>
        </p:nvSpPr>
        <p:spPr>
          <a:xfrm>
            <a:off x="9836930" y="4029000"/>
            <a:ext cx="1745466" cy="380000"/>
          </a:xfrm>
          <a:prstGeom prst="rect">
            <a:avLst/>
          </a:prstGeom>
          <a:noFill/>
        </p:spPr>
        <p:txBody>
          <a:bodyPr wrap="square" lIns="0" rIns="0" tIns="0" bIns="0" anchor="ctr">
            <a:spAutoFit/>
          </a:bodyPr>
          <a:lstStyle/>
          <a:p>
            <a:pPr algn="ctr"/>
            <a:r>
              <a:rPr sz="1800" b="1">
                <a:solidFill>
                  <a:schemeClr val="lt1"/>
                </a:solidFill>
                <a:latin typeface="Arial"/>
              </a:rPr>
              <a:t>00:08</a:t>
            </a:r>
          </a:p>
        </p:txBody>
      </p:sp>
      <p:sp>
        <p:nvSpPr>
          <p:cNvPr id="24" name="TextBox 23"/>
          <p:cNvSpPr txBox="1"/>
          <p:nvPr/>
        </p:nvSpPr>
        <p:spPr>
          <a:xfrm>
            <a:off x="609600" y="5943597"/>
            <a:ext cx="11062800" cy="300000"/>
          </a:xfrm>
          <a:prstGeom prst="rect">
            <a:avLst/>
          </a:prstGeom>
          <a:noFill/>
        </p:spPr>
        <p:txBody>
          <a:bodyPr wrap="square" lIns="0" rIns="0" tIns="0" bIns="0" anchor="t">
            <a:spAutoFit/>
          </a:bodyPr>
          <a:lstStyle/>
          <a:p>
            <a:pPr algn="l"/>
            <a:r>
              <a:rPr sz="1000" b="0" i="1">
                <a:solidFill>
                  <a:schemeClr val="dk1"/>
                </a:solidFill>
                <a:latin typeface="Arial"/>
              </a:rPr>
              <a:t>valkey-io/valkey, valkey-hashes, valkey-container, valkey-io.github.io, 21 to 22 July 2026, UTC</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rPr>
                <a:latin typeface="Arial"/>
              </a:rPr>
              <a:t>Humans review the changes.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Recap</a:t>
            </a:r>
          </a:p>
        </p:txBody>
      </p:sp>
      <p:sp>
        <p:nvSpPr>
          <p:cNvPr id="3" name="Rectangle 2"/>
          <p:cNvSpPr/>
          <p:nvPr/>
        </p:nvSpPr>
        <p:spPr>
          <a:xfrm>
            <a:off x="609600" y="2129000"/>
            <a:ext cx="3554266" cy="30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security"/>
          <p:cNvPicPr>
            <a:picLocks noChangeAspect="1"/>
          </p:cNvPicPr>
          <p:nvPr/>
        </p:nvPicPr>
        <p:blipFill>
          <a:blip r:embed="rId2">
            <a:extLst>
              <a:ext uri="{96DAC541-7B7A-43D3-8B79-37D633B846F1}">
                <ns0:svgBlip xmlns:ns0="http://schemas.microsoft.com/office/drawing/2016/SVG/main" r:embed="rId3"/>
              </a:ext>
            </a:extLst>
          </a:blip>
          <a:stretch>
            <a:fillRect/>
          </a:stretch>
        </p:blipFill>
        <p:spPr>
          <a:xfrm>
            <a:off x="792480" y="2311880"/>
            <a:ext cx="1097280" cy="1097280"/>
          </a:xfrm>
          <a:prstGeom prst="rect">
            <a:avLst/>
          </a:prstGeom>
        </p:spPr>
      </p:pic>
      <p:sp>
        <p:nvSpPr>
          <p:cNvPr id="5" name="TextBox 4"/>
          <p:cNvSpPr txBox="1"/>
          <p:nvPr/>
        </p:nvSpPr>
        <p:spPr>
          <a:xfrm>
            <a:off x="792480" y="3546320"/>
            <a:ext cx="3188506" cy="400110"/>
          </a:xfrm>
          <a:prstGeom prst="rect">
            <a:avLst/>
          </a:prstGeom>
          <a:noFill/>
        </p:spPr>
        <p:txBody>
          <a:bodyPr wrap="square" lIns="0" rIns="0" tIns="0" bIns="0" anchor="t">
            <a:spAutoFit/>
          </a:bodyPr>
          <a:lstStyle/>
          <a:p>
            <a:pPr algn="l"/>
            <a:r>
              <a:rPr sz="1800" b="1">
                <a:solidFill>
                  <a:schemeClr val="accent2"/>
                </a:solidFill>
                <a:latin typeface="Arial"/>
              </a:rPr>
              <a:t>Act 1</a:t>
            </a:r>
          </a:p>
        </p:txBody>
      </p:sp>
      <p:sp>
        <p:nvSpPr>
          <p:cNvPr id="6" name="TextBox 5"/>
          <p:cNvSpPr txBox="1"/>
          <p:nvPr/>
        </p:nvSpPr>
        <p:spPr>
          <a:xfrm>
            <a:off x="792480" y="3992150"/>
            <a:ext cx="3188506" cy="953970"/>
          </a:xfrm>
          <a:prstGeom prst="rect">
            <a:avLst/>
          </a:prstGeom>
          <a:noFill/>
        </p:spPr>
        <p:txBody>
          <a:bodyPr wrap="square" lIns="0" rIns="0" tIns="0" bIns="0">
            <a:spAutoFit/>
          </a:bodyPr>
          <a:lstStyle/>
          <a:p>
            <a:pPr>
              <a:spcAft>
                <a:spcPts val="600"/>
              </a:spcAft>
            </a:pPr>
            <a:r>
              <a:rPr sz="1600" b="1">
                <a:solidFill>
                  <a:schemeClr val="accent2"/>
                </a:solidFill>
                <a:latin typeface="Arial"/>
              </a:rPr>
              <a:t>CVEs aren't so special anymore</a:t>
            </a:r>
          </a:p>
          <a:p>
            <a:pPr>
              <a:spcAft>
                <a:spcPts val="600"/>
              </a:spcAft>
            </a:pPr>
            <a:r>
              <a:rPr sz="1600" b="0">
                <a:solidFill>
                  <a:schemeClr val="accent2"/>
                </a:solidFill>
                <a:latin typeface="Arial"/>
              </a:rPr>
              <a:t>Advisories are for crossing a boundary</a:t>
            </a:r>
          </a:p>
        </p:txBody>
      </p:sp>
      <p:sp>
        <p:nvSpPr>
          <p:cNvPr id="7" name="Rectangle 6"/>
          <p:cNvSpPr/>
          <p:nvPr/>
        </p:nvSpPr>
        <p:spPr>
          <a:xfrm>
            <a:off x="4363866" y="2129000"/>
            <a:ext cx="3554266" cy="30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hardening"/>
          <p:cNvPicPr>
            <a:picLocks noChangeAspect="1"/>
          </p:cNvPicPr>
          <p:nvPr/>
        </p:nvPicPr>
        <p:blipFill>
          <a:blip r:embed="rId4">
            <a:extLst>
              <a:ext uri="{96DAC541-7B7A-43D3-8B79-37D633B846F1}">
                <ns1:svgBlip xmlns:ns1="http://schemas.microsoft.com/office/drawing/2016/SVG/main" r:embed="rId5"/>
              </a:ext>
            </a:extLst>
          </a:blip>
          <a:stretch>
            <a:fillRect/>
          </a:stretch>
        </p:blipFill>
        <p:spPr>
          <a:xfrm>
            <a:off x="4546746" y="2311880"/>
            <a:ext cx="1097280" cy="1097280"/>
          </a:xfrm>
          <a:prstGeom prst="rect">
            <a:avLst/>
          </a:prstGeom>
        </p:spPr>
      </p:pic>
      <p:sp>
        <p:nvSpPr>
          <p:cNvPr id="9" name="TextBox 8"/>
          <p:cNvSpPr txBox="1"/>
          <p:nvPr/>
        </p:nvSpPr>
        <p:spPr>
          <a:xfrm>
            <a:off x="4546746" y="3546320"/>
            <a:ext cx="3188506" cy="400110"/>
          </a:xfrm>
          <a:prstGeom prst="rect">
            <a:avLst/>
          </a:prstGeom>
          <a:noFill/>
        </p:spPr>
        <p:txBody>
          <a:bodyPr wrap="square" lIns="0" rIns="0" tIns="0" bIns="0" anchor="t">
            <a:spAutoFit/>
          </a:bodyPr>
          <a:lstStyle/>
          <a:p>
            <a:pPr algn="l"/>
            <a:r>
              <a:rPr sz="1800" b="1">
                <a:solidFill>
                  <a:schemeClr val="accent2"/>
                </a:solidFill>
                <a:latin typeface="Arial"/>
              </a:rPr>
              <a:t>Act 2</a:t>
            </a:r>
          </a:p>
        </p:txBody>
      </p:sp>
      <p:sp>
        <p:nvSpPr>
          <p:cNvPr id="10" name="TextBox 9"/>
          <p:cNvSpPr txBox="1"/>
          <p:nvPr/>
        </p:nvSpPr>
        <p:spPr>
          <a:xfrm>
            <a:off x="4546746" y="3992150"/>
            <a:ext cx="3188506" cy="953970"/>
          </a:xfrm>
          <a:prstGeom prst="rect">
            <a:avLst/>
          </a:prstGeom>
          <a:noFill/>
        </p:spPr>
        <p:txBody>
          <a:bodyPr wrap="square" lIns="0" rIns="0" tIns="0" bIns="0">
            <a:spAutoFit/>
          </a:bodyPr>
          <a:lstStyle/>
          <a:p>
            <a:pPr>
              <a:spcAft>
                <a:spcPts val="600"/>
              </a:spcAft>
            </a:pPr>
            <a:r>
              <a:rPr sz="1600" b="1">
                <a:solidFill>
                  <a:schemeClr val="accent2"/>
                </a:solidFill>
                <a:latin typeface="Arial"/>
              </a:rPr>
              <a:t>Find bugs before they do</a:t>
            </a:r>
          </a:p>
          <a:p>
            <a:pPr>
              <a:spcAft>
                <a:spcPts val="600"/>
              </a:spcAft>
            </a:pPr>
            <a:r>
              <a:rPr sz="1600" b="0">
                <a:solidFill>
                  <a:schemeClr val="accent2"/>
                </a:solidFill>
                <a:latin typeface="Arial"/>
              </a:rPr>
              <a:t>Adversarial audits that end in a crashing test</a:t>
            </a:r>
          </a:p>
        </p:txBody>
      </p:sp>
      <p:sp>
        <p:nvSpPr>
          <p:cNvPr id="11" name="Rectangle 10"/>
          <p:cNvSpPr/>
          <p:nvPr/>
        </p:nvSpPr>
        <p:spPr>
          <a:xfrm>
            <a:off x="8118132" y="2129000"/>
            <a:ext cx="3554266" cy="30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migration"/>
          <p:cNvPicPr>
            <a:picLocks noChangeAspect="1"/>
          </p:cNvPicPr>
          <p:nvPr/>
        </p:nvPicPr>
        <p:blipFill>
          <a:blip r:embed="rId6">
            <a:extLst>
              <a:ext uri="{96DAC541-7B7A-43D3-8B79-37D633B846F1}">
                <ns2:svgBlip xmlns:ns2="http://schemas.microsoft.com/office/drawing/2016/SVG/main" r:embed="rId7"/>
              </a:ext>
            </a:extLst>
          </a:blip>
          <a:stretch>
            <a:fillRect/>
          </a:stretch>
        </p:blipFill>
        <p:spPr>
          <a:xfrm>
            <a:off x="8301012" y="2311880"/>
            <a:ext cx="1097280" cy="1097280"/>
          </a:xfrm>
          <a:prstGeom prst="rect">
            <a:avLst/>
          </a:prstGeom>
        </p:spPr>
      </p:pic>
      <p:sp>
        <p:nvSpPr>
          <p:cNvPr id="13" name="TextBox 12"/>
          <p:cNvSpPr txBox="1"/>
          <p:nvPr/>
        </p:nvSpPr>
        <p:spPr>
          <a:xfrm>
            <a:off x="8301012" y="3546320"/>
            <a:ext cx="3188506" cy="400110"/>
          </a:xfrm>
          <a:prstGeom prst="rect">
            <a:avLst/>
          </a:prstGeom>
          <a:noFill/>
        </p:spPr>
        <p:txBody>
          <a:bodyPr wrap="square" lIns="0" rIns="0" tIns="0" bIns="0" anchor="t">
            <a:spAutoFit/>
          </a:bodyPr>
          <a:lstStyle/>
          <a:p>
            <a:pPr algn="l"/>
            <a:r>
              <a:rPr sz="1800" b="1">
                <a:solidFill>
                  <a:schemeClr val="accent2"/>
                </a:solidFill>
                <a:latin typeface="Arial"/>
              </a:rPr>
              <a:t>Act 3</a:t>
            </a:r>
          </a:p>
        </p:txBody>
      </p:sp>
      <p:sp>
        <p:nvSpPr>
          <p:cNvPr id="14" name="TextBox 13"/>
          <p:cNvSpPr txBox="1"/>
          <p:nvPr/>
        </p:nvSpPr>
        <p:spPr>
          <a:xfrm>
            <a:off x="8301012" y="3992150"/>
            <a:ext cx="3188506" cy="953970"/>
          </a:xfrm>
          <a:prstGeom prst="rect">
            <a:avLst/>
          </a:prstGeom>
          <a:noFill/>
        </p:spPr>
        <p:txBody>
          <a:bodyPr wrap="square" lIns="0" rIns="0" tIns="0" bIns="0">
            <a:spAutoFit/>
          </a:bodyPr>
          <a:lstStyle/>
          <a:p>
            <a:pPr>
              <a:spcAft>
                <a:spcPts val="600"/>
              </a:spcAft>
            </a:pPr>
            <a:r>
              <a:rPr sz="1600" b="1">
                <a:solidFill>
                  <a:schemeClr val="accent2"/>
                </a:solidFill>
                <a:latin typeface="Arial"/>
              </a:rPr>
              <a:t>React fast</a:t>
            </a:r>
          </a:p>
          <a:p>
            <a:pPr>
              <a:spcAft>
                <a:spcPts val="600"/>
              </a:spcAft>
            </a:pPr>
            <a:r>
              <a:rPr sz="1600" b="0">
                <a:solidFill>
                  <a:schemeClr val="accent2"/>
                </a:solidFill>
                <a:latin typeface="Arial"/>
              </a:rPr>
              <a:t>Same-day backports that humans review</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rPr>
                <a:latin typeface="Arial"/>
              </a:rPr>
              <a:t>Assume bug-finding keeps getting cheaper.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rial"/>
              </a:rPr>
              <a:t>Getting involved</a:t>
            </a:r>
          </a:p>
        </p:txBody>
      </p:sp>
      <p:sp>
        <p:nvSpPr>
          <p:cNvPr id="3" name="Text Placeholder 2"/>
          <p:cNvSpPr>
            <a:spLocks noGrp="1"/>
          </p:cNvSpPr>
          <p:nvPr>
            <p:ph type="body" idx="1"/>
          </p:nvPr>
        </p:nvSpPr>
        <p:spPr/>
        <p:txBody>
          <a:bodyPr/>
          <a:lstStyle/>
          <a:p>
            <a:r>
              <a:rPr>
                <a:latin typeface="Arial"/>
              </a:rPr>
              <a:t>Read the post: valkey.io/blog</a:t>
            </a:r>
          </a:p>
        </p:txBody>
      </p:sp>
      <p:sp>
        <p:nvSpPr>
          <p:cNvPr id="4" name="Text Placeholder 3"/>
          <p:cNvSpPr>
            <a:spLocks noGrp="1"/>
          </p:cNvSpPr>
          <p:nvPr>
            <p:ph type="body" idx="2"/>
          </p:nvPr>
        </p:nvSpPr>
        <p:spPr/>
        <p:txBody>
          <a:bodyPr/>
          <a:lstStyle/>
          <a:p>
            <a:r>
              <a:rPr>
                <a:latin typeface="Arial"/>
              </a:rPr>
              <a:t>Report: security@lists.valkey.io</a:t>
            </a:r>
          </a:p>
        </p:txBody>
      </p:sp>
      <p:sp>
        <p:nvSpPr>
          <p:cNvPr id="5" name="Text Placeholder 4"/>
          <p:cNvSpPr>
            <a:spLocks noGrp="1"/>
          </p:cNvSpPr>
          <p:nvPr>
            <p:ph type="body" idx="3"/>
          </p:nvPr>
        </p:nvSpPr>
        <p:spPr/>
        <p:txBody>
          <a:bodyPr/>
          <a:lstStyle/>
          <a:p>
            <a:r>
              <a:rPr>
                <a:latin typeface="Arial"/>
              </a:rPr>
              <a:t>Harden: valkey.io/blog/properly-secure-your-valkey-deployment</a:t>
            </a:r>
          </a:p>
        </p:txBody>
      </p:sp>
      <p:pic>
        <p:nvPicPr>
          <p:cNvPr id="8" name="Picture Placeholder 7" descr="cve-tsunami-blog-qr.png"/>
          <p:cNvPicPr>
            <a:picLocks noGrp="1" noChangeAspect="1"/>
          </p:cNvPicPr>
          <p:nvPr>
            <p:ph type="pic" idx="6"/>
          </p:nvPr>
        </p:nvPicPr>
        <p:blipFill>
          <a:blip r:embed="rId2"/>
          <a:srcRect/>
          <a:stretch>
            <a:fillRect/>
          </a:stretch>
        </p:blipFill>
        <p:spPr/>
      </p:pic>
      <p:sp>
        <p:nvSpPr>
          <p:cNvPr id="9" name="Rectangle 8"/>
          <p:cNvSpPr/>
          <p:nvPr/>
        </p:nvSpPr>
        <p:spPr>
          <a:xfrm>
            <a:off x="609600" y="1445931"/>
            <a:ext cx="73152" cy="52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09600" y="2095931"/>
            <a:ext cx="73152" cy="52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09600" y="2745931"/>
            <a:ext cx="73152" cy="52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rPr>
                <a:latin typeface="Arial"/>
              </a:rPr>
              <a:t>Thank you! Let’s connect.</a:t>
            </a:r>
          </a:p>
        </p:txBody>
      </p:sp>
      <p:sp>
        <p:nvSpPr>
          <p:cNvPr id="3" name="Text Placeholder 2"/>
          <p:cNvSpPr>
            <a:spLocks noGrp="1"/>
          </p:cNvSpPr>
          <p:nvPr>
            <p:ph type="body" idx="2"/>
          </p:nvPr>
        </p:nvSpPr>
        <p:spPr/>
        <p:txBody>
          <a:bodyPr/>
          <a:lstStyle/>
          <a:p>
            <a:r>
              <a:rPr>
                <a:latin typeface="Arial"/>
              </a:rPr>
              <a:t>Madelyn Olson</a:t>
            </a:r>
          </a:p>
        </p:txBody>
      </p:sp>
      <p:sp>
        <p:nvSpPr>
          <p:cNvPr id="4" name="Text Placeholder 3"/>
          <p:cNvSpPr>
            <a:spLocks noGrp="1"/>
          </p:cNvSpPr>
          <p:nvPr>
            <p:ph type="body" idx="3"/>
          </p:nvPr>
        </p:nvSpPr>
        <p:spPr/>
        <p:txBody>
          <a:bodyPr/>
          <a:lstStyle/>
          <a:p>
            <a:r>
              <a:rPr>
                <a:latin typeface="Arial"/>
              </a:rPr>
              <a:t>@reconditerose (X and Bluesky)</a:t>
            </a:r>
          </a:p>
        </p:txBody>
      </p:sp>
      <p:sp>
        <p:nvSpPr>
          <p:cNvPr id="5" name="Text Placeholder 4"/>
          <p:cNvSpPr>
            <a:spLocks noGrp="1"/>
          </p:cNvSpPr>
          <p:nvPr>
            <p:ph type="body" idx="4"/>
          </p:nvPr>
        </p:nvSpPr>
        <p:spPr/>
        <p:txBody>
          <a:bodyPr/>
          <a:lstStyle/>
          <a:p>
            <a:r>
              <a:rPr>
                <a:latin typeface="Arial"/>
              </a:rPr>
              <a:t>madelynolson.com</a:t>
            </a:r>
          </a:p>
        </p:txBody>
      </p:sp>
      <p:sp>
        <p:nvSpPr>
          <p:cNvPr id="6" name="Text Placeholder 5"/>
          <p:cNvSpPr>
            <a:spLocks noGrp="1"/>
          </p:cNvSpPr>
          <p:nvPr>
            <p:ph type="body" idx="5"/>
          </p:nvPr>
        </p:nvSpPr>
        <p:spPr/>
        <p:txBody>
          <a:bodyPr/>
          <a:lstStyle/>
          <a:p>
            <a:r>
              <a:rPr>
                <a:latin typeface="Arial"/>
              </a:rPr>
              <a:t>linkedin.com/in/madelyn-olson-valkey</a:t>
            </a:r>
          </a:p>
        </p:txBody>
      </p:sp>
      <p:sp>
        <p:nvSpPr>
          <p:cNvPr id="7" name="Text Placeholder 6"/>
          <p:cNvSpPr>
            <a:spLocks noGrp="1"/>
          </p:cNvSpPr>
          <p:nvPr>
            <p:ph type="body" idx="6"/>
          </p:nvPr>
        </p:nvSpPr>
        <p:spPr/>
        <p:txBody>
          <a:bodyPr/>
          <a:lstStyle/>
          <a:p>
            <a:r>
              <a:rPr>
                <a:latin typeface="Arial"/>
              </a:rPr>
              <a:t>Harkrishn Patro</a:t>
            </a:r>
          </a:p>
        </p:txBody>
      </p:sp>
      <p:sp>
        <p:nvSpPr>
          <p:cNvPr id="8" name="Text Placeholder 7"/>
          <p:cNvSpPr>
            <a:spLocks noGrp="1"/>
          </p:cNvSpPr>
          <p:nvPr>
            <p:ph type="body" idx="7"/>
          </p:nvPr>
        </p:nvSpPr>
        <p:spPr/>
        <p:txBody>
          <a:bodyPr/>
          <a:lstStyle/>
          <a:p>
            <a:r>
              <a:rPr>
                <a:latin typeface="Arial"/>
              </a:rPr>
              <a:t>@buntyhp (X)</a:t>
            </a:r>
          </a:p>
        </p:txBody>
      </p:sp>
      <p:sp>
        <p:nvSpPr>
          <p:cNvPr id="9" name="Text Placeholder 8"/>
          <p:cNvSpPr>
            <a:spLocks noGrp="1"/>
          </p:cNvSpPr>
          <p:nvPr>
            <p:ph type="body" idx="8"/>
          </p:nvPr>
        </p:nvSpPr>
        <p:spPr/>
        <p:txBody>
          <a:bodyPr/>
          <a:lstStyle/>
          <a:p>
            <a:r>
              <a:rPr>
                <a:latin typeface="Arial"/>
              </a:rPr>
              <a:t>linkedin.com/in/harkrishn-patro</a:t>
            </a:r>
          </a:p>
        </p:txBody>
      </p:sp>
    </p:spTree>
  </p:cSld>
  <p:clrMapOvr>
    <a:masterClrMapping/>
  </p:clrMapOvr>
</p:sld>
</file>

<file path=ppt/theme/theme1.xml><?xml version="1.0" encoding="utf-8"?>
<a:theme xmlns:a="http://schemas.openxmlformats.org/drawingml/2006/main" name="AWS AI Holdings">
  <a:themeElements>
    <a:clrScheme name="Valkey">
      <a:dk1>
        <a:srgbClr val="000000"/>
      </a:dk1>
      <a:lt1>
        <a:srgbClr val="FFFFFF"/>
      </a:lt1>
      <a:dk2>
        <a:srgbClr val="232F3E"/>
      </a:dk2>
      <a:lt2>
        <a:srgbClr val="F1F3F3"/>
      </a:lt2>
      <a:accent1>
        <a:srgbClr val="6983FF"/>
      </a:accent1>
      <a:accent2>
        <a:srgbClr val="1A2026"/>
      </a:accent2>
      <a:accent3>
        <a:srgbClr val="632637"/>
      </a:accent3>
      <a:accent4>
        <a:srgbClr val="30176E"/>
      </a:accent4>
      <a:accent5>
        <a:srgbClr val="BCB5E7"/>
      </a:accent5>
      <a:accent6>
        <a:srgbClr val="E0A2AF"/>
      </a:accent6>
      <a:hlink>
        <a:srgbClr val="6983FF"/>
      </a:hlink>
      <a:folHlink>
        <a:srgbClr val="6983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ne Brand 2022 Dark">
      <a:dk1>
        <a:srgbClr val="000000"/>
      </a:dk1>
      <a:lt1>
        <a:srgbClr val="FFFFFF"/>
      </a:lt1>
      <a:dk2>
        <a:srgbClr val="232F3E"/>
      </a:dk2>
      <a:lt2>
        <a:srgbClr val="F1F3F3"/>
      </a:lt2>
      <a:accent1>
        <a:srgbClr val="FF8500"/>
      </a:accent1>
      <a:accent2>
        <a:srgbClr val="7C59ED"/>
      </a:accent2>
      <a:accent3>
        <a:srgbClr val="38EF7D"/>
      </a:accent3>
      <a:accent4>
        <a:srgbClr val="F46DBA"/>
      </a:accent4>
      <a:accent5>
        <a:srgbClr val="9FFCEA"/>
      </a:accent5>
      <a:accent6>
        <a:srgbClr val="FBD8BF"/>
      </a:accent6>
      <a:hlink>
        <a:srgbClr val="41B1E8"/>
      </a:hlink>
      <a:folHlink>
        <a:srgbClr val="41B1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15740</TotalTime>
  <Words>2755</Words>
  <Application>Microsoft Macintosh PowerPoint</Application>
  <PresentationFormat>Widescreen</PresentationFormat>
  <Paragraphs>462</Paragraphs>
  <Slides>43</Slides>
  <Notes>30</Notes>
  <HiddenSlides>6</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Play</vt:lpstr>
      <vt:lpstr>Arial</vt:lpstr>
      <vt:lpstr>Century Gothic</vt:lpstr>
      <vt:lpstr>AWS AI Holdings</vt:lpstr>
      <vt:lpstr>PowerPoint Presentation</vt:lpstr>
      <vt:lpstr>Background</vt:lpstr>
      <vt:lpstr>Introducing the Valkey project</vt:lpstr>
      <vt:lpstr>Backed by industry leaders</vt:lpstr>
      <vt:lpstr>The Valkey project is thriving</vt:lpstr>
      <vt:lpstr>Latest developments in Valkey OSS</vt:lpstr>
      <vt:lpstr>Valkey 7.2 (April 2024)</vt:lpstr>
      <vt:lpstr>Valkey 8.0 (September 2024)</vt:lpstr>
      <vt:lpstr>Valkey 8.1 (April 2025)</vt:lpstr>
      <vt:lpstr>Valkey 9.0 (October 2025)</vt:lpstr>
      <vt:lpstr>Valkey 9.1 (May 2026)</vt:lpstr>
      <vt:lpstr>Get involved in the project</vt:lpstr>
      <vt:lpstr>Integrations</vt:lpstr>
      <vt:lpstr>Valkey module distribution</vt:lpstr>
      <vt:lpstr>Valkey GLIDE</vt:lpstr>
      <vt:lpstr>Migrations</vt:lpstr>
      <vt:lpstr>Migrating from Redis OSS to Valkey</vt:lpstr>
      <vt:lpstr>Strategies for migration</vt:lpstr>
      <vt:lpstr>Memory Efficiency</vt:lpstr>
      <vt:lpstr>A new hash table</vt:lpstr>
      <vt:lpstr>A new hash table</vt:lpstr>
      <vt:lpstr>A new hash table</vt:lpstr>
      <vt:lpstr>A new hash table</vt:lpstr>
      <vt:lpstr>A new hash table</vt:lpstr>
      <vt:lpstr>A new hash table</vt:lpstr>
      <vt:lpstr>A new hash table</vt:lpstr>
      <vt:lpstr>Performance</vt:lpstr>
      <vt:lpstr>Thread scalable command processing</vt:lpstr>
      <vt:lpstr>Thread scalable command processing</vt:lpstr>
      <vt:lpstr>Thread scalable command processing</vt:lpstr>
      <vt:lpstr>Thread scalable command processing</vt:lpstr>
      <vt:lpstr>Thread scalable command processing</vt:lpstr>
      <vt:lpstr>Multithreaded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Olson, Madelyn</dc:creator>
  <cp:lastModifiedBy>Olson, Madelyn</cp:lastModifiedBy>
  <cp:revision>28</cp:revision>
  <dcterms:created xsi:type="dcterms:W3CDTF">2025-04-15T18:05:46Z</dcterms:created>
  <dcterms:modified xsi:type="dcterms:W3CDTF">2026-05-22T22:50:31Z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9e68092-05df-4271-8e3e-b2a4c82ba797_Enabled">
    <vt:lpwstr>true</vt:lpwstr>
  </property>
  <property fmtid="{D5CDD505-2E9C-101B-9397-08002B2CF9AE}" pid="3" name="MSIP_Label_19e68092-05df-4271-8e3e-b2a4c82ba797_SetDate">
    <vt:lpwstr>2025-10-13T18:50:11Z</vt:lpwstr>
  </property>
  <property fmtid="{D5CDD505-2E9C-101B-9397-08002B2CF9AE}" pid="4" name="MSIP_Label_19e68092-05df-4271-8e3e-b2a4c82ba797_Method">
    <vt:lpwstr>Standard</vt:lpwstr>
  </property>
  <property fmtid="{D5CDD505-2E9C-101B-9397-08002B2CF9AE}" pid="5" name="MSIP_Label_19e68092-05df-4271-8e3e-b2a4c82ba797_Name">
    <vt:lpwstr>Amazon Confidential</vt:lpwstr>
  </property>
  <property fmtid="{D5CDD505-2E9C-101B-9397-08002B2CF9AE}" pid="6" name="MSIP_Label_19e68092-05df-4271-8e3e-b2a4c82ba797_SiteId">
    <vt:lpwstr>5280104a-472d-4538-9ccf-1e1d0efe8b1b</vt:lpwstr>
  </property>
  <property fmtid="{D5CDD505-2E9C-101B-9397-08002B2CF9AE}" pid="7" name="MSIP_Label_19e68092-05df-4271-8e3e-b2a4c82ba797_ActionId">
    <vt:lpwstr>b81c3afb-3afe-4c07-b9bf-69177ff0e214</vt:lpwstr>
  </property>
  <property fmtid="{D5CDD505-2E9C-101B-9397-08002B2CF9AE}" pid="8" name="MSIP_Label_19e68092-05df-4271-8e3e-b2a4c82ba797_ContentBits">
    <vt:lpwstr>0</vt:lpwstr>
  </property>
  <property fmtid="{D5CDD505-2E9C-101B-9397-08002B2CF9AE}" pid="9" name="MSIP_Label_19e68092-05df-4271-8e3e-b2a4c82ba797_Tag">
    <vt:lpwstr>50, 3, 0, 1</vt:lpwstr>
  </property>
</Properties>
</file>